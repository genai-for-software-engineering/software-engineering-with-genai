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4754880"/>
            <a:ext cx="3108960" cy="2377440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5212080"/>
            <a:ext cx="2377440" cy="1828800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-1097280" y="-1097280"/>
            <a:ext cx="4023360" cy="4023360"/>
          </a:xfrm>
          <a:prstGeom prst="rect">
            <a:avLst/>
          </a:prstGeom>
          <a:solidFill>
            <a:srgbClr val="036B77"/>
          </a:solidFill>
          <a:ln/>
        </p:spPr>
      </p:sp>
      <p:sp>
        <p:nvSpPr>
          <p:cNvPr id="5" name="Text 3"/>
          <p:cNvSpPr/>
          <p:nvPr/>
        </p:nvSpPr>
        <p:spPr>
          <a:xfrm>
            <a:off x="3931920" y="2331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931920" y="30358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Every Developer Should Know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950208" y="3703320"/>
            <a:ext cx="128016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3886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Lab  •  From Zero-Shot to Reliable, Structured Prompts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prompting techniques, each with a working example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25296" y="18928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Prompting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25296" y="22494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directly — no examples given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163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25296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Prompting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25296" y="31455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the model with a single example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12464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12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25296" y="3685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25296" y="40416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the model with multiple examples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08576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085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25296" y="4581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 (CoT)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25296" y="4937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reason step by step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19202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9202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31736" y="18928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031736" y="22494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model a persona or expertise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2816352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8163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31736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Formatting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031736" y="31455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a structured, parseable response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3712464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712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31736" y="3685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Hallucinations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031736" y="40416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model to say “I don't know”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AF6F4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623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25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build on each other — few-shot builds on one-shot, and every later technique can be combined with the earlier ones.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Techniques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Prompt Engineering?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6492240" cy="18288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6400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of designing the wording, structure, and context of an input so an LLM produces the response you actually want.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question — a well-crafted prompt vs. a lazy one can be the difference between a wrong answer and a great one.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fine-tuning, no new training data — just smarter instructions.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like LangChain make these techniques reusable in real applications (that's the next talk!).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talk covers seven techniques you can start using in a prompt today, with a live code example for each.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3720" y="1600200"/>
            <a:ext cx="4800600" cy="3931920"/>
          </a:xfrm>
          <a:prstGeom prst="roundRect">
            <a:avLst>
              <a:gd name="adj" fmla="val 2326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8660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DIFFERENT PROMPT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86600" y="21214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different result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86600" y="324612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0" y="32461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85632" y="3653028"/>
            <a:ext cx="219456" cy="146304"/>
          </a:xfrm>
          <a:prstGeom prst="rightArrow">
            <a:avLst/>
          </a:prstGeom>
          <a:solidFill>
            <a:srgbClr val="5B7674"/>
          </a:solidFill>
          <a:ln/>
        </p:spPr>
      </p:sp>
      <p:sp>
        <p:nvSpPr>
          <p:cNvPr id="11" name="Shape 9"/>
          <p:cNvSpPr/>
          <p:nvPr/>
        </p:nvSpPr>
        <p:spPr>
          <a:xfrm>
            <a:off x="8732520" y="324612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732520" y="32461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131552" y="3653028"/>
            <a:ext cx="219456" cy="146304"/>
          </a:xfrm>
          <a:prstGeom prst="rightArrow">
            <a:avLst/>
          </a:prstGeom>
          <a:solidFill>
            <a:srgbClr val="5B767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78440" y="3246120"/>
            <a:ext cx="1371600" cy="960120"/>
          </a:xfrm>
          <a:prstGeom prst="roundRect">
            <a:avLst>
              <a:gd name="adj" fmla="val 9524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0378440" y="32461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86600" y="44805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shapes this first box — everything downstream follows from it.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Techniques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Prompting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80160" y="8961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directly — no examples, just the instruction.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answers using only its pre-trained knowledge — you give it zero examples of the desired output.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common tasks the model has almost certainly seen many times before (summaries, definitions, simple generation).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and cheapest option — always try this first.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0" y="1554480"/>
            <a:ext cx="5806440" cy="2286000"/>
          </a:xfrm>
          <a:prstGeom prst="roundRect">
            <a:avLst>
              <a:gd name="adj" fmla="val 3200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9904" y="173736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9904" y="2084832"/>
            <a:ext cx="53309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"Suggest a one project idea in one line in the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of machine learning for college students."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4069080"/>
            <a:ext cx="5806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1616" y="4233672"/>
            <a:ext cx="5367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OUTPUT STYLE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71616" y="4526280"/>
            <a:ext cx="53675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self-contained project idea — e.g. a spam-detector or movie-recommendation app — generated purely from the model's general knowledge of ML, with no guiding sample given.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Techniques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 Prompting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80160" y="8961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exactly one example so the model learns the pattern.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input→output example is included in the prompt before the real question, demonstrating the expected style or format.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has a specific tone or structure that's hard to describe in words but easy to show (e.g. “write it like this one”).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few-shot, and often enough to fix vague zero-shot output.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0" y="1554480"/>
            <a:ext cx="5806440" cy="3154680"/>
          </a:xfrm>
          <a:prstGeom prst="roundRect">
            <a:avLst>
              <a:gd name="adj" fmla="val 2319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9904" y="173736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9904" y="2084832"/>
            <a:ext cx="53309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Rewrite the following text into a professional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 post: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Text: Just won the hackathon, feeling great!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Post: Excited to share that my team and I won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university hackathon this weekend! ...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Text: {student_text}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4892040"/>
            <a:ext cx="5806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1616" y="5056632"/>
            <a:ext cx="5367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OUTPUT STYLE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71616" y="5349240"/>
            <a:ext cx="5367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input text is rewritten in the same polished, celebratory LinkedIn tone as the one example shown.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Techniques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Prompting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80160" y="8961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several examples so the model locks onto the pattern.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input→output examples are given before the real task, reducing ambiguity about format, tone, or reasoning.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with a strict or unusual output format, or where one example still leaves the model guessing.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087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vs FEW-SHOT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45262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417320" y="4690872"/>
            <a:ext cx="320040" cy="128016"/>
          </a:xfrm>
          <a:prstGeom prst="rightArrow">
            <a:avLst/>
          </a:prstGeom>
          <a:solidFill>
            <a:srgbClr val="5B7674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4526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5074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0" y="42976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127248" y="4434840"/>
            <a:ext cx="228600" cy="109728"/>
          </a:xfrm>
          <a:prstGeom prst="rightArrow">
            <a:avLst/>
          </a:prstGeom>
          <a:solidFill>
            <a:srgbClr val="5B7674"/>
          </a:solidFill>
          <a:ln/>
        </p:spPr>
      </p:sp>
      <p:sp>
        <p:nvSpPr>
          <p:cNvPr id="18" name="Shape 16"/>
          <p:cNvSpPr/>
          <p:nvPr/>
        </p:nvSpPr>
        <p:spPr>
          <a:xfrm>
            <a:off x="3383280" y="42976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743200" y="47548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127248" y="4892040"/>
            <a:ext cx="228600" cy="109728"/>
          </a:xfrm>
          <a:prstGeom prst="rightArrow">
            <a:avLst/>
          </a:prstGeom>
          <a:solidFill>
            <a:srgbClr val="5B7674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0" y="4754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794760" y="4599432"/>
            <a:ext cx="256032" cy="128016"/>
          </a:xfrm>
          <a:prstGeom prst="rightArrow">
            <a:avLst/>
          </a:prstGeom>
          <a:solidFill>
            <a:srgbClr val="5B7674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0" y="45262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498848" y="4690872"/>
            <a:ext cx="256032" cy="128016"/>
          </a:xfrm>
          <a:prstGeom prst="rightArrow">
            <a:avLst/>
          </a:prstGeom>
          <a:solidFill>
            <a:srgbClr val="5B7674"/>
          </a:solidFill>
          <a:ln/>
        </p:spPr>
      </p:sp>
      <p:sp>
        <p:nvSpPr>
          <p:cNvPr id="29" name="Shape 27"/>
          <p:cNvSpPr/>
          <p:nvPr/>
        </p:nvSpPr>
        <p:spPr>
          <a:xfrm>
            <a:off x="4892040" y="45262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65176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(examples + input)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52160" y="1554480"/>
            <a:ext cx="5806440" cy="3246120"/>
          </a:xfrm>
          <a:prstGeom prst="roundRect">
            <a:avLst>
              <a:gd name="adj" fmla="val 2254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9904" y="173736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9904" y="2084832"/>
            <a:ext cx="53309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 the following college announcements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one line: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Announcement: The library will be closed 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Sunday...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Summary: Library closed Sunday for maintenance.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Announcement: All final year students must...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Summary: Final year thesis due by March 25.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Announcement: {announcement}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Summary: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52160" y="4937760"/>
            <a:ext cx="5806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71616" y="5102352"/>
            <a:ext cx="5367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OUTPUT STYLE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71616" y="5394960"/>
            <a:ext cx="5367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announcement is compressed into the same terse, one-line summary style demonstrated by both examples.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Techniques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of Thought (CoT) Prompting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80160" y="8961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reason step by step before answering.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shows (or asks for) intermediate reasoning steps instead of jumping straight to a final answer.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logic, multi-step word problems, or any task where “show your work” improves accuracy.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longer, slower responses — but far fewer careless errors.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0" y="1554480"/>
            <a:ext cx="5806440" cy="2880360"/>
          </a:xfrm>
          <a:prstGeom prst="roundRect">
            <a:avLst>
              <a:gd name="adj" fmla="val 2540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9904" y="173736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9904" y="2084832"/>
            <a:ext cx="53309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If a pencil costs 2 rupees and a notebook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costs 10 rupees, what is the total cost for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pencils and 2 notebooks?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Let's calculate step by step. [worked example]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If an eraser costs 5 and a sharpener 15,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the cost for 4 erasers and 1 sharpener?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4617720"/>
            <a:ext cx="5806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1616" y="4782312"/>
            <a:ext cx="5367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OUTPUT STYLE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71616" y="5074920"/>
            <a:ext cx="5367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4 erasers = 4 × 5 = 20 rupees. Cost of 1 sharpener = 15 rupees. Total cost = 20 + 15 = 35 rupees — each arithmetic step spelled out, mirroring the worked example.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Techniques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Prompting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80160" y="8961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a persona so it adopts the right tone and expertise.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opens with “You are a …” to set an identity, expertise level, and audience for the response.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specific voice — friendly teacher, strict code reviewer, formal analyst — without hand-writing style rules.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nudges vocabulary and depth to match the target audience.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0" y="1554480"/>
            <a:ext cx="5806440" cy="2011680"/>
          </a:xfrm>
          <a:prstGeom prst="roundRect">
            <a:avLst>
              <a:gd name="adj" fmla="val 3636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9904" y="173736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9904" y="2084832"/>
            <a:ext cx="5330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friendly and helpful math teacher.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how to find the area of a circle to 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10-year-old student."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3749040"/>
            <a:ext cx="5806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1616" y="3913632"/>
            <a:ext cx="5367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OUTPUT STYLE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71616" y="4206240"/>
            <a:ext cx="5367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warm, simple explanation using everyday words and an analogy (e.g. “imagine cutting a pizza into tiny slices”) rather than the formula-first tone a generic prompt would produce.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Techniques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Formatting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80160" y="8961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the response into a structure your code can parse.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specifies the exact shape of the answer — JSON keys, a table, a fixed list — often with one worked example.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 the output feeds into another program: APIs, databases, downstream automation.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well with few-shot: show one example of the exact format you want.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0" y="1554480"/>
            <a:ext cx="5806440" cy="2697480"/>
          </a:xfrm>
          <a:prstGeom prst="roundRect">
            <a:avLst>
              <a:gd name="adj" fmla="val 2712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9904" y="173736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9904" y="2084832"/>
            <a:ext cx="5330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 the following information from the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 and return as JSON: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Sentence: {sentence}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example, 'Bob sold a car' should return: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person: Bob, action: sold, object: car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Fields: person, action, object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4434840"/>
            <a:ext cx="5806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1616" y="4599432"/>
            <a:ext cx="5367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OUTPUT STYLE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71616" y="4892040"/>
            <a:ext cx="5367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person: Alice, action: bought, object: bicycle — returned in the same field order and structure as the worked example, ready to be parsed.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Techniques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Avoiding Hallucinations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80160" y="8961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permission to say “I don't know.”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explicitly instructs the model to only answer when confident, and to admit uncertainty otherwise.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Q&amp;A, anything user-facing, or tasks where a confident-sounding wrong answer is worse than no answer.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will otherwise often guess fluently rather than admit they don't know.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0" y="1554480"/>
            <a:ext cx="5806440" cy="2011680"/>
          </a:xfrm>
          <a:prstGeom prst="roundRect">
            <a:avLst>
              <a:gd name="adj" fmla="val 3636"/>
            </a:avLst>
          </a:prstGeom>
          <a:solidFill>
            <a:srgbClr val="EAF6F4"/>
          </a:solidFill>
          <a:ln w="12700">
            <a:solidFill>
              <a:srgbClr val="CFE9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9904" y="173736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9904" y="2084832"/>
            <a:ext cx="5330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the following question only if you are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sure. If you are unsure, say 'I don't know.'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{question}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3749040"/>
            <a:ext cx="5806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1616" y="3913632"/>
            <a:ext cx="5367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OUTPUT STYLE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71616" y="4206240"/>
            <a:ext cx="5367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question the model has no personal information about — e.g. “what is my name?” — it responds “I don't know” instead of inventing a plausible-sounding name.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Techniques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technique should you reach for?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75488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when 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task is common and well understood by the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example is enough to fix tone or 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format is strict or one example isn't enough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of Thought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task needs multi-step reasoning or math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Prompting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a specific voice, expertise, or audience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Formatting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response feeds directly into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Avoidance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Wrong-but-confident answers are unacceptable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Techniques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4937760"/>
            <a:ext cx="2926080" cy="2194560"/>
          </a:xfrm>
          <a:prstGeom prst="triangle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5394960"/>
            <a:ext cx="2194560" cy="1645920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3931920" y="2651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931920" y="33649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Try rewriting one prompt using a different technique — compare the results.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2026-08-09T16:29:48Z</dcterms:created>
  <dcterms:modified xsi:type="dcterms:W3CDTF">2026-08-09T16:29:48Z</dcterms:modified>
</cp:coreProperties>
</file>