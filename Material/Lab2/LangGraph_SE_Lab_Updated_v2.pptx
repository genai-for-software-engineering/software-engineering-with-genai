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34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580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today you had prompting and LangChain — this is the LangGraph slice. One line to open: 'LangChain gives you the building blocks; LangGraph gives you a way to wire them into a workflow that can branch, loop, and remember.' Don't over-explain the graph strip at the bottom yet — just point at it and say 'by the end of this you'll be able to read this diagram fluently.' Move on quickly,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linger here — 2 to 3 minutes max. Start with the trivial case: one call in, one response out, nobody needs a framework for that. Then point at the second row and say real apps grow extra steps organically — search, evaluation, retries. Land on the italic line as the transition: that complexity is exactly the problem LangGraph is built to manage. Move straight into 'so what is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slowly once — it's the sentence you want them to remember. Then walk the tree: a GRAPH is just the container for three ideas. State carries information, nodes perform work, edges decide what runs next. Don't define State/Nodes/Edges deeply yet — slide 6 does that. Close with the LangChain note so slide 4's comparison doesn't come out of nowhere: LangGraph isn't a replacement, it's the orchestration layer around LangChain's components.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fast — under 2 minutes, one comparison, one diagram, one takeaway line. The point isn't a feature comparison, it's positioning: LangChain gives you the pieces (model calls, tools, prompts), LangGraph gives you the wiring that turns those pieces into a controllable workflow. They'll use both together in real projects. Transition: 'so what does that wiring actually look like' — into the mental model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 3 minutes, and expect to point at it again in slides 7-9. Trace it top to bottom out loud: START feeds Analyze, Analyze feeds a Decision, the Decision routes to Search or straight to Respond depending on state, both paths converge on Respond, then END. Every time you touch a box, call it a node; every time you touch an arrow, call it an edge; and remind them state is what's actually traveling along those arrows, invisibly, the whole time. This exact shape — analyze, decide, branch, converge — is the one you'll reuse in the worked example next.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densest slide — budget 4 minutes and go card by card left to right, State then Node then Edge. For State: it's just a typed dictionary, the schema for what flows through the graph. For Node: a node is nothing exotic, it's a Python function that takes state in and returns a partial update. For Edge: a plain add_edge is a fixed hop, A always goes to B; add_conditional_edges lets a function decide the next node at runtime — that's the piece that makes branching possible. Don't teach TypedDict syntax in depth — the point is recognition, not memorization. Transition into the worked example: 'let's put all three together.'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example for the rest of the talk — 4 to 5 minutes, and you'll come back to this exact diagram in the next two slides. Walk the graph first, then read the question out loud and trace it live: Classify reads it, decides it's a programming question, that decision gets written into state as category, and because state now says 'programming', the graph routes to Code Helper instead of General LLM. The point to land: the graph's behavior for this one run was decided by what was written into state, not by anything hardcoded in the graph's shape.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to 3 minutes — this is the payoff slide for the routing idea. Point back at Classify from the previous slide: the branch you traced by hand a moment ago is implemented by this one add_conditional_edges call. The router function is just a plain function that reads state and returns a node name; LangGraph does the dispatch. Key line to say out loud: a plain edge is always the same next step, a conditional edge lets the next step depend on what happened earlier in the run. That's the flexibility a simple linear chain doesn't have.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about 2 minutes — this slide only needs to land one idea. Trace the loop: Generate produces an answer, Evaluate scores it, Good? checks that score. If it fails, the conditional edge sends execution back to Generate instead of forward — that's the cycle, drawn here as the amber line looping right and back up. You don't need to build this loop live; just make sure they can recognize that a conditional edge pointing 'backwards' in the diagram is what creates a retry loop. Then move to where this shows up in software engineering.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 this is a connector slide, not a deep dive. Walk the code-review pipeline quickly since it's the most relatable example: submit code, analyze it, run tests, and route on the result — fix suggestions on failure, a security check on success, then one report either way. Don't explain each item in the list on the right individually — just gesture at it and say the same node/edge/state pattern is behind all of these. The goal here is just: 'this isn't just a chatbot trick, it's a general way to structure multi-step software.'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to 2 minutes to close. Read the four-row recap top to bottom one more time — state, node, edge, graph — this is the sentence you want surviving in their notes after today. Then the one decision rule: reach for a plain chain when the task really is linear, reach for LangGraph once you need branching, loops, or state that has to persist across steps. Point at the two links for anyone who wants to go deeper, and hand off to the LangChain hands-on activity that follows this.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docs.langchain.com/oss/python/langgraph/overview"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www.youtube.com/playlist?list=PLKnIA16_RmvYsvB8qkUQuJmJNuiCUJFP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C"/>
        </a:solidFill>
        <a:effectLst/>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B6577"/>
                </a:solidFill>
                <a:latin typeface="Calibri" pitchFamily="34" charset="0"/>
                <a:ea typeface="Calibri" pitchFamily="34" charset="-122"/>
                <a:cs typeface="Calibri" pitchFamily="34" charset="-120"/>
              </a:rPr>
              <a:t>LangGraph — SE Lab</a:t>
            </a:r>
            <a:endParaRPr lang="en-US" sz="900" dirty="0"/>
          </a:p>
        </p:txBody>
      </p:sp>
      <p:sp>
        <p:nvSpPr>
          <p:cNvPr id="3" name="Text 1"/>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22960" y="1417320"/>
            <a:ext cx="7315200" cy="320040"/>
          </a:xfrm>
          <a:prstGeom prst="rect">
            <a:avLst/>
          </a:prstGeom>
          <a:noFill/>
          <a:ln/>
        </p:spPr>
        <p:txBody>
          <a:bodyPr wrap="square" rtlCol="0" anchor="ctr"/>
          <a:lstStyle/>
          <a:p>
            <a:pPr marL="0" indent="0">
              <a:buNone/>
            </a:pPr>
            <a:r>
              <a:rPr lang="en-US" sz="1200" b="1" kern="0" spc="200" dirty="0">
                <a:solidFill>
                  <a:srgbClr val="2DD4BF"/>
                </a:solidFill>
                <a:latin typeface="Calibri" pitchFamily="34" charset="0"/>
                <a:ea typeface="Calibri" pitchFamily="34" charset="-122"/>
                <a:cs typeface="Calibri" pitchFamily="34" charset="-120"/>
              </a:rPr>
              <a:t>SOFTWARE ENGINEERING LAB  · </a:t>
            </a:r>
            <a:endParaRPr lang="en-US" sz="1200" dirty="0"/>
          </a:p>
        </p:txBody>
      </p:sp>
      <p:sp>
        <p:nvSpPr>
          <p:cNvPr id="5" name="Text 3"/>
          <p:cNvSpPr/>
          <p:nvPr/>
        </p:nvSpPr>
        <p:spPr>
          <a:xfrm>
            <a:off x="777240" y="1783080"/>
            <a:ext cx="9144000" cy="1188720"/>
          </a:xfrm>
          <a:prstGeom prst="rect">
            <a:avLst/>
          </a:prstGeom>
          <a:noFill/>
          <a:ln/>
        </p:spPr>
        <p:txBody>
          <a:bodyPr wrap="square" rtlCol="0" anchor="ctr"/>
          <a:lstStyle/>
          <a:p>
            <a:pPr marL="0" indent="0">
              <a:buNone/>
            </a:pPr>
            <a:r>
              <a:rPr lang="en-US" sz="6000" b="1" dirty="0">
                <a:solidFill>
                  <a:srgbClr val="F2F5F8"/>
                </a:solidFill>
                <a:latin typeface="Calibri" pitchFamily="34" charset="0"/>
                <a:ea typeface="Calibri" pitchFamily="34" charset="-122"/>
                <a:cs typeface="Calibri" pitchFamily="34" charset="-120"/>
              </a:rPr>
              <a:t>LangGraph</a:t>
            </a:r>
            <a:endParaRPr lang="en-US" sz="6000" dirty="0"/>
          </a:p>
        </p:txBody>
      </p:sp>
      <p:sp>
        <p:nvSpPr>
          <p:cNvPr id="6" name="Text 4"/>
          <p:cNvSpPr/>
          <p:nvPr/>
        </p:nvSpPr>
        <p:spPr>
          <a:xfrm>
            <a:off x="822960" y="2880360"/>
            <a:ext cx="8686800" cy="502920"/>
          </a:xfrm>
          <a:prstGeom prst="rect">
            <a:avLst/>
          </a:prstGeom>
          <a:noFill/>
          <a:ln/>
        </p:spPr>
        <p:txBody>
          <a:bodyPr wrap="square" rtlCol="0" anchor="ctr"/>
          <a:lstStyle/>
          <a:p>
            <a:pPr marL="0" indent="0">
              <a:buNone/>
            </a:pPr>
            <a:r>
              <a:rPr lang="en-US" sz="2000" dirty="0">
                <a:solidFill>
                  <a:srgbClr val="8A96A8"/>
                </a:solidFill>
                <a:latin typeface="Calibri" pitchFamily="34" charset="0"/>
                <a:ea typeface="Calibri" pitchFamily="34" charset="-122"/>
                <a:cs typeface="Calibri" pitchFamily="34" charset="-120"/>
              </a:rPr>
              <a:t>Building Stateful LLM Workflows as Graphs</a:t>
            </a:r>
            <a:endParaRPr lang="en-US" sz="2000" dirty="0"/>
          </a:p>
        </p:txBody>
      </p:sp>
      <p:sp>
        <p:nvSpPr>
          <p:cNvPr id="7" name="Shape 5"/>
          <p:cNvSpPr/>
          <p:nvPr/>
        </p:nvSpPr>
        <p:spPr>
          <a:xfrm>
            <a:off x="822960" y="4892040"/>
            <a:ext cx="1051560" cy="566928"/>
          </a:xfrm>
          <a:prstGeom prst="roundRect">
            <a:avLst>
              <a:gd name="adj" fmla="val 50000"/>
            </a:avLst>
          </a:prstGeom>
          <a:solidFill>
            <a:srgbClr val="1B4B47"/>
          </a:solidFill>
          <a:ln w="15875">
            <a:solidFill>
              <a:srgbClr val="2DD4BF"/>
            </a:solidFill>
            <a:prstDash val="solid"/>
          </a:ln>
        </p:spPr>
      </p:sp>
      <p:sp>
        <p:nvSpPr>
          <p:cNvPr id="8" name="Text 6"/>
          <p:cNvSpPr/>
          <p:nvPr/>
        </p:nvSpPr>
        <p:spPr>
          <a:xfrm>
            <a:off x="822960" y="4892040"/>
            <a:ext cx="1051560" cy="566928"/>
          </a:xfrm>
          <a:prstGeom prst="rect">
            <a:avLst/>
          </a:prstGeom>
          <a:noFill/>
          <a:ln/>
        </p:spPr>
        <p:txBody>
          <a:bodyPr wrap="square" rtlCol="0" anchor="ctr"/>
          <a:lstStyle/>
          <a:p>
            <a:pPr marL="0" indent="0" algn="ctr">
              <a:buNone/>
            </a:pPr>
            <a:r>
              <a:rPr lang="en-US" sz="1100" b="1" kern="0" spc="100" dirty="0">
                <a:solidFill>
                  <a:srgbClr val="2DD4BF"/>
                </a:solidFill>
                <a:latin typeface="Calibri" pitchFamily="34" charset="0"/>
                <a:ea typeface="Calibri" pitchFamily="34" charset="-122"/>
                <a:cs typeface="Calibri" pitchFamily="34" charset="-120"/>
              </a:rPr>
              <a:t>START</a:t>
            </a:r>
            <a:endParaRPr lang="en-US" sz="1100" dirty="0"/>
          </a:p>
        </p:txBody>
      </p:sp>
      <p:sp>
        <p:nvSpPr>
          <p:cNvPr id="9" name="Shape 7"/>
          <p:cNvSpPr/>
          <p:nvPr/>
        </p:nvSpPr>
        <p:spPr>
          <a:xfrm>
            <a:off x="1874520" y="5175504"/>
            <a:ext cx="502920" cy="0"/>
          </a:xfrm>
          <a:prstGeom prst="line">
            <a:avLst/>
          </a:prstGeom>
          <a:noFill/>
          <a:ln w="19050">
            <a:solidFill>
              <a:srgbClr val="5B6577"/>
            </a:solidFill>
            <a:prstDash val="solid"/>
            <a:tailEnd type="triangle"/>
          </a:ln>
        </p:spPr>
      </p:sp>
      <p:sp>
        <p:nvSpPr>
          <p:cNvPr id="10" name="Shape 8"/>
          <p:cNvSpPr/>
          <p:nvPr/>
        </p:nvSpPr>
        <p:spPr>
          <a:xfrm>
            <a:off x="2377440" y="4892040"/>
            <a:ext cx="1234440" cy="566928"/>
          </a:xfrm>
          <a:prstGeom prst="roundRect">
            <a:avLst>
              <a:gd name="adj" fmla="val 12903"/>
            </a:avLst>
          </a:prstGeom>
          <a:solidFill>
            <a:srgbClr val="1B212C"/>
          </a:solidFill>
          <a:ln w="15875">
            <a:solidFill>
              <a:srgbClr val="2C3441"/>
            </a:solidFill>
            <a:prstDash val="solid"/>
          </a:ln>
        </p:spPr>
      </p:sp>
      <p:sp>
        <p:nvSpPr>
          <p:cNvPr id="11" name="Text 9"/>
          <p:cNvSpPr/>
          <p:nvPr/>
        </p:nvSpPr>
        <p:spPr>
          <a:xfrm>
            <a:off x="2377440" y="4892040"/>
            <a:ext cx="1234440" cy="566928"/>
          </a:xfrm>
          <a:prstGeom prst="rect">
            <a:avLst/>
          </a:prstGeom>
          <a:noFill/>
          <a:ln/>
        </p:spPr>
        <p:txBody>
          <a:bodyPr wrap="square" rtlCol="0" anchor="ctr"/>
          <a:lstStyle/>
          <a:p>
            <a:pPr marL="0" indent="0" algn="ctr">
              <a:buNone/>
            </a:pPr>
            <a:r>
              <a:rPr lang="en-US" sz="1200" b="1" dirty="0">
                <a:solidFill>
                  <a:srgbClr val="F2F5F8"/>
                </a:solidFill>
                <a:latin typeface="Calibri" pitchFamily="34" charset="0"/>
                <a:ea typeface="Calibri" pitchFamily="34" charset="-122"/>
                <a:cs typeface="Calibri" pitchFamily="34" charset="-120"/>
              </a:rPr>
              <a:t>Node</a:t>
            </a:r>
            <a:endParaRPr lang="en-US" sz="1200" dirty="0"/>
          </a:p>
        </p:txBody>
      </p:sp>
      <p:sp>
        <p:nvSpPr>
          <p:cNvPr id="12" name="Shape 10"/>
          <p:cNvSpPr/>
          <p:nvPr/>
        </p:nvSpPr>
        <p:spPr>
          <a:xfrm>
            <a:off x="3611880" y="5175504"/>
            <a:ext cx="502920" cy="0"/>
          </a:xfrm>
          <a:prstGeom prst="line">
            <a:avLst/>
          </a:prstGeom>
          <a:noFill/>
          <a:ln w="19050">
            <a:solidFill>
              <a:srgbClr val="5B6577"/>
            </a:solidFill>
            <a:prstDash val="solid"/>
            <a:tailEnd type="triangle"/>
          </a:ln>
        </p:spPr>
      </p:sp>
      <p:sp>
        <p:nvSpPr>
          <p:cNvPr id="13" name="Shape 11"/>
          <p:cNvSpPr/>
          <p:nvPr/>
        </p:nvSpPr>
        <p:spPr>
          <a:xfrm>
            <a:off x="4114800" y="4892040"/>
            <a:ext cx="1234440" cy="566928"/>
          </a:xfrm>
          <a:prstGeom prst="roundRect">
            <a:avLst>
              <a:gd name="adj" fmla="val 12903"/>
            </a:avLst>
          </a:prstGeom>
          <a:solidFill>
            <a:srgbClr val="1B212C"/>
          </a:solidFill>
          <a:ln w="15875">
            <a:solidFill>
              <a:srgbClr val="2C3441"/>
            </a:solidFill>
            <a:prstDash val="solid"/>
          </a:ln>
        </p:spPr>
      </p:sp>
      <p:sp>
        <p:nvSpPr>
          <p:cNvPr id="14" name="Text 12"/>
          <p:cNvSpPr/>
          <p:nvPr/>
        </p:nvSpPr>
        <p:spPr>
          <a:xfrm>
            <a:off x="4114800" y="4892040"/>
            <a:ext cx="1234440" cy="566928"/>
          </a:xfrm>
          <a:prstGeom prst="rect">
            <a:avLst/>
          </a:prstGeom>
          <a:noFill/>
          <a:ln/>
        </p:spPr>
        <p:txBody>
          <a:bodyPr wrap="square" rtlCol="0" anchor="ctr"/>
          <a:lstStyle/>
          <a:p>
            <a:pPr marL="0" indent="0" algn="ctr">
              <a:buNone/>
            </a:pPr>
            <a:r>
              <a:rPr lang="en-US" sz="1200" b="1" dirty="0">
                <a:solidFill>
                  <a:srgbClr val="F2F5F8"/>
                </a:solidFill>
                <a:latin typeface="Calibri" pitchFamily="34" charset="0"/>
                <a:ea typeface="Calibri" pitchFamily="34" charset="-122"/>
                <a:cs typeface="Calibri" pitchFamily="34" charset="-120"/>
              </a:rPr>
              <a:t>Node</a:t>
            </a:r>
            <a:endParaRPr lang="en-US" sz="1200" dirty="0"/>
          </a:p>
        </p:txBody>
      </p:sp>
      <p:sp>
        <p:nvSpPr>
          <p:cNvPr id="15" name="Shape 13"/>
          <p:cNvSpPr/>
          <p:nvPr/>
        </p:nvSpPr>
        <p:spPr>
          <a:xfrm>
            <a:off x="5349240" y="5175504"/>
            <a:ext cx="502920" cy="0"/>
          </a:xfrm>
          <a:prstGeom prst="line">
            <a:avLst/>
          </a:prstGeom>
          <a:noFill/>
          <a:ln w="19050">
            <a:solidFill>
              <a:srgbClr val="5B6577"/>
            </a:solidFill>
            <a:prstDash val="solid"/>
            <a:tailEnd type="triangle"/>
          </a:ln>
        </p:spPr>
      </p:sp>
      <p:sp>
        <p:nvSpPr>
          <p:cNvPr id="16" name="Shape 14"/>
          <p:cNvSpPr/>
          <p:nvPr/>
        </p:nvSpPr>
        <p:spPr>
          <a:xfrm>
            <a:off x="5852160" y="4892040"/>
            <a:ext cx="1417320" cy="566928"/>
          </a:xfrm>
          <a:prstGeom prst="roundRect">
            <a:avLst>
              <a:gd name="adj" fmla="val 12903"/>
            </a:avLst>
          </a:prstGeom>
          <a:solidFill>
            <a:srgbClr val="1B212C"/>
          </a:solidFill>
          <a:ln w="15875">
            <a:solidFill>
              <a:srgbClr val="2DD4BF"/>
            </a:solidFill>
            <a:prstDash val="solid"/>
          </a:ln>
        </p:spPr>
      </p:sp>
      <p:sp>
        <p:nvSpPr>
          <p:cNvPr id="17" name="Text 15"/>
          <p:cNvSpPr/>
          <p:nvPr/>
        </p:nvSpPr>
        <p:spPr>
          <a:xfrm>
            <a:off x="5852160" y="4892040"/>
            <a:ext cx="1417320" cy="566928"/>
          </a:xfrm>
          <a:prstGeom prst="rect">
            <a:avLst/>
          </a:prstGeom>
          <a:noFill/>
          <a:ln/>
        </p:spPr>
        <p:txBody>
          <a:bodyPr wrap="square" rtlCol="0" anchor="ctr"/>
          <a:lstStyle/>
          <a:p>
            <a:pPr marL="0" indent="0" algn="ctr">
              <a:buNone/>
            </a:pPr>
            <a:r>
              <a:rPr lang="en-US" sz="1200" b="1" dirty="0">
                <a:solidFill>
                  <a:srgbClr val="F2F5F8"/>
                </a:solidFill>
                <a:latin typeface="Calibri" pitchFamily="34" charset="0"/>
                <a:ea typeface="Calibri" pitchFamily="34" charset="-122"/>
                <a:cs typeface="Calibri" pitchFamily="34" charset="-120"/>
              </a:rPr>
              <a:t>Decision</a:t>
            </a:r>
            <a:endParaRPr lang="en-US" sz="1200" dirty="0"/>
          </a:p>
        </p:txBody>
      </p:sp>
      <p:sp>
        <p:nvSpPr>
          <p:cNvPr id="18" name="Shape 16"/>
          <p:cNvSpPr/>
          <p:nvPr/>
        </p:nvSpPr>
        <p:spPr>
          <a:xfrm>
            <a:off x="7269480" y="5175504"/>
            <a:ext cx="502920" cy="0"/>
          </a:xfrm>
          <a:prstGeom prst="line">
            <a:avLst/>
          </a:prstGeom>
          <a:noFill/>
          <a:ln w="19050">
            <a:solidFill>
              <a:srgbClr val="5B6577"/>
            </a:solidFill>
            <a:prstDash val="solid"/>
            <a:tailEnd type="triangle"/>
          </a:ln>
        </p:spPr>
      </p:sp>
      <p:sp>
        <p:nvSpPr>
          <p:cNvPr id="19" name="Shape 17"/>
          <p:cNvSpPr/>
          <p:nvPr/>
        </p:nvSpPr>
        <p:spPr>
          <a:xfrm>
            <a:off x="7772400" y="4892040"/>
            <a:ext cx="1234440" cy="566928"/>
          </a:xfrm>
          <a:prstGeom prst="roundRect">
            <a:avLst>
              <a:gd name="adj" fmla="val 12903"/>
            </a:avLst>
          </a:prstGeom>
          <a:solidFill>
            <a:srgbClr val="1B212C"/>
          </a:solidFill>
          <a:ln w="15875">
            <a:solidFill>
              <a:srgbClr val="2C3441"/>
            </a:solidFill>
            <a:prstDash val="solid"/>
          </a:ln>
        </p:spPr>
      </p:sp>
      <p:sp>
        <p:nvSpPr>
          <p:cNvPr id="20" name="Text 18"/>
          <p:cNvSpPr/>
          <p:nvPr/>
        </p:nvSpPr>
        <p:spPr>
          <a:xfrm>
            <a:off x="7772400" y="4892040"/>
            <a:ext cx="1234440" cy="566928"/>
          </a:xfrm>
          <a:prstGeom prst="rect">
            <a:avLst/>
          </a:prstGeom>
          <a:noFill/>
          <a:ln/>
        </p:spPr>
        <p:txBody>
          <a:bodyPr wrap="square" rtlCol="0" anchor="ctr"/>
          <a:lstStyle/>
          <a:p>
            <a:pPr marL="0" indent="0" algn="ctr">
              <a:buNone/>
            </a:pPr>
            <a:r>
              <a:rPr lang="en-US" sz="1200" b="1" dirty="0">
                <a:solidFill>
                  <a:srgbClr val="F2F5F8"/>
                </a:solidFill>
                <a:latin typeface="Calibri" pitchFamily="34" charset="0"/>
                <a:ea typeface="Calibri" pitchFamily="34" charset="-122"/>
                <a:cs typeface="Calibri" pitchFamily="34" charset="-120"/>
              </a:rPr>
              <a:t>Node</a:t>
            </a:r>
            <a:endParaRPr lang="en-US" sz="1200" dirty="0"/>
          </a:p>
        </p:txBody>
      </p:sp>
      <p:sp>
        <p:nvSpPr>
          <p:cNvPr id="21" name="Shape 19"/>
          <p:cNvSpPr/>
          <p:nvPr/>
        </p:nvSpPr>
        <p:spPr>
          <a:xfrm>
            <a:off x="9006840" y="5175504"/>
            <a:ext cx="502920" cy="0"/>
          </a:xfrm>
          <a:prstGeom prst="line">
            <a:avLst/>
          </a:prstGeom>
          <a:noFill/>
          <a:ln w="19050">
            <a:solidFill>
              <a:srgbClr val="5B6577"/>
            </a:solidFill>
            <a:prstDash val="solid"/>
            <a:tailEnd type="triangle"/>
          </a:ln>
        </p:spPr>
      </p:sp>
      <p:sp>
        <p:nvSpPr>
          <p:cNvPr id="22" name="Shape 20"/>
          <p:cNvSpPr/>
          <p:nvPr/>
        </p:nvSpPr>
        <p:spPr>
          <a:xfrm>
            <a:off x="9509760" y="4892040"/>
            <a:ext cx="960120" cy="566928"/>
          </a:xfrm>
          <a:prstGeom prst="roundRect">
            <a:avLst>
              <a:gd name="adj" fmla="val 50000"/>
            </a:avLst>
          </a:prstGeom>
          <a:solidFill>
            <a:srgbClr val="241B1B"/>
          </a:solidFill>
          <a:ln w="15875">
            <a:solidFill>
              <a:srgbClr val="2DD4BF"/>
            </a:solidFill>
            <a:prstDash val="solid"/>
          </a:ln>
        </p:spPr>
      </p:sp>
      <p:sp>
        <p:nvSpPr>
          <p:cNvPr id="23" name="Text 21"/>
          <p:cNvSpPr/>
          <p:nvPr/>
        </p:nvSpPr>
        <p:spPr>
          <a:xfrm>
            <a:off x="9509760" y="4892040"/>
            <a:ext cx="960120" cy="566928"/>
          </a:xfrm>
          <a:prstGeom prst="rect">
            <a:avLst/>
          </a:prstGeom>
          <a:noFill/>
          <a:ln/>
        </p:spPr>
        <p:txBody>
          <a:bodyPr wrap="square" rtlCol="0" anchor="ctr"/>
          <a:lstStyle/>
          <a:p>
            <a:pPr marL="0" indent="0" algn="ctr">
              <a:buNone/>
            </a:pPr>
            <a:r>
              <a:rPr lang="en-US" sz="1100" b="1" kern="0" spc="100" dirty="0">
                <a:solidFill>
                  <a:srgbClr val="8A96A8"/>
                </a:solidFill>
                <a:latin typeface="Calibri" pitchFamily="34" charset="0"/>
                <a:ea typeface="Calibri" pitchFamily="34" charset="-122"/>
                <a:cs typeface="Calibri" pitchFamily="34" charset="-120"/>
              </a:rPr>
              <a:t>END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51C"/>
        </a:solidFill>
        <a:effectLst/>
      </p:bgPr>
    </p:bg>
    <p:spTree>
      <p:nvGrpSpPr>
        <p:cNvPr id="1" name=""/>
        <p:cNvGrpSpPr/>
        <p:nvPr/>
      </p:nvGrpSpPr>
      <p:grpSpPr>
        <a:xfrm>
          <a:off x="0" y="0"/>
          <a:ext cx="0" cy="0"/>
          <a:chOff x="0" y="0"/>
          <a:chExt cx="0" cy="0"/>
        </a:xfrm>
      </p:grpSpPr>
      <p:sp>
        <p:nvSpPr>
          <p:cNvPr id="4" name="TextBox 3"/>
          <p:cNvSpPr txBox="1"/>
          <p:nvPr/>
        </p:nvSpPr>
        <p:spPr>
          <a:xfrm>
            <a:off x="548640" y="164592"/>
            <a:ext cx="11064240" cy="274320"/>
          </a:xfrm>
          <a:prstGeom prst="rect">
            <a:avLst/>
          </a:prstGeom>
          <a:noFill/>
        </p:spPr>
        <p:txBody>
          <a:bodyPr wrap="none" anchor="ctr">
            <a:spAutoFit/>
          </a:bodyPr>
          <a:lstStyle/>
          <a:p>
            <a:pPr algn="l"/>
            <a:r>
              <a:rPr sz="1100" b="1">
                <a:solidFill>
                  <a:srgbClr val="2DD4BF"/>
                </a:solidFill>
                <a:latin typeface="Aptos"/>
              </a:rPr>
              <a:t>MOTIVATION</a:t>
            </a:r>
          </a:p>
        </p:txBody>
      </p:sp>
      <p:sp>
        <p:nvSpPr>
          <p:cNvPr id="5" name="TextBox 4"/>
          <p:cNvSpPr txBox="1"/>
          <p:nvPr/>
        </p:nvSpPr>
        <p:spPr>
          <a:xfrm>
            <a:off x="548640" y="384048"/>
            <a:ext cx="11064240" cy="566928"/>
          </a:xfrm>
          <a:prstGeom prst="rect">
            <a:avLst/>
          </a:prstGeom>
          <a:noFill/>
        </p:spPr>
        <p:txBody>
          <a:bodyPr wrap="none" anchor="ctr">
            <a:spAutoFit/>
          </a:bodyPr>
          <a:lstStyle/>
          <a:p>
            <a:pPr algn="l"/>
            <a:r>
              <a:rPr sz="2800" b="1">
                <a:solidFill>
                  <a:srgbClr val="F2F5F8"/>
                </a:solidFill>
                <a:latin typeface="Aptos"/>
              </a:rPr>
              <a:t>When a simple chain stops being enough</a:t>
            </a:r>
          </a:p>
        </p:txBody>
      </p:sp>
      <p:sp>
        <p:nvSpPr>
          <p:cNvPr id="6" name="Rounded Rectangle 5"/>
          <p:cNvSpPr/>
          <p:nvPr/>
        </p:nvSpPr>
        <p:spPr>
          <a:xfrm>
            <a:off x="594360" y="1298448"/>
            <a:ext cx="5166360" cy="3429000"/>
          </a:xfrm>
          <a:prstGeom prst="roundRect">
            <a:avLst/>
          </a:prstGeom>
          <a:solidFill>
            <a:srgbClr val="191F28"/>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1527048"/>
            <a:ext cx="1325880" cy="310896"/>
          </a:xfrm>
          <a:prstGeom prst="round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2151C"/>
                </a:solidFill>
                <a:latin typeface="Aptos"/>
              </a:rPr>
              <a:t>SIMPLE CHAIN</a:t>
            </a:r>
          </a:p>
        </p:txBody>
      </p:sp>
      <p:sp>
        <p:nvSpPr>
          <p:cNvPr id="8" name="TextBox 7"/>
          <p:cNvSpPr txBox="1"/>
          <p:nvPr/>
        </p:nvSpPr>
        <p:spPr>
          <a:xfrm>
            <a:off x="822960" y="1883664"/>
            <a:ext cx="4480560" cy="365760"/>
          </a:xfrm>
          <a:prstGeom prst="rect">
            <a:avLst/>
          </a:prstGeom>
          <a:noFill/>
        </p:spPr>
        <p:txBody>
          <a:bodyPr wrap="none" anchor="ctr">
            <a:spAutoFit/>
          </a:bodyPr>
          <a:lstStyle/>
          <a:p>
            <a:pPr algn="l"/>
            <a:r>
              <a:rPr sz="1400" b="1">
                <a:solidFill>
                  <a:srgbClr val="F2F5F8"/>
                </a:solidFill>
                <a:latin typeface="Aptos"/>
              </a:rPr>
              <a:t>Good when the workflow is linear</a:t>
            </a:r>
          </a:p>
        </p:txBody>
      </p:sp>
      <p:sp>
        <p:nvSpPr>
          <p:cNvPr id="9" name="Rounded Rectangle 8"/>
          <p:cNvSpPr/>
          <p:nvPr/>
        </p:nvSpPr>
        <p:spPr>
          <a:xfrm>
            <a:off x="914400" y="2487168"/>
            <a:ext cx="960120" cy="475488"/>
          </a:xfrm>
          <a:prstGeom prst="roundRect">
            <a:avLst/>
          </a:prstGeom>
          <a:solidFill>
            <a:srgbClr val="1D242F"/>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5F8"/>
                </a:solidFill>
                <a:latin typeface="Aptos"/>
              </a:rPr>
              <a:t>Prompt</a:t>
            </a:r>
          </a:p>
        </p:txBody>
      </p:sp>
      <p:sp>
        <p:nvSpPr>
          <p:cNvPr id="10" name="Rounded Rectangle 9"/>
          <p:cNvSpPr/>
          <p:nvPr/>
        </p:nvSpPr>
        <p:spPr>
          <a:xfrm>
            <a:off x="2240280" y="2487168"/>
            <a:ext cx="960120" cy="475488"/>
          </a:xfrm>
          <a:prstGeom prst="roundRect">
            <a:avLst/>
          </a:prstGeom>
          <a:solidFill>
            <a:srgbClr val="1D242F"/>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5F8"/>
                </a:solidFill>
                <a:latin typeface="Aptos"/>
              </a:rPr>
              <a:t>LLM</a:t>
            </a:r>
          </a:p>
        </p:txBody>
      </p:sp>
      <p:sp>
        <p:nvSpPr>
          <p:cNvPr id="11" name="Rounded Rectangle 10"/>
          <p:cNvSpPr/>
          <p:nvPr/>
        </p:nvSpPr>
        <p:spPr>
          <a:xfrm>
            <a:off x="3566160" y="2487168"/>
            <a:ext cx="960120" cy="475488"/>
          </a:xfrm>
          <a:prstGeom prst="roundRect">
            <a:avLst/>
          </a:prstGeom>
          <a:solidFill>
            <a:srgbClr val="1D242F"/>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5F8"/>
                </a:solidFill>
                <a:latin typeface="Aptos"/>
              </a:rPr>
              <a:t>Parser</a:t>
            </a:r>
          </a:p>
        </p:txBody>
      </p:sp>
      <p:sp>
        <p:nvSpPr>
          <p:cNvPr id="12" name="Rounded Rectangle 11"/>
          <p:cNvSpPr/>
          <p:nvPr/>
        </p:nvSpPr>
        <p:spPr>
          <a:xfrm>
            <a:off x="4754880" y="2487168"/>
            <a:ext cx="914400" cy="475488"/>
          </a:xfrm>
          <a:prstGeom prst="roundRect">
            <a:avLst/>
          </a:prstGeom>
          <a:solidFill>
            <a:srgbClr val="1D242F"/>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5F8"/>
                </a:solidFill>
                <a:latin typeface="Aptos"/>
              </a:rPr>
              <a:t>Answer</a:t>
            </a:r>
          </a:p>
        </p:txBody>
      </p:sp>
      <p:cxnSp>
        <p:nvCxnSpPr>
          <p:cNvPr id="13" name="Connector 12"/>
          <p:cNvCxnSpPr/>
          <p:nvPr/>
        </p:nvCxnSpPr>
        <p:spPr>
          <a:xfrm>
            <a:off x="1874519" y="2724912"/>
            <a:ext cx="365761" cy="0"/>
          </a:xfrm>
          <a:prstGeom prst="line">
            <a:avLst/>
          </a:prstGeom>
          <a:ln w="19050">
            <a:solidFill>
              <a:srgbClr val="8A96A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200400" y="2724912"/>
            <a:ext cx="365760" cy="0"/>
          </a:xfrm>
          <a:prstGeom prst="line">
            <a:avLst/>
          </a:prstGeom>
          <a:ln w="19050">
            <a:solidFill>
              <a:srgbClr val="8A96A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526280" y="2724912"/>
            <a:ext cx="228600" cy="0"/>
          </a:xfrm>
          <a:prstGeom prst="line">
            <a:avLst/>
          </a:prstGeom>
          <a:ln w="19050">
            <a:solidFill>
              <a:srgbClr val="8A96A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68680" y="3310128"/>
            <a:ext cx="914400" cy="274320"/>
          </a:xfrm>
          <a:prstGeom prst="rect">
            <a:avLst/>
          </a:prstGeom>
          <a:noFill/>
        </p:spPr>
        <p:txBody>
          <a:bodyPr wrap="none" anchor="ctr">
            <a:spAutoFit/>
          </a:bodyPr>
          <a:lstStyle/>
          <a:p>
            <a:pPr algn="l"/>
            <a:r>
              <a:rPr sz="1000" b="1">
                <a:solidFill>
                  <a:srgbClr val="8A96A8"/>
                </a:solidFill>
                <a:latin typeface="Aptos"/>
              </a:rPr>
              <a:t>Examples</a:t>
            </a:r>
          </a:p>
        </p:txBody>
      </p:sp>
      <p:sp>
        <p:nvSpPr>
          <p:cNvPr id="17" name="TextBox 16"/>
          <p:cNvSpPr txBox="1"/>
          <p:nvPr/>
        </p:nvSpPr>
        <p:spPr>
          <a:xfrm>
            <a:off x="914400" y="3593592"/>
            <a:ext cx="4480560" cy="228600"/>
          </a:xfrm>
          <a:prstGeom prst="rect">
            <a:avLst/>
          </a:prstGeom>
          <a:noFill/>
        </p:spPr>
        <p:txBody>
          <a:bodyPr wrap="none" anchor="ctr">
            <a:spAutoFit/>
          </a:bodyPr>
          <a:lstStyle/>
          <a:p>
            <a:pPr algn="l"/>
            <a:r>
              <a:rPr sz="1050" b="0">
                <a:solidFill>
                  <a:srgbClr val="8A96A8"/>
                </a:solidFill>
                <a:latin typeface="Aptos"/>
              </a:rPr>
              <a:t>• Summarize a document</a:t>
            </a:r>
          </a:p>
        </p:txBody>
      </p:sp>
      <p:sp>
        <p:nvSpPr>
          <p:cNvPr id="18" name="TextBox 17"/>
          <p:cNvSpPr txBox="1"/>
          <p:nvPr/>
        </p:nvSpPr>
        <p:spPr>
          <a:xfrm>
            <a:off x="914400" y="3858768"/>
            <a:ext cx="4480560" cy="228600"/>
          </a:xfrm>
          <a:prstGeom prst="rect">
            <a:avLst/>
          </a:prstGeom>
          <a:noFill/>
        </p:spPr>
        <p:txBody>
          <a:bodyPr wrap="none" anchor="ctr">
            <a:spAutoFit/>
          </a:bodyPr>
          <a:lstStyle/>
          <a:p>
            <a:pPr algn="l"/>
            <a:r>
              <a:rPr sz="1050" b="0">
                <a:solidFill>
                  <a:srgbClr val="8A96A8"/>
                </a:solidFill>
                <a:latin typeface="Aptos"/>
              </a:rPr>
              <a:t>• Translate text</a:t>
            </a:r>
          </a:p>
        </p:txBody>
      </p:sp>
      <p:sp>
        <p:nvSpPr>
          <p:cNvPr id="19" name="TextBox 18"/>
          <p:cNvSpPr txBox="1"/>
          <p:nvPr/>
        </p:nvSpPr>
        <p:spPr>
          <a:xfrm>
            <a:off x="914400" y="4123944"/>
            <a:ext cx="4480560" cy="228600"/>
          </a:xfrm>
          <a:prstGeom prst="rect">
            <a:avLst/>
          </a:prstGeom>
          <a:noFill/>
        </p:spPr>
        <p:txBody>
          <a:bodyPr wrap="none" anchor="ctr">
            <a:spAutoFit/>
          </a:bodyPr>
          <a:lstStyle/>
          <a:p>
            <a:pPr algn="l"/>
            <a:r>
              <a:rPr sz="1050" b="0">
                <a:solidFill>
                  <a:srgbClr val="8A96A8"/>
                </a:solidFill>
                <a:latin typeface="Aptos"/>
              </a:rPr>
              <a:t>• Extract structured fields</a:t>
            </a:r>
          </a:p>
        </p:txBody>
      </p:sp>
      <p:sp>
        <p:nvSpPr>
          <p:cNvPr id="20" name="TextBox 19"/>
          <p:cNvSpPr txBox="1"/>
          <p:nvPr/>
        </p:nvSpPr>
        <p:spPr>
          <a:xfrm>
            <a:off x="914400" y="4389120"/>
            <a:ext cx="4480560" cy="228600"/>
          </a:xfrm>
          <a:prstGeom prst="rect">
            <a:avLst/>
          </a:prstGeom>
          <a:noFill/>
        </p:spPr>
        <p:txBody>
          <a:bodyPr wrap="none" anchor="ctr">
            <a:spAutoFit/>
          </a:bodyPr>
          <a:lstStyle/>
          <a:p>
            <a:pPr algn="l"/>
            <a:r>
              <a:rPr sz="1050" b="0">
                <a:solidFill>
                  <a:srgbClr val="8A96A8"/>
                </a:solidFill>
                <a:latin typeface="Aptos"/>
              </a:rPr>
              <a:t>• Generate → format → return</a:t>
            </a:r>
          </a:p>
        </p:txBody>
      </p:sp>
      <p:sp>
        <p:nvSpPr>
          <p:cNvPr id="21" name="Rounded Rectangle 20"/>
          <p:cNvSpPr/>
          <p:nvPr/>
        </p:nvSpPr>
        <p:spPr>
          <a:xfrm>
            <a:off x="6080760" y="1298448"/>
            <a:ext cx="5212080" cy="3429000"/>
          </a:xfrm>
          <a:prstGeom prst="roundRect">
            <a:avLst/>
          </a:prstGeom>
          <a:solidFill>
            <a:srgbClr val="191F28"/>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309360" y="1527048"/>
            <a:ext cx="1051560" cy="310896"/>
          </a:xfrm>
          <a:prstGeom prst="roundRect">
            <a:avLst/>
          </a:prstGeom>
          <a:solidFill>
            <a:srgbClr val="FBB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2151C"/>
                </a:solidFill>
                <a:latin typeface="Aptos"/>
              </a:rPr>
              <a:t>WORKFLOW</a:t>
            </a:r>
          </a:p>
        </p:txBody>
      </p:sp>
      <p:sp>
        <p:nvSpPr>
          <p:cNvPr id="23" name="TextBox 22"/>
          <p:cNvSpPr txBox="1"/>
          <p:nvPr/>
        </p:nvSpPr>
        <p:spPr>
          <a:xfrm>
            <a:off x="6309360" y="1883664"/>
            <a:ext cx="4526280" cy="365760"/>
          </a:xfrm>
          <a:prstGeom prst="rect">
            <a:avLst/>
          </a:prstGeom>
          <a:noFill/>
        </p:spPr>
        <p:txBody>
          <a:bodyPr wrap="none" anchor="ctr">
            <a:spAutoFit/>
          </a:bodyPr>
          <a:lstStyle/>
          <a:p>
            <a:pPr algn="l"/>
            <a:r>
              <a:rPr sz="1400" b="1">
                <a:solidFill>
                  <a:srgbClr val="F2F5F8"/>
                </a:solidFill>
                <a:latin typeface="Aptos"/>
              </a:rPr>
              <a:t>Needs decisions, state, or repetition</a:t>
            </a:r>
          </a:p>
        </p:txBody>
      </p:sp>
      <p:sp>
        <p:nvSpPr>
          <p:cNvPr id="24" name="Rounded Rectangle 23"/>
          <p:cNvSpPr/>
          <p:nvPr/>
        </p:nvSpPr>
        <p:spPr>
          <a:xfrm>
            <a:off x="6400800" y="2542032"/>
            <a:ext cx="1097280" cy="438912"/>
          </a:xfrm>
          <a:prstGeom prst="roundRect">
            <a:avLst/>
          </a:prstGeom>
          <a:solidFill>
            <a:srgbClr val="1D242F"/>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5F8"/>
                </a:solidFill>
                <a:latin typeface="Aptos"/>
              </a:rPr>
              <a:t>Analyze</a:t>
            </a:r>
          </a:p>
        </p:txBody>
      </p:sp>
      <p:sp>
        <p:nvSpPr>
          <p:cNvPr id="25" name="Rounded Rectangle 24"/>
          <p:cNvSpPr/>
          <p:nvPr/>
        </p:nvSpPr>
        <p:spPr>
          <a:xfrm>
            <a:off x="8001000" y="2542032"/>
            <a:ext cx="1097280" cy="438912"/>
          </a:xfrm>
          <a:prstGeom prst="roundRect">
            <a:avLst/>
          </a:prstGeom>
          <a:solidFill>
            <a:srgbClr val="1D242F"/>
          </a:solidFill>
          <a:ln w="12700">
            <a:solidFill>
              <a:srgbClr val="FBB45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5F8"/>
                </a:solidFill>
                <a:latin typeface="Aptos"/>
              </a:rPr>
              <a:t>Decision</a:t>
            </a:r>
          </a:p>
        </p:txBody>
      </p:sp>
      <p:sp>
        <p:nvSpPr>
          <p:cNvPr id="26" name="Rounded Rectangle 25"/>
          <p:cNvSpPr/>
          <p:nvPr/>
        </p:nvSpPr>
        <p:spPr>
          <a:xfrm>
            <a:off x="9646920" y="2148840"/>
            <a:ext cx="1051560" cy="438912"/>
          </a:xfrm>
          <a:prstGeom prst="roundRect">
            <a:avLst/>
          </a:prstGeom>
          <a:solidFill>
            <a:srgbClr val="1D242F"/>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5F8"/>
                </a:solidFill>
                <a:latin typeface="Aptos"/>
              </a:rPr>
              <a:t>Search</a:t>
            </a:r>
          </a:p>
        </p:txBody>
      </p:sp>
      <p:sp>
        <p:nvSpPr>
          <p:cNvPr id="27" name="Rounded Rectangle 26"/>
          <p:cNvSpPr/>
          <p:nvPr/>
        </p:nvSpPr>
        <p:spPr>
          <a:xfrm>
            <a:off x="9646920" y="2907792"/>
            <a:ext cx="1051560" cy="438912"/>
          </a:xfrm>
          <a:prstGeom prst="roundRect">
            <a:avLst/>
          </a:prstGeom>
          <a:solidFill>
            <a:srgbClr val="1D242F"/>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5F8"/>
                </a:solidFill>
                <a:latin typeface="Aptos"/>
              </a:rPr>
              <a:t>Respond</a:t>
            </a:r>
          </a:p>
        </p:txBody>
      </p:sp>
      <p:cxnSp>
        <p:nvCxnSpPr>
          <p:cNvPr id="28" name="Connector 27"/>
          <p:cNvCxnSpPr/>
          <p:nvPr/>
        </p:nvCxnSpPr>
        <p:spPr>
          <a:xfrm>
            <a:off x="7498079" y="2761488"/>
            <a:ext cx="502921" cy="0"/>
          </a:xfrm>
          <a:prstGeom prst="line">
            <a:avLst/>
          </a:prstGeom>
          <a:ln w="19050">
            <a:solidFill>
              <a:srgbClr val="8A96A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098280" y="2395728"/>
            <a:ext cx="548640" cy="274320"/>
          </a:xfrm>
          <a:prstGeom prst="line">
            <a:avLst/>
          </a:prstGeom>
          <a:ln w="19050">
            <a:solidFill>
              <a:srgbClr val="FBB45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098280" y="2834640"/>
            <a:ext cx="548640" cy="292608"/>
          </a:xfrm>
          <a:prstGeom prst="line">
            <a:avLst/>
          </a:prstGeom>
          <a:ln w="19050">
            <a:solidFill>
              <a:srgbClr val="FBB45C"/>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8280" y="2212848"/>
            <a:ext cx="685800" cy="228600"/>
          </a:xfrm>
          <a:prstGeom prst="rect">
            <a:avLst/>
          </a:prstGeom>
          <a:noFill/>
        </p:spPr>
        <p:txBody>
          <a:bodyPr wrap="none" anchor="ctr">
            <a:spAutoFit/>
          </a:bodyPr>
          <a:lstStyle/>
          <a:p>
            <a:pPr algn="ctr"/>
            <a:r>
              <a:rPr sz="900" b="1">
                <a:solidFill>
                  <a:srgbClr val="FBB45C"/>
                </a:solidFill>
                <a:latin typeface="Aptos"/>
              </a:rPr>
              <a:t>search?</a:t>
            </a:r>
          </a:p>
        </p:txBody>
      </p:sp>
      <p:sp>
        <p:nvSpPr>
          <p:cNvPr id="32" name="TextBox 31"/>
          <p:cNvSpPr txBox="1"/>
          <p:nvPr/>
        </p:nvSpPr>
        <p:spPr>
          <a:xfrm>
            <a:off x="9125712" y="3154680"/>
            <a:ext cx="640080" cy="228600"/>
          </a:xfrm>
          <a:prstGeom prst="rect">
            <a:avLst/>
          </a:prstGeom>
          <a:noFill/>
        </p:spPr>
        <p:txBody>
          <a:bodyPr wrap="none" anchor="ctr">
            <a:spAutoFit/>
          </a:bodyPr>
          <a:lstStyle/>
          <a:p>
            <a:pPr algn="ctr"/>
            <a:r>
              <a:rPr sz="900" b="1">
                <a:solidFill>
                  <a:srgbClr val="FBB45C"/>
                </a:solidFill>
                <a:latin typeface="Aptos"/>
              </a:rPr>
              <a:t>direct</a:t>
            </a:r>
          </a:p>
        </p:txBody>
      </p:sp>
      <p:sp>
        <p:nvSpPr>
          <p:cNvPr id="33" name="TextBox 32"/>
          <p:cNvSpPr txBox="1"/>
          <p:nvPr/>
        </p:nvSpPr>
        <p:spPr>
          <a:xfrm>
            <a:off x="6355080" y="3639312"/>
            <a:ext cx="1828800" cy="274320"/>
          </a:xfrm>
          <a:prstGeom prst="rect">
            <a:avLst/>
          </a:prstGeom>
          <a:noFill/>
        </p:spPr>
        <p:txBody>
          <a:bodyPr wrap="none" anchor="ctr">
            <a:spAutoFit/>
          </a:bodyPr>
          <a:lstStyle/>
          <a:p>
            <a:pPr algn="l"/>
            <a:r>
              <a:rPr sz="1000" b="1">
                <a:solidFill>
                  <a:srgbClr val="8A96A8"/>
                </a:solidFill>
                <a:latin typeface="Aptos"/>
              </a:rPr>
              <a:t>Typical requirements</a:t>
            </a:r>
          </a:p>
        </p:txBody>
      </p:sp>
      <p:sp>
        <p:nvSpPr>
          <p:cNvPr id="34" name="TextBox 33"/>
          <p:cNvSpPr txBox="1"/>
          <p:nvPr/>
        </p:nvSpPr>
        <p:spPr>
          <a:xfrm>
            <a:off x="6400800" y="3922776"/>
            <a:ext cx="2011680" cy="228600"/>
          </a:xfrm>
          <a:prstGeom prst="rect">
            <a:avLst/>
          </a:prstGeom>
          <a:noFill/>
        </p:spPr>
        <p:txBody>
          <a:bodyPr wrap="none" anchor="ctr">
            <a:spAutoFit/>
          </a:bodyPr>
          <a:lstStyle/>
          <a:p>
            <a:pPr algn="l"/>
            <a:r>
              <a:rPr sz="1050" b="0">
                <a:solidFill>
                  <a:srgbClr val="F2F5F8"/>
                </a:solidFill>
                <a:latin typeface="Aptos"/>
              </a:rPr>
              <a:t>• Branching</a:t>
            </a:r>
          </a:p>
        </p:txBody>
      </p:sp>
      <p:sp>
        <p:nvSpPr>
          <p:cNvPr id="35" name="TextBox 34"/>
          <p:cNvSpPr txBox="1"/>
          <p:nvPr/>
        </p:nvSpPr>
        <p:spPr>
          <a:xfrm>
            <a:off x="8549640" y="3922776"/>
            <a:ext cx="2011680" cy="228600"/>
          </a:xfrm>
          <a:prstGeom prst="rect">
            <a:avLst/>
          </a:prstGeom>
          <a:noFill/>
        </p:spPr>
        <p:txBody>
          <a:bodyPr wrap="none" anchor="ctr">
            <a:spAutoFit/>
          </a:bodyPr>
          <a:lstStyle/>
          <a:p>
            <a:pPr algn="l"/>
            <a:r>
              <a:rPr sz="1050" b="0">
                <a:solidFill>
                  <a:srgbClr val="F2F5F8"/>
                </a:solidFill>
                <a:latin typeface="Aptos"/>
              </a:rPr>
              <a:t>• Loops / retries</a:t>
            </a:r>
          </a:p>
        </p:txBody>
      </p:sp>
      <p:sp>
        <p:nvSpPr>
          <p:cNvPr id="36" name="TextBox 35"/>
          <p:cNvSpPr txBox="1"/>
          <p:nvPr/>
        </p:nvSpPr>
        <p:spPr>
          <a:xfrm>
            <a:off x="6400800" y="4187952"/>
            <a:ext cx="2011680" cy="228600"/>
          </a:xfrm>
          <a:prstGeom prst="rect">
            <a:avLst/>
          </a:prstGeom>
          <a:noFill/>
        </p:spPr>
        <p:txBody>
          <a:bodyPr wrap="none" anchor="ctr">
            <a:spAutoFit/>
          </a:bodyPr>
          <a:lstStyle/>
          <a:p>
            <a:pPr algn="l"/>
            <a:r>
              <a:rPr sz="1050" b="0">
                <a:solidFill>
                  <a:srgbClr val="F2F5F8"/>
                </a:solidFill>
                <a:latin typeface="Aptos"/>
              </a:rPr>
              <a:t>• Shared state</a:t>
            </a:r>
          </a:p>
        </p:txBody>
      </p:sp>
      <p:sp>
        <p:nvSpPr>
          <p:cNvPr id="37" name="TextBox 36"/>
          <p:cNvSpPr txBox="1"/>
          <p:nvPr/>
        </p:nvSpPr>
        <p:spPr>
          <a:xfrm>
            <a:off x="8549640" y="4187952"/>
            <a:ext cx="2011680" cy="228600"/>
          </a:xfrm>
          <a:prstGeom prst="rect">
            <a:avLst/>
          </a:prstGeom>
          <a:noFill/>
        </p:spPr>
        <p:txBody>
          <a:bodyPr wrap="none" anchor="ctr">
            <a:spAutoFit/>
          </a:bodyPr>
          <a:lstStyle/>
          <a:p>
            <a:pPr algn="l"/>
            <a:r>
              <a:rPr sz="1050" b="0">
                <a:solidFill>
                  <a:srgbClr val="F2F5F8"/>
                </a:solidFill>
                <a:latin typeface="Aptos"/>
              </a:rPr>
              <a:t>• Human approval</a:t>
            </a:r>
          </a:p>
        </p:txBody>
      </p:sp>
      <p:sp>
        <p:nvSpPr>
          <p:cNvPr id="38" name="TextBox 37"/>
          <p:cNvSpPr txBox="1"/>
          <p:nvPr/>
        </p:nvSpPr>
        <p:spPr>
          <a:xfrm>
            <a:off x="6400800" y="4453128"/>
            <a:ext cx="2011680" cy="228600"/>
          </a:xfrm>
          <a:prstGeom prst="rect">
            <a:avLst/>
          </a:prstGeom>
          <a:noFill/>
        </p:spPr>
        <p:txBody>
          <a:bodyPr wrap="none" anchor="ctr">
            <a:spAutoFit/>
          </a:bodyPr>
          <a:lstStyle/>
          <a:p>
            <a:pPr algn="l"/>
            <a:r>
              <a:rPr sz="1050" b="0">
                <a:solidFill>
                  <a:srgbClr val="F2F5F8"/>
                </a:solidFill>
                <a:latin typeface="Aptos"/>
              </a:rPr>
              <a:t>• Tool calls</a:t>
            </a:r>
          </a:p>
        </p:txBody>
      </p:sp>
      <p:sp>
        <p:nvSpPr>
          <p:cNvPr id="40" name="TextBox 39"/>
          <p:cNvSpPr txBox="1"/>
          <p:nvPr/>
        </p:nvSpPr>
        <p:spPr>
          <a:xfrm>
            <a:off x="457200" y="6473952"/>
            <a:ext cx="3657600" cy="274320"/>
          </a:xfrm>
          <a:prstGeom prst="rect">
            <a:avLst/>
          </a:prstGeom>
          <a:noFill/>
        </p:spPr>
        <p:txBody>
          <a:bodyPr wrap="none" anchor="ctr">
            <a:spAutoFit/>
          </a:bodyPr>
          <a:lstStyle/>
          <a:p>
            <a:pPr algn="l"/>
            <a:r>
              <a:rPr sz="900" b="0">
                <a:solidFill>
                  <a:srgbClr val="8A96A8"/>
                </a:solidFill>
                <a:latin typeface="Aptos"/>
              </a:rPr>
              <a:t>LangGraph — SE Lab</a:t>
            </a:r>
          </a:p>
        </p:txBody>
      </p:sp>
      <p:sp>
        <p:nvSpPr>
          <p:cNvPr id="41" name="TextBox 40"/>
          <p:cNvSpPr txBox="1"/>
          <p:nvPr/>
        </p:nvSpPr>
        <p:spPr>
          <a:xfrm>
            <a:off x="11365992" y="6473952"/>
            <a:ext cx="365760" cy="274320"/>
          </a:xfrm>
          <a:prstGeom prst="rect">
            <a:avLst/>
          </a:prstGeom>
          <a:noFill/>
        </p:spPr>
        <p:txBody>
          <a:bodyPr wrap="none" anchor="ctr">
            <a:spAutoFit/>
          </a:bodyPr>
          <a:lstStyle/>
          <a:p>
            <a:pPr algn="r"/>
            <a:r>
              <a:rPr sz="900" b="0">
                <a:solidFill>
                  <a:srgbClr val="8A96A8"/>
                </a:solidFill>
                <a:latin typeface="Aptos"/>
              </a:rPr>
              <a:t>2</a:t>
            </a:r>
          </a:p>
        </p:txBody>
      </p:sp>
      <p:sp>
        <p:nvSpPr>
          <p:cNvPr id="42" name="TextBox 41"/>
          <p:cNvSpPr txBox="1"/>
          <p:nvPr/>
        </p:nvSpPr>
        <p:spPr>
          <a:xfrm>
            <a:off x="594360" y="5074920"/>
            <a:ext cx="10698480" cy="502920"/>
          </a:xfrm>
          <a:prstGeom prst="rect">
            <a:avLst/>
          </a:prstGeom>
          <a:noFill/>
        </p:spPr>
        <p:txBody>
          <a:bodyPr wrap="none" anchor="ctr">
            <a:spAutoFit/>
          </a:bodyPr>
          <a:lstStyle/>
          <a:p>
            <a:pPr algn="ctr"/>
            <a:r>
              <a:rPr sz="1600" b="1">
                <a:solidFill>
                  <a:srgbClr val="2DD4BF"/>
                </a:solidFill>
                <a:latin typeface="Aptos"/>
              </a:rPr>
              <a:t>A chain assumes a mostly fixed sequence. A graph lets the next step depend on state.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51C"/>
        </a:solidFill>
        <a:effectLst/>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B6577"/>
                </a:solidFill>
                <a:latin typeface="Calibri" pitchFamily="34" charset="0"/>
                <a:ea typeface="Calibri" pitchFamily="34" charset="-122"/>
                <a:cs typeface="Calibri" pitchFamily="34" charset="-120"/>
              </a:rPr>
              <a:t>LangGraph — SE Lab</a:t>
            </a:r>
            <a:endParaRPr lang="en-US" sz="900" dirty="0"/>
          </a:p>
        </p:txBody>
      </p:sp>
      <p:sp>
        <p:nvSpPr>
          <p:cNvPr id="3" name="Text 1"/>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548640" y="164592"/>
            <a:ext cx="11094415" cy="274320"/>
          </a:xfrm>
          <a:prstGeom prst="rect">
            <a:avLst/>
          </a:prstGeom>
          <a:noFill/>
          <a:ln/>
        </p:spPr>
        <p:txBody>
          <a:bodyPr wrap="square" rtlCol="0" anchor="ctr"/>
          <a:lstStyle/>
          <a:p>
            <a:pPr marL="0" indent="0">
              <a:buNone/>
            </a:pPr>
            <a:r>
              <a:rPr lang="en-US" sz="1100" b="1" kern="0" spc="200" dirty="0">
                <a:solidFill>
                  <a:srgbClr val="2DD4BF"/>
                </a:solidFill>
                <a:latin typeface="Calibri" pitchFamily="34" charset="0"/>
                <a:ea typeface="Calibri" pitchFamily="34" charset="-122"/>
                <a:cs typeface="Calibri" pitchFamily="34" charset="-120"/>
              </a:rPr>
              <a:t>DEFINITION</a:t>
            </a:r>
            <a:endParaRPr lang="en-US" sz="1100" dirty="0"/>
          </a:p>
        </p:txBody>
      </p:sp>
      <p:sp>
        <p:nvSpPr>
          <p:cNvPr id="5" name="Text 3"/>
          <p:cNvSpPr/>
          <p:nvPr/>
        </p:nvSpPr>
        <p:spPr>
          <a:xfrm>
            <a:off x="548640" y="384048"/>
            <a:ext cx="11094415" cy="685800"/>
          </a:xfrm>
          <a:prstGeom prst="rect">
            <a:avLst/>
          </a:prstGeom>
          <a:noFill/>
          <a:ln/>
        </p:spPr>
        <p:txBody>
          <a:bodyPr wrap="square" rtlCol="0" anchor="ctr"/>
          <a:lstStyle/>
          <a:p>
            <a:pPr marL="0" indent="0" algn="l">
              <a:buNone/>
            </a:pPr>
            <a:r>
              <a:rPr lang="en-US" sz="3000" b="1" dirty="0">
                <a:solidFill>
                  <a:srgbClr val="F2F5F8"/>
                </a:solidFill>
                <a:latin typeface="Calibri" pitchFamily="34" charset="0"/>
                <a:ea typeface="Calibri" pitchFamily="34" charset="-122"/>
                <a:cs typeface="Calibri" pitchFamily="34" charset="-120"/>
              </a:rPr>
              <a:t>What Is LangGraph?</a:t>
            </a:r>
            <a:endParaRPr lang="en-US" sz="3000" dirty="0"/>
          </a:p>
        </p:txBody>
      </p:sp>
      <p:sp>
        <p:nvSpPr>
          <p:cNvPr id="6" name="Shape 4"/>
          <p:cNvSpPr/>
          <p:nvPr/>
        </p:nvSpPr>
        <p:spPr>
          <a:xfrm>
            <a:off x="548640" y="1234440"/>
            <a:ext cx="11094415" cy="914400"/>
          </a:xfrm>
          <a:prstGeom prst="roundRect">
            <a:avLst>
              <a:gd name="adj" fmla="val 8000"/>
            </a:avLst>
          </a:prstGeom>
          <a:solidFill>
            <a:srgbClr val="1B212C"/>
          </a:solidFill>
          <a:ln w="15875">
            <a:solidFill>
              <a:srgbClr val="2DD4BF"/>
            </a:solidFill>
            <a:prstDash val="solid"/>
          </a:ln>
        </p:spPr>
      </p:sp>
      <p:sp>
        <p:nvSpPr>
          <p:cNvPr id="7" name="Text 5"/>
          <p:cNvSpPr/>
          <p:nvPr/>
        </p:nvSpPr>
        <p:spPr>
          <a:xfrm>
            <a:off x="868680" y="1234440"/>
            <a:ext cx="10454335" cy="914400"/>
          </a:xfrm>
          <a:prstGeom prst="rect">
            <a:avLst/>
          </a:prstGeom>
          <a:noFill/>
          <a:ln/>
        </p:spPr>
        <p:txBody>
          <a:bodyPr wrap="square" rtlCol="0" anchor="ctr"/>
          <a:lstStyle/>
          <a:p>
            <a:pPr marL="0" indent="0" algn="l">
              <a:buNone/>
            </a:pPr>
            <a:r>
              <a:rPr lang="en-US" sz="1800" i="1" dirty="0">
                <a:solidFill>
                  <a:srgbClr val="F2F5F8"/>
                </a:solidFill>
                <a:latin typeface="Calibri" pitchFamily="34" charset="0"/>
                <a:ea typeface="Calibri" pitchFamily="34" charset="-122"/>
                <a:cs typeface="Calibri" pitchFamily="34" charset="-120"/>
              </a:rPr>
              <a:t>LangGraph is a framework for building stateful, multi-step LLM applications using graph-based workflows.</a:t>
            </a:r>
            <a:endParaRPr lang="en-US" sz="1800" dirty="0"/>
          </a:p>
        </p:txBody>
      </p:sp>
      <p:sp>
        <p:nvSpPr>
          <p:cNvPr id="8" name="Shape 6"/>
          <p:cNvSpPr/>
          <p:nvPr/>
        </p:nvSpPr>
        <p:spPr>
          <a:xfrm>
            <a:off x="5181448" y="2514600"/>
            <a:ext cx="1828800" cy="548640"/>
          </a:xfrm>
          <a:prstGeom prst="roundRect">
            <a:avLst>
              <a:gd name="adj" fmla="val 13333"/>
            </a:avLst>
          </a:prstGeom>
          <a:solidFill>
            <a:srgbClr val="1B4B47"/>
          </a:solidFill>
          <a:ln w="15875">
            <a:solidFill>
              <a:srgbClr val="2DD4BF"/>
            </a:solidFill>
            <a:prstDash val="solid"/>
          </a:ln>
          <a:effectLst>
            <a:outerShdw blurRad="76200" dist="25400" dir="5400000" algn="bl" rotWithShape="0">
              <a:srgbClr val="000000">
                <a:alpha val="35000"/>
              </a:srgbClr>
            </a:outerShdw>
          </a:effectLst>
        </p:spPr>
      </p:sp>
      <p:sp>
        <p:nvSpPr>
          <p:cNvPr id="9" name="Text 7"/>
          <p:cNvSpPr/>
          <p:nvPr/>
        </p:nvSpPr>
        <p:spPr>
          <a:xfrm>
            <a:off x="5181448" y="2514600"/>
            <a:ext cx="1828800" cy="548640"/>
          </a:xfrm>
          <a:prstGeom prst="rect">
            <a:avLst/>
          </a:prstGeom>
          <a:noFill/>
          <a:ln/>
        </p:spPr>
        <p:txBody>
          <a:bodyPr wrap="square" rtlCol="0" anchor="ctr"/>
          <a:lstStyle/>
          <a:p>
            <a:pPr marL="0" indent="0" algn="ctr">
              <a:buNone/>
            </a:pPr>
            <a:r>
              <a:rPr lang="en-US" sz="1500" b="1" dirty="0">
                <a:solidFill>
                  <a:srgbClr val="2DD4BF"/>
                </a:solidFill>
                <a:latin typeface="Calibri" pitchFamily="34" charset="0"/>
                <a:ea typeface="Calibri" pitchFamily="34" charset="-122"/>
                <a:cs typeface="Calibri" pitchFamily="34" charset="-120"/>
              </a:rPr>
              <a:t>GRAPH</a:t>
            </a:r>
            <a:endParaRPr lang="en-US" sz="1500" dirty="0"/>
          </a:p>
        </p:txBody>
      </p:sp>
      <p:sp>
        <p:nvSpPr>
          <p:cNvPr id="10" name="Shape 8"/>
          <p:cNvSpPr/>
          <p:nvPr/>
        </p:nvSpPr>
        <p:spPr>
          <a:xfrm>
            <a:off x="6095848" y="3063240"/>
            <a:ext cx="0" cy="320040"/>
          </a:xfrm>
          <a:prstGeom prst="line">
            <a:avLst/>
          </a:prstGeom>
          <a:noFill/>
          <a:ln w="19050">
            <a:solidFill>
              <a:srgbClr val="8A96A8"/>
            </a:solidFill>
            <a:prstDash val="solid"/>
            <a:tailEnd type="triangle"/>
          </a:ln>
        </p:spPr>
      </p:sp>
      <p:sp>
        <p:nvSpPr>
          <p:cNvPr id="11" name="Shape 9"/>
          <p:cNvSpPr/>
          <p:nvPr/>
        </p:nvSpPr>
        <p:spPr>
          <a:xfrm>
            <a:off x="2331720" y="3383280"/>
            <a:ext cx="7528255" cy="0"/>
          </a:xfrm>
          <a:prstGeom prst="line">
            <a:avLst/>
          </a:prstGeom>
          <a:noFill/>
          <a:ln w="19050">
            <a:solidFill>
              <a:srgbClr val="8A96A8"/>
            </a:solidFill>
            <a:prstDash val="solid"/>
          </a:ln>
        </p:spPr>
      </p:sp>
      <p:sp>
        <p:nvSpPr>
          <p:cNvPr id="12" name="Shape 10"/>
          <p:cNvSpPr/>
          <p:nvPr/>
        </p:nvSpPr>
        <p:spPr>
          <a:xfrm>
            <a:off x="2331720" y="3383280"/>
            <a:ext cx="0" cy="320040"/>
          </a:xfrm>
          <a:prstGeom prst="line">
            <a:avLst/>
          </a:prstGeom>
          <a:noFill/>
          <a:ln w="19050">
            <a:solidFill>
              <a:srgbClr val="8A96A8"/>
            </a:solidFill>
            <a:prstDash val="solid"/>
            <a:tailEnd type="triangle"/>
          </a:ln>
        </p:spPr>
      </p:sp>
      <p:sp>
        <p:nvSpPr>
          <p:cNvPr id="13" name="Shape 11"/>
          <p:cNvSpPr/>
          <p:nvPr/>
        </p:nvSpPr>
        <p:spPr>
          <a:xfrm>
            <a:off x="6095848" y="3383280"/>
            <a:ext cx="0" cy="320040"/>
          </a:xfrm>
          <a:prstGeom prst="line">
            <a:avLst/>
          </a:prstGeom>
          <a:noFill/>
          <a:ln w="19050">
            <a:solidFill>
              <a:srgbClr val="8A96A8"/>
            </a:solidFill>
            <a:prstDash val="solid"/>
            <a:tailEnd type="triangle"/>
          </a:ln>
        </p:spPr>
      </p:sp>
      <p:sp>
        <p:nvSpPr>
          <p:cNvPr id="14" name="Shape 12"/>
          <p:cNvSpPr/>
          <p:nvPr/>
        </p:nvSpPr>
        <p:spPr>
          <a:xfrm>
            <a:off x="9859975" y="3383280"/>
            <a:ext cx="0" cy="320040"/>
          </a:xfrm>
          <a:prstGeom prst="line">
            <a:avLst/>
          </a:prstGeom>
          <a:noFill/>
          <a:ln w="19050">
            <a:solidFill>
              <a:srgbClr val="8A96A8"/>
            </a:solidFill>
            <a:prstDash val="solid"/>
            <a:tailEnd type="triangle"/>
          </a:ln>
        </p:spPr>
      </p:sp>
      <p:sp>
        <p:nvSpPr>
          <p:cNvPr id="15" name="Shape 13"/>
          <p:cNvSpPr/>
          <p:nvPr/>
        </p:nvSpPr>
        <p:spPr>
          <a:xfrm>
            <a:off x="914400" y="3703320"/>
            <a:ext cx="2834640" cy="960120"/>
          </a:xfrm>
          <a:prstGeom prst="roundRect">
            <a:avLst>
              <a:gd name="adj" fmla="val 7619"/>
            </a:avLst>
          </a:prstGeom>
          <a:solidFill>
            <a:srgbClr val="1B212C"/>
          </a:solidFill>
          <a:ln w="15875">
            <a:solidFill>
              <a:srgbClr val="2DD4BF"/>
            </a:solidFill>
            <a:prstDash val="solid"/>
          </a:ln>
          <a:effectLst>
            <a:outerShdw blurRad="76200" dist="25400" dir="5400000" algn="bl" rotWithShape="0">
              <a:srgbClr val="000000">
                <a:alpha val="35000"/>
              </a:srgbClr>
            </a:outerShdw>
          </a:effectLst>
        </p:spPr>
      </p:sp>
      <p:sp>
        <p:nvSpPr>
          <p:cNvPr id="16" name="Text 14"/>
          <p:cNvSpPr/>
          <p:nvPr/>
        </p:nvSpPr>
        <p:spPr>
          <a:xfrm>
            <a:off x="914400" y="3703320"/>
            <a:ext cx="2834640" cy="960120"/>
          </a:xfrm>
          <a:prstGeom prst="rect">
            <a:avLst/>
          </a:prstGeom>
          <a:noFill/>
          <a:ln/>
        </p:spPr>
        <p:txBody>
          <a:bodyPr wrap="square" rtlCol="0" anchor="ctr"/>
          <a:lstStyle/>
          <a:p>
            <a:pPr marL="0" indent="0" algn="ctr">
              <a:buNone/>
            </a:pPr>
            <a:r>
              <a:rPr lang="en-US" sz="1400" b="1" dirty="0">
                <a:solidFill>
                  <a:srgbClr val="F2F5F8"/>
                </a:solidFill>
                <a:latin typeface="Calibri" pitchFamily="34" charset="0"/>
                <a:ea typeface="Calibri" pitchFamily="34" charset="-122"/>
                <a:cs typeface="Calibri" pitchFamily="34" charset="-120"/>
              </a:rPr>
              <a:t>STATE</a:t>
            </a:r>
            <a:endParaRPr lang="en-US" sz="1400" dirty="0"/>
          </a:p>
        </p:txBody>
      </p:sp>
      <p:sp>
        <p:nvSpPr>
          <p:cNvPr id="17" name="Text 15"/>
          <p:cNvSpPr/>
          <p:nvPr/>
        </p:nvSpPr>
        <p:spPr>
          <a:xfrm>
            <a:off x="914400" y="4407408"/>
            <a:ext cx="2834640" cy="237744"/>
          </a:xfrm>
          <a:prstGeom prst="rect">
            <a:avLst/>
          </a:prstGeom>
          <a:noFill/>
          <a:ln/>
        </p:spPr>
        <p:txBody>
          <a:bodyPr wrap="square" rtlCol="0" anchor="t"/>
          <a:lstStyle/>
          <a:p>
            <a:pPr marL="0" indent="0" algn="ctr">
              <a:buNone/>
            </a:pPr>
            <a:r>
              <a:rPr lang="en-US" sz="900" dirty="0">
                <a:solidFill>
                  <a:srgbClr val="8A96A8"/>
                </a:solidFill>
                <a:latin typeface="Calibri" pitchFamily="34" charset="0"/>
                <a:ea typeface="Calibri" pitchFamily="34" charset="-122"/>
                <a:cs typeface="Calibri" pitchFamily="34" charset="-120"/>
              </a:rPr>
              <a:t>carries information</a:t>
            </a:r>
            <a:endParaRPr lang="en-US" sz="900" dirty="0"/>
          </a:p>
        </p:txBody>
      </p:sp>
      <p:sp>
        <p:nvSpPr>
          <p:cNvPr id="18" name="Shape 16"/>
          <p:cNvSpPr/>
          <p:nvPr/>
        </p:nvSpPr>
        <p:spPr>
          <a:xfrm>
            <a:off x="4678528" y="3703320"/>
            <a:ext cx="2834640" cy="960120"/>
          </a:xfrm>
          <a:prstGeom prst="roundRect">
            <a:avLst>
              <a:gd name="adj" fmla="val 7619"/>
            </a:avLst>
          </a:prstGeom>
          <a:solidFill>
            <a:srgbClr val="1B212C"/>
          </a:solidFill>
          <a:ln w="15875">
            <a:solidFill>
              <a:srgbClr val="2DD4BF"/>
            </a:solidFill>
            <a:prstDash val="solid"/>
          </a:ln>
          <a:effectLst>
            <a:outerShdw blurRad="76200" dist="25400" dir="5400000" algn="bl" rotWithShape="0">
              <a:srgbClr val="000000">
                <a:alpha val="35000"/>
              </a:srgbClr>
            </a:outerShdw>
          </a:effectLst>
        </p:spPr>
      </p:sp>
      <p:sp>
        <p:nvSpPr>
          <p:cNvPr id="19" name="Text 17"/>
          <p:cNvSpPr/>
          <p:nvPr/>
        </p:nvSpPr>
        <p:spPr>
          <a:xfrm>
            <a:off x="4678528" y="3703320"/>
            <a:ext cx="2834640" cy="960120"/>
          </a:xfrm>
          <a:prstGeom prst="rect">
            <a:avLst/>
          </a:prstGeom>
          <a:noFill/>
          <a:ln/>
        </p:spPr>
        <p:txBody>
          <a:bodyPr wrap="square" rtlCol="0" anchor="ctr"/>
          <a:lstStyle/>
          <a:p>
            <a:pPr marL="0" indent="0" algn="ctr">
              <a:buNone/>
            </a:pPr>
            <a:r>
              <a:rPr lang="en-US" sz="1400" b="1" dirty="0">
                <a:solidFill>
                  <a:srgbClr val="F2F5F8"/>
                </a:solidFill>
                <a:latin typeface="Calibri" pitchFamily="34" charset="0"/>
                <a:ea typeface="Calibri" pitchFamily="34" charset="-122"/>
                <a:cs typeface="Calibri" pitchFamily="34" charset="-120"/>
              </a:rPr>
              <a:t>NODES</a:t>
            </a:r>
            <a:endParaRPr lang="en-US" sz="1400" dirty="0"/>
          </a:p>
        </p:txBody>
      </p:sp>
      <p:sp>
        <p:nvSpPr>
          <p:cNvPr id="20" name="Text 18"/>
          <p:cNvSpPr/>
          <p:nvPr/>
        </p:nvSpPr>
        <p:spPr>
          <a:xfrm>
            <a:off x="4678528" y="4407408"/>
            <a:ext cx="2834640" cy="237744"/>
          </a:xfrm>
          <a:prstGeom prst="rect">
            <a:avLst/>
          </a:prstGeom>
          <a:noFill/>
          <a:ln/>
        </p:spPr>
        <p:txBody>
          <a:bodyPr wrap="square" rtlCol="0" anchor="t"/>
          <a:lstStyle/>
          <a:p>
            <a:pPr marL="0" indent="0" algn="ctr">
              <a:buNone/>
            </a:pPr>
            <a:r>
              <a:rPr lang="en-US" sz="900" dirty="0">
                <a:solidFill>
                  <a:srgbClr val="8A96A8"/>
                </a:solidFill>
                <a:latin typeface="Calibri" pitchFamily="34" charset="0"/>
                <a:ea typeface="Calibri" pitchFamily="34" charset="-122"/>
                <a:cs typeface="Calibri" pitchFamily="34" charset="-120"/>
              </a:rPr>
              <a:t>perform work</a:t>
            </a:r>
            <a:endParaRPr lang="en-US" sz="900" dirty="0"/>
          </a:p>
        </p:txBody>
      </p:sp>
      <p:sp>
        <p:nvSpPr>
          <p:cNvPr id="21" name="Shape 19"/>
          <p:cNvSpPr/>
          <p:nvPr/>
        </p:nvSpPr>
        <p:spPr>
          <a:xfrm>
            <a:off x="8442655" y="3703320"/>
            <a:ext cx="2834640" cy="960120"/>
          </a:xfrm>
          <a:prstGeom prst="roundRect">
            <a:avLst>
              <a:gd name="adj" fmla="val 7619"/>
            </a:avLst>
          </a:prstGeom>
          <a:solidFill>
            <a:srgbClr val="1B212C"/>
          </a:solidFill>
          <a:ln w="15875">
            <a:solidFill>
              <a:srgbClr val="2DD4BF"/>
            </a:solidFill>
            <a:prstDash val="solid"/>
          </a:ln>
          <a:effectLst>
            <a:outerShdw blurRad="76200" dist="25400" dir="5400000" algn="bl" rotWithShape="0">
              <a:srgbClr val="000000">
                <a:alpha val="35000"/>
              </a:srgbClr>
            </a:outerShdw>
          </a:effectLst>
        </p:spPr>
      </p:sp>
      <p:sp>
        <p:nvSpPr>
          <p:cNvPr id="22" name="Text 20"/>
          <p:cNvSpPr/>
          <p:nvPr/>
        </p:nvSpPr>
        <p:spPr>
          <a:xfrm>
            <a:off x="8442655" y="3703320"/>
            <a:ext cx="2834640" cy="960120"/>
          </a:xfrm>
          <a:prstGeom prst="rect">
            <a:avLst/>
          </a:prstGeom>
          <a:noFill/>
          <a:ln/>
        </p:spPr>
        <p:txBody>
          <a:bodyPr wrap="square" rtlCol="0" anchor="ctr"/>
          <a:lstStyle/>
          <a:p>
            <a:pPr marL="0" indent="0" algn="ctr">
              <a:buNone/>
            </a:pPr>
            <a:r>
              <a:rPr lang="en-US" sz="1400" b="1" dirty="0">
                <a:solidFill>
                  <a:srgbClr val="F2F5F8"/>
                </a:solidFill>
                <a:latin typeface="Calibri" pitchFamily="34" charset="0"/>
                <a:ea typeface="Calibri" pitchFamily="34" charset="-122"/>
                <a:cs typeface="Calibri" pitchFamily="34" charset="-120"/>
              </a:rPr>
              <a:t>EDGES</a:t>
            </a:r>
            <a:endParaRPr lang="en-US" sz="1400" dirty="0"/>
          </a:p>
        </p:txBody>
      </p:sp>
      <p:sp>
        <p:nvSpPr>
          <p:cNvPr id="23" name="Text 21"/>
          <p:cNvSpPr/>
          <p:nvPr/>
        </p:nvSpPr>
        <p:spPr>
          <a:xfrm>
            <a:off x="8442655" y="4407408"/>
            <a:ext cx="2834640" cy="237744"/>
          </a:xfrm>
          <a:prstGeom prst="rect">
            <a:avLst/>
          </a:prstGeom>
          <a:noFill/>
          <a:ln/>
        </p:spPr>
        <p:txBody>
          <a:bodyPr wrap="square" rtlCol="0" anchor="t"/>
          <a:lstStyle/>
          <a:p>
            <a:pPr marL="0" indent="0" algn="ctr">
              <a:buNone/>
            </a:pPr>
            <a:r>
              <a:rPr lang="en-US" sz="900" dirty="0">
                <a:solidFill>
                  <a:srgbClr val="8A96A8"/>
                </a:solidFill>
                <a:latin typeface="Calibri" pitchFamily="34" charset="0"/>
                <a:ea typeface="Calibri" pitchFamily="34" charset="-122"/>
                <a:cs typeface="Calibri" pitchFamily="34" charset="-120"/>
              </a:rPr>
              <a:t>control flow</a:t>
            </a:r>
            <a:endParaRPr lang="en-US" sz="900" dirty="0"/>
          </a:p>
        </p:txBody>
      </p:sp>
      <p:sp>
        <p:nvSpPr>
          <p:cNvPr id="24" name="Text 22"/>
          <p:cNvSpPr/>
          <p:nvPr/>
        </p:nvSpPr>
        <p:spPr>
          <a:xfrm>
            <a:off x="548640" y="5074920"/>
            <a:ext cx="11094415" cy="502920"/>
          </a:xfrm>
          <a:prstGeom prst="rect">
            <a:avLst/>
          </a:prstGeom>
          <a:noFill/>
          <a:ln/>
        </p:spPr>
        <p:txBody>
          <a:bodyPr wrap="square" rtlCol="0" anchor="t"/>
          <a:lstStyle/>
          <a:p>
            <a:pPr marL="0" indent="0" algn="ctr">
              <a:buNone/>
            </a:pPr>
            <a:r>
              <a:rPr lang="en-US" sz="1300" dirty="0">
                <a:solidFill>
                  <a:srgbClr val="8A96A8"/>
                </a:solidFill>
                <a:latin typeface="Calibri" pitchFamily="34" charset="0"/>
                <a:ea typeface="Calibri" pitchFamily="34" charset="-122"/>
                <a:cs typeface="Calibri" pitchFamily="34" charset="-120"/>
              </a:rPr>
              <a:t>LangGraph can use LangChain components — but LangGraph focuses on orchestrating the workflow around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51C"/>
        </a:solidFill>
        <a:effectLst/>
      </p:bgPr>
    </p:bg>
    <p:spTree>
      <p:nvGrpSpPr>
        <p:cNvPr id="1" name=""/>
        <p:cNvGrpSpPr/>
        <p:nvPr/>
      </p:nvGrpSpPr>
      <p:grpSpPr>
        <a:xfrm>
          <a:off x="0" y="0"/>
          <a:ext cx="0" cy="0"/>
          <a:chOff x="0" y="0"/>
          <a:chExt cx="0" cy="0"/>
        </a:xfrm>
      </p:grpSpPr>
      <p:sp>
        <p:nvSpPr>
          <p:cNvPr id="4" name="TextBox 3"/>
          <p:cNvSpPr txBox="1"/>
          <p:nvPr/>
        </p:nvSpPr>
        <p:spPr>
          <a:xfrm>
            <a:off x="548640" y="164592"/>
            <a:ext cx="11064240" cy="274320"/>
          </a:xfrm>
          <a:prstGeom prst="rect">
            <a:avLst/>
          </a:prstGeom>
          <a:noFill/>
        </p:spPr>
        <p:txBody>
          <a:bodyPr wrap="none" anchor="ctr">
            <a:spAutoFit/>
          </a:bodyPr>
          <a:lstStyle/>
          <a:p>
            <a:pPr algn="l"/>
            <a:r>
              <a:rPr sz="1100" b="1">
                <a:solidFill>
                  <a:srgbClr val="2DD4BF"/>
                </a:solidFill>
                <a:latin typeface="Aptos"/>
              </a:rPr>
              <a:t>POSITIONING</a:t>
            </a:r>
          </a:p>
        </p:txBody>
      </p:sp>
      <p:sp>
        <p:nvSpPr>
          <p:cNvPr id="5" name="TextBox 4"/>
          <p:cNvSpPr txBox="1"/>
          <p:nvPr/>
        </p:nvSpPr>
        <p:spPr>
          <a:xfrm>
            <a:off x="548640" y="384048"/>
            <a:ext cx="11064240" cy="566928"/>
          </a:xfrm>
          <a:prstGeom prst="rect">
            <a:avLst/>
          </a:prstGeom>
          <a:noFill/>
        </p:spPr>
        <p:txBody>
          <a:bodyPr wrap="none" anchor="ctr">
            <a:spAutoFit/>
          </a:bodyPr>
          <a:lstStyle/>
          <a:p>
            <a:pPr algn="l"/>
            <a:r>
              <a:rPr sz="2700" b="1">
                <a:solidFill>
                  <a:srgbClr val="F2F5F8"/>
                </a:solidFill>
                <a:latin typeface="Aptos"/>
              </a:rPr>
              <a:t>LangChain vs LangGraph: which one should you use?</a:t>
            </a:r>
          </a:p>
        </p:txBody>
      </p:sp>
      <p:sp>
        <p:nvSpPr>
          <p:cNvPr id="6" name="Rounded Rectangle 5"/>
          <p:cNvSpPr/>
          <p:nvPr/>
        </p:nvSpPr>
        <p:spPr>
          <a:xfrm>
            <a:off x="594360" y="1234440"/>
            <a:ext cx="5257800" cy="4434840"/>
          </a:xfrm>
          <a:prstGeom prst="roundRect">
            <a:avLst/>
          </a:prstGeom>
          <a:solidFill>
            <a:srgbClr val="191F28"/>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080760" y="1234440"/>
            <a:ext cx="5212080" cy="4434840"/>
          </a:xfrm>
          <a:prstGeom prst="roundRect">
            <a:avLst/>
          </a:prstGeom>
          <a:solidFill>
            <a:srgbClr val="191F28"/>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481328"/>
            <a:ext cx="2011680" cy="320040"/>
          </a:xfrm>
          <a:prstGeom prst="rect">
            <a:avLst/>
          </a:prstGeom>
          <a:noFill/>
        </p:spPr>
        <p:txBody>
          <a:bodyPr wrap="none" anchor="ctr">
            <a:spAutoFit/>
          </a:bodyPr>
          <a:lstStyle/>
          <a:p>
            <a:pPr algn="l"/>
            <a:r>
              <a:rPr sz="1700" b="1">
                <a:solidFill>
                  <a:srgbClr val="F2F5F8"/>
                </a:solidFill>
                <a:latin typeface="Aptos"/>
              </a:rPr>
              <a:t>LANGCHAIN</a:t>
            </a:r>
          </a:p>
        </p:txBody>
      </p:sp>
      <p:sp>
        <p:nvSpPr>
          <p:cNvPr id="9" name="TextBox 8"/>
          <p:cNvSpPr txBox="1"/>
          <p:nvPr/>
        </p:nvSpPr>
        <p:spPr>
          <a:xfrm>
            <a:off x="868680" y="1856231"/>
            <a:ext cx="3566160" cy="320040"/>
          </a:xfrm>
          <a:prstGeom prst="rect">
            <a:avLst/>
          </a:prstGeom>
          <a:noFill/>
        </p:spPr>
        <p:txBody>
          <a:bodyPr wrap="none" anchor="ctr">
            <a:spAutoFit/>
          </a:bodyPr>
          <a:lstStyle/>
          <a:p>
            <a:pPr algn="l"/>
            <a:r>
              <a:rPr sz="1300" b="1">
                <a:solidFill>
                  <a:srgbClr val="2DD4BF"/>
                </a:solidFill>
                <a:latin typeface="Aptos"/>
              </a:rPr>
              <a:t>Build the pieces</a:t>
            </a:r>
          </a:p>
        </p:txBody>
      </p:sp>
      <p:sp>
        <p:nvSpPr>
          <p:cNvPr id="10" name="TextBox 9"/>
          <p:cNvSpPr txBox="1"/>
          <p:nvPr/>
        </p:nvSpPr>
        <p:spPr>
          <a:xfrm>
            <a:off x="868680" y="2240280"/>
            <a:ext cx="4480560" cy="566928"/>
          </a:xfrm>
          <a:prstGeom prst="rect">
            <a:avLst/>
          </a:prstGeom>
          <a:noFill/>
        </p:spPr>
        <p:txBody>
          <a:bodyPr wrap="none" anchor="ctr">
            <a:spAutoFit/>
          </a:bodyPr>
          <a:lstStyle/>
          <a:p>
            <a:pPr algn="l"/>
            <a:r>
              <a:rPr sz="1150" b="0">
                <a:solidFill>
                  <a:srgbClr val="8A96A8"/>
                </a:solidFill>
                <a:latin typeface="Aptos"/>
              </a:rPr>
              <a:t>Best for relatively linear LLM pipelines and reusable components.</a:t>
            </a:r>
          </a:p>
        </p:txBody>
      </p:sp>
      <p:sp>
        <p:nvSpPr>
          <p:cNvPr id="11" name="TextBox 10"/>
          <p:cNvSpPr txBox="1"/>
          <p:nvPr/>
        </p:nvSpPr>
        <p:spPr>
          <a:xfrm>
            <a:off x="868680" y="2926080"/>
            <a:ext cx="914400" cy="274320"/>
          </a:xfrm>
          <a:prstGeom prst="rect">
            <a:avLst/>
          </a:prstGeom>
          <a:noFill/>
        </p:spPr>
        <p:txBody>
          <a:bodyPr wrap="none" anchor="ctr">
            <a:spAutoFit/>
          </a:bodyPr>
          <a:lstStyle/>
          <a:p>
            <a:pPr algn="l"/>
            <a:r>
              <a:rPr sz="1000" b="1">
                <a:solidFill>
                  <a:srgbClr val="8A96A8"/>
                </a:solidFill>
                <a:latin typeface="Aptos"/>
              </a:rPr>
              <a:t>Good fit</a:t>
            </a:r>
          </a:p>
        </p:txBody>
      </p:sp>
      <p:sp>
        <p:nvSpPr>
          <p:cNvPr id="12" name="TextBox 11"/>
          <p:cNvSpPr txBox="1"/>
          <p:nvPr/>
        </p:nvSpPr>
        <p:spPr>
          <a:xfrm>
            <a:off x="868680" y="3246120"/>
            <a:ext cx="1417320" cy="228600"/>
          </a:xfrm>
          <a:prstGeom prst="rect">
            <a:avLst/>
          </a:prstGeom>
          <a:noFill/>
        </p:spPr>
        <p:txBody>
          <a:bodyPr wrap="none" anchor="ctr">
            <a:spAutoFit/>
          </a:bodyPr>
          <a:lstStyle/>
          <a:p>
            <a:pPr algn="l"/>
            <a:r>
              <a:rPr sz="1050" b="1">
                <a:solidFill>
                  <a:srgbClr val="F2F5F8"/>
                </a:solidFill>
                <a:latin typeface="Aptos"/>
              </a:rPr>
              <a:t>Summarization</a:t>
            </a:r>
          </a:p>
        </p:txBody>
      </p:sp>
      <p:sp>
        <p:nvSpPr>
          <p:cNvPr id="13" name="TextBox 12"/>
          <p:cNvSpPr txBox="1"/>
          <p:nvPr/>
        </p:nvSpPr>
        <p:spPr>
          <a:xfrm>
            <a:off x="2240280" y="3246120"/>
            <a:ext cx="3154680" cy="228600"/>
          </a:xfrm>
          <a:prstGeom prst="rect">
            <a:avLst/>
          </a:prstGeom>
          <a:noFill/>
        </p:spPr>
        <p:txBody>
          <a:bodyPr wrap="none" anchor="ctr">
            <a:spAutoFit/>
          </a:bodyPr>
          <a:lstStyle/>
          <a:p>
            <a:pPr algn="l"/>
            <a:r>
              <a:rPr sz="969" b="0">
                <a:solidFill>
                  <a:srgbClr val="8A96A8"/>
                </a:solidFill>
                <a:latin typeface="Aptos"/>
              </a:rPr>
              <a:t>Document → LLM → summary</a:t>
            </a:r>
          </a:p>
        </p:txBody>
      </p:sp>
      <p:sp>
        <p:nvSpPr>
          <p:cNvPr id="14" name="TextBox 13"/>
          <p:cNvSpPr txBox="1"/>
          <p:nvPr/>
        </p:nvSpPr>
        <p:spPr>
          <a:xfrm>
            <a:off x="868680" y="3758183"/>
            <a:ext cx="1417320" cy="228600"/>
          </a:xfrm>
          <a:prstGeom prst="rect">
            <a:avLst/>
          </a:prstGeom>
          <a:noFill/>
        </p:spPr>
        <p:txBody>
          <a:bodyPr wrap="none" anchor="ctr">
            <a:spAutoFit/>
          </a:bodyPr>
          <a:lstStyle/>
          <a:p>
            <a:pPr algn="l"/>
            <a:r>
              <a:rPr sz="1050" b="1">
                <a:solidFill>
                  <a:srgbClr val="F2F5F8"/>
                </a:solidFill>
                <a:latin typeface="Aptos"/>
              </a:rPr>
              <a:t>RAG pipeline</a:t>
            </a:r>
          </a:p>
        </p:txBody>
      </p:sp>
      <p:sp>
        <p:nvSpPr>
          <p:cNvPr id="15" name="TextBox 14"/>
          <p:cNvSpPr txBox="1"/>
          <p:nvPr/>
        </p:nvSpPr>
        <p:spPr>
          <a:xfrm>
            <a:off x="2240280" y="3758183"/>
            <a:ext cx="3154680" cy="228600"/>
          </a:xfrm>
          <a:prstGeom prst="rect">
            <a:avLst/>
          </a:prstGeom>
          <a:noFill/>
        </p:spPr>
        <p:txBody>
          <a:bodyPr wrap="none" anchor="ctr">
            <a:spAutoFit/>
          </a:bodyPr>
          <a:lstStyle/>
          <a:p>
            <a:pPr algn="l"/>
            <a:r>
              <a:rPr sz="969" b="0">
                <a:solidFill>
                  <a:srgbClr val="8A96A8"/>
                </a:solidFill>
                <a:latin typeface="Aptos"/>
              </a:rPr>
              <a:t>Retrieve → prompt → answer</a:t>
            </a:r>
          </a:p>
        </p:txBody>
      </p:sp>
      <p:sp>
        <p:nvSpPr>
          <p:cNvPr id="16" name="TextBox 15"/>
          <p:cNvSpPr txBox="1"/>
          <p:nvPr/>
        </p:nvSpPr>
        <p:spPr>
          <a:xfrm>
            <a:off x="868680" y="4270248"/>
            <a:ext cx="1417320" cy="228600"/>
          </a:xfrm>
          <a:prstGeom prst="rect">
            <a:avLst/>
          </a:prstGeom>
          <a:noFill/>
        </p:spPr>
        <p:txBody>
          <a:bodyPr wrap="none" anchor="ctr">
            <a:spAutoFit/>
          </a:bodyPr>
          <a:lstStyle/>
          <a:p>
            <a:pPr algn="l"/>
            <a:r>
              <a:rPr sz="1050" b="1">
                <a:solidFill>
                  <a:srgbClr val="F2F5F8"/>
                </a:solidFill>
                <a:latin typeface="Aptos"/>
              </a:rPr>
              <a:t>Structured extraction</a:t>
            </a:r>
          </a:p>
        </p:txBody>
      </p:sp>
      <p:sp>
        <p:nvSpPr>
          <p:cNvPr id="17" name="TextBox 16"/>
          <p:cNvSpPr txBox="1"/>
          <p:nvPr/>
        </p:nvSpPr>
        <p:spPr>
          <a:xfrm>
            <a:off x="2240280" y="4270248"/>
            <a:ext cx="3154680" cy="228600"/>
          </a:xfrm>
          <a:prstGeom prst="rect">
            <a:avLst/>
          </a:prstGeom>
          <a:noFill/>
        </p:spPr>
        <p:txBody>
          <a:bodyPr wrap="none" anchor="ctr">
            <a:spAutoFit/>
          </a:bodyPr>
          <a:lstStyle/>
          <a:p>
            <a:pPr algn="l"/>
            <a:r>
              <a:rPr sz="969" b="0">
                <a:solidFill>
                  <a:srgbClr val="8A96A8"/>
                </a:solidFill>
                <a:latin typeface="Aptos"/>
              </a:rPr>
              <a:t>Text → model → JSON</a:t>
            </a:r>
          </a:p>
        </p:txBody>
      </p:sp>
      <p:sp>
        <p:nvSpPr>
          <p:cNvPr id="19" name="TextBox 18"/>
          <p:cNvSpPr txBox="1"/>
          <p:nvPr/>
        </p:nvSpPr>
        <p:spPr>
          <a:xfrm>
            <a:off x="2240280" y="4782312"/>
            <a:ext cx="3154680" cy="228600"/>
          </a:xfrm>
          <a:prstGeom prst="rect">
            <a:avLst/>
          </a:prstGeom>
          <a:noFill/>
        </p:spPr>
        <p:txBody>
          <a:bodyPr wrap="none" anchor="ctr">
            <a:spAutoFit/>
          </a:bodyPr>
          <a:lstStyle/>
          <a:p>
            <a:pPr algn="l"/>
            <a:r>
              <a:rPr sz="969" b="0">
                <a:solidFill>
                  <a:srgbClr val="8A96A8"/>
                </a:solidFill>
                <a:latin typeface="Aptos"/>
              </a:rPr>
              <a:t>Input → tool → response</a:t>
            </a:r>
          </a:p>
        </p:txBody>
      </p:sp>
      <p:sp>
        <p:nvSpPr>
          <p:cNvPr id="20" name="TextBox 19"/>
          <p:cNvSpPr txBox="1"/>
          <p:nvPr/>
        </p:nvSpPr>
        <p:spPr>
          <a:xfrm>
            <a:off x="868680" y="5321808"/>
            <a:ext cx="4526280" cy="274320"/>
          </a:xfrm>
          <a:prstGeom prst="rect">
            <a:avLst/>
          </a:prstGeom>
          <a:noFill/>
        </p:spPr>
        <p:txBody>
          <a:bodyPr wrap="none" anchor="ctr">
            <a:spAutoFit/>
          </a:bodyPr>
          <a:lstStyle/>
          <a:p>
            <a:pPr algn="l"/>
            <a:r>
              <a:rPr sz="1050" b="1">
                <a:solidFill>
                  <a:srgbClr val="F2F5F8"/>
                </a:solidFill>
                <a:latin typeface="Aptos"/>
              </a:rPr>
              <a:t>Think: a pipeline with a predictable order.</a:t>
            </a:r>
          </a:p>
        </p:txBody>
      </p:sp>
      <p:sp>
        <p:nvSpPr>
          <p:cNvPr id="21" name="TextBox 20"/>
          <p:cNvSpPr txBox="1"/>
          <p:nvPr/>
        </p:nvSpPr>
        <p:spPr>
          <a:xfrm>
            <a:off x="6355080" y="1481328"/>
            <a:ext cx="2011680" cy="320040"/>
          </a:xfrm>
          <a:prstGeom prst="rect">
            <a:avLst/>
          </a:prstGeom>
          <a:noFill/>
        </p:spPr>
        <p:txBody>
          <a:bodyPr wrap="none" anchor="ctr">
            <a:spAutoFit/>
          </a:bodyPr>
          <a:lstStyle/>
          <a:p>
            <a:pPr algn="l"/>
            <a:r>
              <a:rPr sz="1700" b="1">
                <a:solidFill>
                  <a:srgbClr val="2DD4BF"/>
                </a:solidFill>
                <a:latin typeface="Aptos"/>
              </a:rPr>
              <a:t>LANGGRAPH</a:t>
            </a:r>
          </a:p>
        </p:txBody>
      </p:sp>
      <p:sp>
        <p:nvSpPr>
          <p:cNvPr id="22" name="TextBox 21"/>
          <p:cNvSpPr txBox="1"/>
          <p:nvPr/>
        </p:nvSpPr>
        <p:spPr>
          <a:xfrm>
            <a:off x="6355080" y="1856231"/>
            <a:ext cx="3840480" cy="320040"/>
          </a:xfrm>
          <a:prstGeom prst="rect">
            <a:avLst/>
          </a:prstGeom>
          <a:noFill/>
        </p:spPr>
        <p:txBody>
          <a:bodyPr wrap="none" anchor="ctr">
            <a:spAutoFit/>
          </a:bodyPr>
          <a:lstStyle/>
          <a:p>
            <a:pPr algn="l"/>
            <a:r>
              <a:rPr sz="1300" b="1">
                <a:solidFill>
                  <a:srgbClr val="2DD4BF"/>
                </a:solidFill>
                <a:latin typeface="Aptos"/>
              </a:rPr>
              <a:t>Control the workflow</a:t>
            </a:r>
          </a:p>
        </p:txBody>
      </p:sp>
      <p:sp>
        <p:nvSpPr>
          <p:cNvPr id="23" name="TextBox 22"/>
          <p:cNvSpPr txBox="1"/>
          <p:nvPr/>
        </p:nvSpPr>
        <p:spPr>
          <a:xfrm>
            <a:off x="6355080" y="2240280"/>
            <a:ext cx="4434840" cy="566928"/>
          </a:xfrm>
          <a:prstGeom prst="rect">
            <a:avLst/>
          </a:prstGeom>
          <a:noFill/>
        </p:spPr>
        <p:txBody>
          <a:bodyPr wrap="none" anchor="ctr">
            <a:spAutoFit/>
          </a:bodyPr>
          <a:lstStyle/>
          <a:p>
            <a:pPr algn="l"/>
            <a:r>
              <a:rPr sz="1150" b="0">
                <a:solidFill>
                  <a:srgbClr val="8A96A8"/>
                </a:solidFill>
                <a:latin typeface="Aptos"/>
              </a:rPr>
              <a:t>Best when execution can branch, loop, pause, or depend on accumulated state.</a:t>
            </a:r>
          </a:p>
        </p:txBody>
      </p:sp>
      <p:sp>
        <p:nvSpPr>
          <p:cNvPr id="24" name="TextBox 23"/>
          <p:cNvSpPr txBox="1"/>
          <p:nvPr/>
        </p:nvSpPr>
        <p:spPr>
          <a:xfrm>
            <a:off x="6355080" y="2926080"/>
            <a:ext cx="914400" cy="274320"/>
          </a:xfrm>
          <a:prstGeom prst="rect">
            <a:avLst/>
          </a:prstGeom>
          <a:noFill/>
        </p:spPr>
        <p:txBody>
          <a:bodyPr wrap="none" anchor="ctr">
            <a:spAutoFit/>
          </a:bodyPr>
          <a:lstStyle/>
          <a:p>
            <a:pPr algn="l"/>
            <a:r>
              <a:rPr sz="1000" b="1">
                <a:solidFill>
                  <a:srgbClr val="8A96A8"/>
                </a:solidFill>
                <a:latin typeface="Aptos"/>
              </a:rPr>
              <a:t>Good fit</a:t>
            </a:r>
          </a:p>
        </p:txBody>
      </p:sp>
      <p:sp>
        <p:nvSpPr>
          <p:cNvPr id="25" name="TextBox 24"/>
          <p:cNvSpPr txBox="1"/>
          <p:nvPr/>
        </p:nvSpPr>
        <p:spPr>
          <a:xfrm>
            <a:off x="6355080" y="3246120"/>
            <a:ext cx="1554480" cy="228600"/>
          </a:xfrm>
          <a:prstGeom prst="rect">
            <a:avLst/>
          </a:prstGeom>
          <a:noFill/>
        </p:spPr>
        <p:txBody>
          <a:bodyPr wrap="none" anchor="ctr">
            <a:spAutoFit/>
          </a:bodyPr>
          <a:lstStyle/>
          <a:p>
            <a:pPr algn="l"/>
            <a:r>
              <a:rPr sz="1050" b="1">
                <a:solidFill>
                  <a:srgbClr val="F2F5F8"/>
                </a:solidFill>
                <a:latin typeface="Aptos"/>
              </a:rPr>
              <a:t>Agentic workflows</a:t>
            </a:r>
          </a:p>
        </p:txBody>
      </p:sp>
      <p:sp>
        <p:nvSpPr>
          <p:cNvPr id="26" name="TextBox 25"/>
          <p:cNvSpPr txBox="1"/>
          <p:nvPr/>
        </p:nvSpPr>
        <p:spPr>
          <a:xfrm>
            <a:off x="7845552" y="3246120"/>
            <a:ext cx="2971800" cy="228600"/>
          </a:xfrm>
          <a:prstGeom prst="rect">
            <a:avLst/>
          </a:prstGeom>
          <a:noFill/>
        </p:spPr>
        <p:txBody>
          <a:bodyPr wrap="none" anchor="ctr">
            <a:spAutoFit/>
          </a:bodyPr>
          <a:lstStyle/>
          <a:p>
            <a:pPr algn="l"/>
            <a:r>
              <a:rPr sz="969" b="0">
                <a:solidFill>
                  <a:srgbClr val="8A96A8"/>
                </a:solidFill>
                <a:latin typeface="Aptos"/>
              </a:rPr>
              <a:t>Decide → tool → observe → decide</a:t>
            </a:r>
          </a:p>
        </p:txBody>
      </p:sp>
      <p:sp>
        <p:nvSpPr>
          <p:cNvPr id="27" name="TextBox 26"/>
          <p:cNvSpPr txBox="1"/>
          <p:nvPr/>
        </p:nvSpPr>
        <p:spPr>
          <a:xfrm>
            <a:off x="6355080" y="3758183"/>
            <a:ext cx="1554480" cy="228600"/>
          </a:xfrm>
          <a:prstGeom prst="rect">
            <a:avLst/>
          </a:prstGeom>
          <a:noFill/>
        </p:spPr>
        <p:txBody>
          <a:bodyPr wrap="none" anchor="ctr">
            <a:spAutoFit/>
          </a:bodyPr>
          <a:lstStyle/>
          <a:p>
            <a:pPr algn="l"/>
            <a:r>
              <a:rPr sz="1050" b="1">
                <a:solidFill>
                  <a:srgbClr val="F2F5F8"/>
                </a:solidFill>
                <a:latin typeface="Aptos"/>
              </a:rPr>
              <a:t>Approval flows</a:t>
            </a:r>
          </a:p>
        </p:txBody>
      </p:sp>
      <p:sp>
        <p:nvSpPr>
          <p:cNvPr id="28" name="TextBox 27"/>
          <p:cNvSpPr txBox="1"/>
          <p:nvPr/>
        </p:nvSpPr>
        <p:spPr>
          <a:xfrm>
            <a:off x="7845552" y="3758183"/>
            <a:ext cx="2971800" cy="228600"/>
          </a:xfrm>
          <a:prstGeom prst="rect">
            <a:avLst/>
          </a:prstGeom>
          <a:noFill/>
        </p:spPr>
        <p:txBody>
          <a:bodyPr wrap="none" anchor="ctr">
            <a:spAutoFit/>
          </a:bodyPr>
          <a:lstStyle/>
          <a:p>
            <a:pPr algn="l"/>
            <a:r>
              <a:rPr sz="969" b="0">
                <a:solidFill>
                  <a:srgbClr val="8A96A8"/>
                </a:solidFill>
                <a:latin typeface="Aptos"/>
              </a:rPr>
              <a:t>Generate → human review → continue</a:t>
            </a:r>
          </a:p>
        </p:txBody>
      </p:sp>
      <p:sp>
        <p:nvSpPr>
          <p:cNvPr id="29" name="TextBox 28"/>
          <p:cNvSpPr txBox="1"/>
          <p:nvPr/>
        </p:nvSpPr>
        <p:spPr>
          <a:xfrm>
            <a:off x="6355080" y="4270248"/>
            <a:ext cx="1554480" cy="228600"/>
          </a:xfrm>
          <a:prstGeom prst="rect">
            <a:avLst/>
          </a:prstGeom>
          <a:noFill/>
        </p:spPr>
        <p:txBody>
          <a:bodyPr wrap="none" anchor="ctr">
            <a:spAutoFit/>
          </a:bodyPr>
          <a:lstStyle/>
          <a:p>
            <a:pPr algn="l"/>
            <a:r>
              <a:rPr sz="1050" b="1">
                <a:solidFill>
                  <a:srgbClr val="F2F5F8"/>
                </a:solidFill>
                <a:latin typeface="Aptos"/>
              </a:rPr>
              <a:t>Retry / evaluation</a:t>
            </a:r>
          </a:p>
        </p:txBody>
      </p:sp>
      <p:sp>
        <p:nvSpPr>
          <p:cNvPr id="30" name="TextBox 29"/>
          <p:cNvSpPr txBox="1"/>
          <p:nvPr/>
        </p:nvSpPr>
        <p:spPr>
          <a:xfrm>
            <a:off x="7845552" y="4270248"/>
            <a:ext cx="2971800" cy="228600"/>
          </a:xfrm>
          <a:prstGeom prst="rect">
            <a:avLst/>
          </a:prstGeom>
          <a:noFill/>
        </p:spPr>
        <p:txBody>
          <a:bodyPr wrap="none" anchor="ctr">
            <a:spAutoFit/>
          </a:bodyPr>
          <a:lstStyle/>
          <a:p>
            <a:pPr algn="l"/>
            <a:r>
              <a:rPr sz="969" b="0">
                <a:solidFill>
                  <a:srgbClr val="8A96A8"/>
                </a:solidFill>
                <a:latin typeface="Aptos"/>
              </a:rPr>
              <a:t>Generate → evaluate → regenerate</a:t>
            </a:r>
          </a:p>
        </p:txBody>
      </p:sp>
      <p:sp>
        <p:nvSpPr>
          <p:cNvPr id="31" name="TextBox 30"/>
          <p:cNvSpPr txBox="1"/>
          <p:nvPr/>
        </p:nvSpPr>
        <p:spPr>
          <a:xfrm>
            <a:off x="6355080" y="4782312"/>
            <a:ext cx="1554480" cy="228600"/>
          </a:xfrm>
          <a:prstGeom prst="rect">
            <a:avLst/>
          </a:prstGeom>
          <a:noFill/>
        </p:spPr>
        <p:txBody>
          <a:bodyPr wrap="none" anchor="ctr">
            <a:spAutoFit/>
          </a:bodyPr>
          <a:lstStyle/>
          <a:p>
            <a:pPr algn="l"/>
            <a:r>
              <a:rPr sz="1050" b="1">
                <a:solidFill>
                  <a:srgbClr val="F2F5F8"/>
                </a:solidFill>
                <a:latin typeface="Aptos"/>
              </a:rPr>
              <a:t>Multi-step routing</a:t>
            </a:r>
          </a:p>
        </p:txBody>
      </p:sp>
      <p:sp>
        <p:nvSpPr>
          <p:cNvPr id="32" name="TextBox 31"/>
          <p:cNvSpPr txBox="1"/>
          <p:nvPr/>
        </p:nvSpPr>
        <p:spPr>
          <a:xfrm>
            <a:off x="7845552" y="4782312"/>
            <a:ext cx="2971800" cy="228600"/>
          </a:xfrm>
          <a:prstGeom prst="rect">
            <a:avLst/>
          </a:prstGeom>
          <a:noFill/>
        </p:spPr>
        <p:txBody>
          <a:bodyPr wrap="none" anchor="ctr">
            <a:spAutoFit/>
          </a:bodyPr>
          <a:lstStyle/>
          <a:p>
            <a:pPr algn="l"/>
            <a:r>
              <a:rPr sz="969" b="0">
                <a:solidFill>
                  <a:srgbClr val="8A96A8"/>
                </a:solidFill>
                <a:latin typeface="Aptos"/>
              </a:rPr>
              <a:t>Classify → route → specialist → merge</a:t>
            </a:r>
          </a:p>
        </p:txBody>
      </p:sp>
      <p:sp>
        <p:nvSpPr>
          <p:cNvPr id="33" name="TextBox 32"/>
          <p:cNvSpPr txBox="1"/>
          <p:nvPr/>
        </p:nvSpPr>
        <p:spPr>
          <a:xfrm>
            <a:off x="6355080" y="5321808"/>
            <a:ext cx="4526280" cy="274320"/>
          </a:xfrm>
          <a:prstGeom prst="rect">
            <a:avLst/>
          </a:prstGeom>
          <a:noFill/>
        </p:spPr>
        <p:txBody>
          <a:bodyPr wrap="none" anchor="ctr">
            <a:spAutoFit/>
          </a:bodyPr>
          <a:lstStyle/>
          <a:p>
            <a:pPr algn="l"/>
            <a:r>
              <a:rPr sz="1050" b="1">
                <a:solidFill>
                  <a:srgbClr val="F2F5F8"/>
                </a:solidFill>
                <a:latin typeface="Aptos"/>
              </a:rPr>
              <a:t>Think: a program whose next step can change at runtime.</a:t>
            </a:r>
          </a:p>
        </p:txBody>
      </p:sp>
      <p:sp>
        <p:nvSpPr>
          <p:cNvPr id="34" name="Rounded Rectangle 33"/>
          <p:cNvSpPr/>
          <p:nvPr/>
        </p:nvSpPr>
        <p:spPr>
          <a:xfrm>
            <a:off x="868680" y="5833872"/>
            <a:ext cx="10332720" cy="384048"/>
          </a:xfrm>
          <a:prstGeom prst="roundRect">
            <a:avLst/>
          </a:prstGeom>
          <a:solidFill>
            <a:srgbClr val="1D242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51560" y="5879592"/>
            <a:ext cx="1143000" cy="228600"/>
          </a:xfrm>
          <a:prstGeom prst="rect">
            <a:avLst/>
          </a:prstGeom>
          <a:noFill/>
        </p:spPr>
        <p:txBody>
          <a:bodyPr wrap="none" anchor="ctr">
            <a:spAutoFit/>
          </a:bodyPr>
          <a:lstStyle/>
          <a:p>
            <a:pPr algn="l"/>
            <a:r>
              <a:rPr sz="950" b="1">
                <a:solidFill>
                  <a:srgbClr val="2DD4BF"/>
                </a:solidFill>
                <a:latin typeface="Aptos"/>
              </a:rPr>
              <a:t>DECISION RULE</a:t>
            </a:r>
          </a:p>
        </p:txBody>
      </p:sp>
      <p:sp>
        <p:nvSpPr>
          <p:cNvPr id="36" name="TextBox 35"/>
          <p:cNvSpPr txBox="1"/>
          <p:nvPr/>
        </p:nvSpPr>
        <p:spPr>
          <a:xfrm>
            <a:off x="2240280" y="5861304"/>
            <a:ext cx="8595360" cy="256032"/>
          </a:xfrm>
          <a:prstGeom prst="rect">
            <a:avLst/>
          </a:prstGeom>
          <a:noFill/>
        </p:spPr>
        <p:txBody>
          <a:bodyPr wrap="none" anchor="ctr">
            <a:spAutoFit/>
          </a:bodyPr>
          <a:lstStyle/>
          <a:p>
            <a:pPr algn="l"/>
            <a:r>
              <a:rPr sz="1050" b="1">
                <a:solidFill>
                  <a:srgbClr val="F2F5F8"/>
                </a:solidFill>
                <a:latin typeface="Aptos"/>
              </a:rPr>
              <a:t>Linear + predictable → LangChain      |      Branching / loops / stateful control → LangGraph</a:t>
            </a:r>
          </a:p>
        </p:txBody>
      </p:sp>
      <p:sp>
        <p:nvSpPr>
          <p:cNvPr id="37" name="TextBox 36"/>
          <p:cNvSpPr txBox="1"/>
          <p:nvPr/>
        </p:nvSpPr>
        <p:spPr>
          <a:xfrm>
            <a:off x="457200" y="6473952"/>
            <a:ext cx="3657600" cy="274320"/>
          </a:xfrm>
          <a:prstGeom prst="rect">
            <a:avLst/>
          </a:prstGeom>
          <a:noFill/>
        </p:spPr>
        <p:txBody>
          <a:bodyPr wrap="none" anchor="ctr">
            <a:spAutoFit/>
          </a:bodyPr>
          <a:lstStyle/>
          <a:p>
            <a:pPr algn="l"/>
            <a:r>
              <a:rPr sz="900" b="0">
                <a:solidFill>
                  <a:srgbClr val="8A96A8"/>
                </a:solidFill>
                <a:latin typeface="Aptos"/>
              </a:rPr>
              <a:t>LangGraph — SE Lab</a:t>
            </a:r>
          </a:p>
        </p:txBody>
      </p:sp>
      <p:sp>
        <p:nvSpPr>
          <p:cNvPr id="38" name="TextBox 37"/>
          <p:cNvSpPr txBox="1"/>
          <p:nvPr/>
        </p:nvSpPr>
        <p:spPr>
          <a:xfrm>
            <a:off x="11365992" y="6473952"/>
            <a:ext cx="365760" cy="274320"/>
          </a:xfrm>
          <a:prstGeom prst="rect">
            <a:avLst/>
          </a:prstGeom>
          <a:noFill/>
        </p:spPr>
        <p:txBody>
          <a:bodyPr wrap="none" anchor="ctr">
            <a:spAutoFit/>
          </a:bodyPr>
          <a:lstStyle/>
          <a:p>
            <a:pPr algn="r"/>
            <a:r>
              <a:rPr sz="900" b="0">
                <a:solidFill>
                  <a:srgbClr val="8A96A8"/>
                </a:solidFill>
                <a:latin typeface="Aptos"/>
              </a:rPr>
              <a:t>4</a:t>
            </a:r>
          </a:p>
        </p:txBody>
      </p:sp>
      <p:sp>
        <p:nvSpPr>
          <p:cNvPr id="39" name="TextBox 38"/>
          <p:cNvSpPr txBox="1"/>
          <p:nvPr/>
        </p:nvSpPr>
        <p:spPr>
          <a:xfrm>
            <a:off x="868680" y="4782312"/>
            <a:ext cx="1417320" cy="228600"/>
          </a:xfrm>
          <a:prstGeom prst="rect">
            <a:avLst/>
          </a:prstGeom>
          <a:noFill/>
        </p:spPr>
        <p:txBody>
          <a:bodyPr wrap="none" anchor="ctr">
            <a:spAutoFit/>
          </a:bodyPr>
          <a:lstStyle/>
          <a:p>
            <a:r>
              <a:rPr sz="1050" b="1">
                <a:solidFill>
                  <a:srgbClr val="F2F5F8"/>
                </a:solidFill>
                <a:latin typeface="Aptos"/>
              </a:rPr>
              <a:t>Quick tool / agent use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51C"/>
        </a:solidFill>
        <a:effectLst/>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B6577"/>
                </a:solidFill>
                <a:latin typeface="Calibri" pitchFamily="34" charset="0"/>
                <a:ea typeface="Calibri" pitchFamily="34" charset="-122"/>
                <a:cs typeface="Calibri" pitchFamily="34" charset="-120"/>
              </a:rPr>
              <a:t>LangGraph — SE Lab</a:t>
            </a:r>
            <a:endParaRPr lang="en-US" sz="900" dirty="0"/>
          </a:p>
        </p:txBody>
      </p:sp>
      <p:sp>
        <p:nvSpPr>
          <p:cNvPr id="3" name="Text 1"/>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548640" y="164592"/>
            <a:ext cx="11094415" cy="274320"/>
          </a:xfrm>
          <a:prstGeom prst="rect">
            <a:avLst/>
          </a:prstGeom>
          <a:noFill/>
          <a:ln/>
        </p:spPr>
        <p:txBody>
          <a:bodyPr wrap="square" rtlCol="0" anchor="ctr"/>
          <a:lstStyle/>
          <a:p>
            <a:pPr marL="0" indent="0">
              <a:buNone/>
            </a:pPr>
            <a:r>
              <a:rPr lang="en-US" sz="1100" b="1" kern="0" spc="200" dirty="0">
                <a:solidFill>
                  <a:srgbClr val="2DD4BF"/>
                </a:solidFill>
                <a:latin typeface="Calibri" pitchFamily="34" charset="0"/>
                <a:ea typeface="Calibri" pitchFamily="34" charset="-122"/>
                <a:cs typeface="Calibri" pitchFamily="34" charset="-120"/>
              </a:rPr>
              <a:t>MENTAL MODEL</a:t>
            </a:r>
            <a:endParaRPr lang="en-US" sz="1100" dirty="0"/>
          </a:p>
        </p:txBody>
      </p:sp>
      <p:sp>
        <p:nvSpPr>
          <p:cNvPr id="5" name="Text 3"/>
          <p:cNvSpPr/>
          <p:nvPr/>
        </p:nvSpPr>
        <p:spPr>
          <a:xfrm>
            <a:off x="548640" y="384048"/>
            <a:ext cx="11094415" cy="685800"/>
          </a:xfrm>
          <a:prstGeom prst="rect">
            <a:avLst/>
          </a:prstGeom>
          <a:noFill/>
          <a:ln/>
        </p:spPr>
        <p:txBody>
          <a:bodyPr wrap="square" rtlCol="0" anchor="ctr"/>
          <a:lstStyle/>
          <a:p>
            <a:pPr marL="0" indent="0" algn="l">
              <a:buNone/>
            </a:pPr>
            <a:r>
              <a:rPr lang="en-US" sz="3000" b="1" dirty="0">
                <a:solidFill>
                  <a:srgbClr val="F2F5F8"/>
                </a:solidFill>
                <a:latin typeface="Calibri" pitchFamily="34" charset="0"/>
                <a:ea typeface="Calibri" pitchFamily="34" charset="-122"/>
                <a:cs typeface="Calibri" pitchFamily="34" charset="-120"/>
              </a:rPr>
              <a:t>Think in Graphs</a:t>
            </a:r>
            <a:endParaRPr lang="en-US" sz="3000" dirty="0"/>
          </a:p>
        </p:txBody>
      </p:sp>
      <p:sp>
        <p:nvSpPr>
          <p:cNvPr id="6" name="Shape 4"/>
          <p:cNvSpPr/>
          <p:nvPr/>
        </p:nvSpPr>
        <p:spPr>
          <a:xfrm>
            <a:off x="3520440" y="1325880"/>
            <a:ext cx="1188720" cy="457200"/>
          </a:xfrm>
          <a:prstGeom prst="roundRect">
            <a:avLst>
              <a:gd name="adj" fmla="val 50000"/>
            </a:avLst>
          </a:prstGeom>
          <a:solidFill>
            <a:srgbClr val="1B4B47"/>
          </a:solidFill>
          <a:ln w="15875">
            <a:solidFill>
              <a:srgbClr val="2DD4BF"/>
            </a:solidFill>
            <a:prstDash val="solid"/>
          </a:ln>
        </p:spPr>
      </p:sp>
      <p:sp>
        <p:nvSpPr>
          <p:cNvPr id="7" name="Text 5"/>
          <p:cNvSpPr/>
          <p:nvPr/>
        </p:nvSpPr>
        <p:spPr>
          <a:xfrm>
            <a:off x="3520440" y="1325880"/>
            <a:ext cx="1188720" cy="457200"/>
          </a:xfrm>
          <a:prstGeom prst="rect">
            <a:avLst/>
          </a:prstGeom>
          <a:noFill/>
          <a:ln/>
        </p:spPr>
        <p:txBody>
          <a:bodyPr wrap="square" rtlCol="0" anchor="ctr"/>
          <a:lstStyle/>
          <a:p>
            <a:pPr marL="0" indent="0" algn="ctr">
              <a:buNone/>
            </a:pPr>
            <a:r>
              <a:rPr lang="en-US" sz="1100" b="1" kern="0" spc="100" dirty="0">
                <a:solidFill>
                  <a:srgbClr val="2DD4BF"/>
                </a:solidFill>
                <a:latin typeface="Calibri" pitchFamily="34" charset="0"/>
                <a:ea typeface="Calibri" pitchFamily="34" charset="-122"/>
                <a:cs typeface="Calibri" pitchFamily="34" charset="-120"/>
              </a:rPr>
              <a:t>START</a:t>
            </a:r>
            <a:endParaRPr lang="en-US" sz="1100" dirty="0"/>
          </a:p>
        </p:txBody>
      </p:sp>
      <p:sp>
        <p:nvSpPr>
          <p:cNvPr id="8" name="Shape 6"/>
          <p:cNvSpPr/>
          <p:nvPr/>
        </p:nvSpPr>
        <p:spPr>
          <a:xfrm>
            <a:off x="4114800" y="1783080"/>
            <a:ext cx="0" cy="256032"/>
          </a:xfrm>
          <a:prstGeom prst="line">
            <a:avLst/>
          </a:prstGeom>
          <a:noFill/>
          <a:ln w="19050">
            <a:solidFill>
              <a:srgbClr val="8A96A8"/>
            </a:solidFill>
            <a:prstDash val="solid"/>
            <a:tailEnd type="triangle"/>
          </a:ln>
        </p:spPr>
      </p:sp>
      <p:sp>
        <p:nvSpPr>
          <p:cNvPr id="9" name="Shape 7"/>
          <p:cNvSpPr/>
          <p:nvPr/>
        </p:nvSpPr>
        <p:spPr>
          <a:xfrm>
            <a:off x="3246120" y="2039112"/>
            <a:ext cx="1737360" cy="530352"/>
          </a:xfrm>
          <a:prstGeom prst="roundRect">
            <a:avLst>
              <a:gd name="adj" fmla="val 13793"/>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0" name="Text 8"/>
          <p:cNvSpPr/>
          <p:nvPr/>
        </p:nvSpPr>
        <p:spPr>
          <a:xfrm>
            <a:off x="3246120" y="2039112"/>
            <a:ext cx="1737360" cy="530352"/>
          </a:xfrm>
          <a:prstGeom prst="rect">
            <a:avLst/>
          </a:prstGeom>
          <a:noFill/>
          <a:ln/>
        </p:spPr>
        <p:txBody>
          <a:bodyPr wrap="square" rtlCol="0" anchor="ctr"/>
          <a:lstStyle/>
          <a:p>
            <a:pPr marL="0" indent="0" algn="ctr">
              <a:buNone/>
            </a:pPr>
            <a:r>
              <a:rPr lang="en-US" sz="1300" b="1" dirty="0">
                <a:solidFill>
                  <a:srgbClr val="F2F5F8"/>
                </a:solidFill>
                <a:latin typeface="Calibri" pitchFamily="34" charset="0"/>
                <a:ea typeface="Calibri" pitchFamily="34" charset="-122"/>
                <a:cs typeface="Calibri" pitchFamily="34" charset="-120"/>
              </a:rPr>
              <a:t>Analyze</a:t>
            </a:r>
            <a:endParaRPr lang="en-US" sz="1300" dirty="0"/>
          </a:p>
        </p:txBody>
      </p:sp>
      <p:sp>
        <p:nvSpPr>
          <p:cNvPr id="11" name="Shape 9"/>
          <p:cNvSpPr/>
          <p:nvPr/>
        </p:nvSpPr>
        <p:spPr>
          <a:xfrm>
            <a:off x="4114800" y="2569464"/>
            <a:ext cx="0" cy="256032"/>
          </a:xfrm>
          <a:prstGeom prst="line">
            <a:avLst/>
          </a:prstGeom>
          <a:noFill/>
          <a:ln w="19050">
            <a:solidFill>
              <a:srgbClr val="8A96A8"/>
            </a:solidFill>
            <a:prstDash val="solid"/>
            <a:tailEnd type="triangle"/>
          </a:ln>
        </p:spPr>
      </p:sp>
      <p:sp>
        <p:nvSpPr>
          <p:cNvPr id="12" name="Shape 10"/>
          <p:cNvSpPr/>
          <p:nvPr/>
        </p:nvSpPr>
        <p:spPr>
          <a:xfrm>
            <a:off x="3246120" y="2825496"/>
            <a:ext cx="1737360" cy="530352"/>
          </a:xfrm>
          <a:prstGeom prst="roundRect">
            <a:avLst>
              <a:gd name="adj" fmla="val 13793"/>
            </a:avLst>
          </a:prstGeom>
          <a:solidFill>
            <a:srgbClr val="1B4B47"/>
          </a:solidFill>
          <a:ln w="15875">
            <a:solidFill>
              <a:srgbClr val="2DD4BF"/>
            </a:solidFill>
            <a:prstDash val="solid"/>
          </a:ln>
          <a:effectLst>
            <a:outerShdw blurRad="76200" dist="25400" dir="5400000" algn="bl" rotWithShape="0">
              <a:srgbClr val="000000">
                <a:alpha val="35000"/>
              </a:srgbClr>
            </a:outerShdw>
          </a:effectLst>
        </p:spPr>
      </p:sp>
      <p:sp>
        <p:nvSpPr>
          <p:cNvPr id="13" name="Text 11"/>
          <p:cNvSpPr/>
          <p:nvPr/>
        </p:nvSpPr>
        <p:spPr>
          <a:xfrm>
            <a:off x="3246120" y="2825496"/>
            <a:ext cx="1737360" cy="530352"/>
          </a:xfrm>
          <a:prstGeom prst="rect">
            <a:avLst/>
          </a:prstGeom>
          <a:noFill/>
          <a:ln/>
        </p:spPr>
        <p:txBody>
          <a:bodyPr wrap="square" rtlCol="0" anchor="ctr"/>
          <a:lstStyle/>
          <a:p>
            <a:pPr marL="0" indent="0" algn="ctr">
              <a:buNone/>
            </a:pPr>
            <a:r>
              <a:rPr lang="en-US" sz="1300" b="1" dirty="0">
                <a:solidFill>
                  <a:srgbClr val="2DD4BF"/>
                </a:solidFill>
                <a:latin typeface="Calibri" pitchFamily="34" charset="0"/>
                <a:ea typeface="Calibri" pitchFamily="34" charset="-122"/>
                <a:cs typeface="Calibri" pitchFamily="34" charset="-120"/>
              </a:rPr>
              <a:t>Decision</a:t>
            </a:r>
            <a:endParaRPr lang="en-US" sz="1300" dirty="0"/>
          </a:p>
        </p:txBody>
      </p:sp>
      <p:sp>
        <p:nvSpPr>
          <p:cNvPr id="14" name="Shape 12"/>
          <p:cNvSpPr/>
          <p:nvPr/>
        </p:nvSpPr>
        <p:spPr>
          <a:xfrm flipH="1">
            <a:off x="3154680" y="3355848"/>
            <a:ext cx="960120" cy="320040"/>
          </a:xfrm>
          <a:prstGeom prst="line">
            <a:avLst/>
          </a:prstGeom>
          <a:noFill/>
          <a:ln w="19050">
            <a:solidFill>
              <a:srgbClr val="2DD4BF"/>
            </a:solidFill>
            <a:prstDash val="solid"/>
            <a:tailEnd type="triangle"/>
          </a:ln>
        </p:spPr>
      </p:sp>
      <p:sp>
        <p:nvSpPr>
          <p:cNvPr id="15" name="Shape 13"/>
          <p:cNvSpPr/>
          <p:nvPr/>
        </p:nvSpPr>
        <p:spPr>
          <a:xfrm>
            <a:off x="4114800" y="3355848"/>
            <a:ext cx="960120" cy="320040"/>
          </a:xfrm>
          <a:prstGeom prst="line">
            <a:avLst/>
          </a:prstGeom>
          <a:noFill/>
          <a:ln w="19050">
            <a:solidFill>
              <a:srgbClr val="8A96A8"/>
            </a:solidFill>
            <a:prstDash val="solid"/>
            <a:tailEnd type="triangle"/>
          </a:ln>
        </p:spPr>
      </p:sp>
      <p:sp>
        <p:nvSpPr>
          <p:cNvPr id="16" name="Text 14"/>
          <p:cNvSpPr/>
          <p:nvPr/>
        </p:nvSpPr>
        <p:spPr>
          <a:xfrm>
            <a:off x="1920240" y="3374136"/>
            <a:ext cx="1005840" cy="274320"/>
          </a:xfrm>
          <a:prstGeom prst="rect">
            <a:avLst/>
          </a:prstGeom>
          <a:noFill/>
          <a:ln/>
        </p:spPr>
        <p:txBody>
          <a:bodyPr wrap="square" rtlCol="0" anchor="ctr"/>
          <a:lstStyle/>
          <a:p>
            <a:pPr marL="0" indent="0" algn="r">
              <a:buNone/>
            </a:pPr>
            <a:r>
              <a:rPr lang="en-US" sz="950" i="1" dirty="0">
                <a:solidFill>
                  <a:srgbClr val="2DD4BF"/>
                </a:solidFill>
                <a:latin typeface="Calibri" pitchFamily="34" charset="0"/>
                <a:ea typeface="Calibri" pitchFamily="34" charset="-122"/>
                <a:cs typeface="Calibri" pitchFamily="34" charset="-120"/>
              </a:rPr>
              <a:t>search?</a:t>
            </a:r>
            <a:endParaRPr lang="en-US" sz="950" dirty="0"/>
          </a:p>
        </p:txBody>
      </p:sp>
      <p:sp>
        <p:nvSpPr>
          <p:cNvPr id="17" name="Text 15"/>
          <p:cNvSpPr/>
          <p:nvPr/>
        </p:nvSpPr>
        <p:spPr>
          <a:xfrm>
            <a:off x="5852160" y="3374136"/>
            <a:ext cx="1005840" cy="274320"/>
          </a:xfrm>
          <a:prstGeom prst="rect">
            <a:avLst/>
          </a:prstGeom>
          <a:noFill/>
          <a:ln/>
        </p:spPr>
        <p:txBody>
          <a:bodyPr wrap="square" rtlCol="0" anchor="ctr"/>
          <a:lstStyle/>
          <a:p>
            <a:pPr marL="0" indent="0" algn="l">
              <a:buNone/>
            </a:pPr>
            <a:r>
              <a:rPr lang="en-US" sz="950" i="1" dirty="0">
                <a:solidFill>
                  <a:srgbClr val="8A96A8"/>
                </a:solidFill>
                <a:latin typeface="Calibri" pitchFamily="34" charset="0"/>
                <a:ea typeface="Calibri" pitchFamily="34" charset="-122"/>
                <a:cs typeface="Calibri" pitchFamily="34" charset="-120"/>
              </a:rPr>
              <a:t>direct?</a:t>
            </a:r>
            <a:endParaRPr lang="en-US" sz="950" dirty="0"/>
          </a:p>
        </p:txBody>
      </p:sp>
      <p:sp>
        <p:nvSpPr>
          <p:cNvPr id="18" name="Shape 16"/>
          <p:cNvSpPr/>
          <p:nvPr/>
        </p:nvSpPr>
        <p:spPr>
          <a:xfrm>
            <a:off x="2423160" y="3675888"/>
            <a:ext cx="1463040" cy="530352"/>
          </a:xfrm>
          <a:prstGeom prst="roundRect">
            <a:avLst>
              <a:gd name="adj" fmla="val 13793"/>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9" name="Text 17"/>
          <p:cNvSpPr/>
          <p:nvPr/>
        </p:nvSpPr>
        <p:spPr>
          <a:xfrm>
            <a:off x="2423160" y="3675888"/>
            <a:ext cx="1463040" cy="530352"/>
          </a:xfrm>
          <a:prstGeom prst="rect">
            <a:avLst/>
          </a:prstGeom>
          <a:noFill/>
          <a:ln/>
        </p:spPr>
        <p:txBody>
          <a:bodyPr wrap="square" rtlCol="0" anchor="ctr"/>
          <a:lstStyle/>
          <a:p>
            <a:pPr marL="0" indent="0" algn="ctr">
              <a:buNone/>
            </a:pPr>
            <a:r>
              <a:rPr lang="en-US" sz="1250" b="1" dirty="0">
                <a:solidFill>
                  <a:srgbClr val="F2F5F8"/>
                </a:solidFill>
                <a:latin typeface="Calibri" pitchFamily="34" charset="0"/>
                <a:ea typeface="Calibri" pitchFamily="34" charset="-122"/>
                <a:cs typeface="Calibri" pitchFamily="34" charset="-120"/>
              </a:rPr>
              <a:t>Search</a:t>
            </a:r>
            <a:endParaRPr lang="en-US" sz="1250" dirty="0"/>
          </a:p>
        </p:txBody>
      </p:sp>
      <p:sp>
        <p:nvSpPr>
          <p:cNvPr id="20" name="Shape 18"/>
          <p:cNvSpPr/>
          <p:nvPr/>
        </p:nvSpPr>
        <p:spPr>
          <a:xfrm>
            <a:off x="4343400" y="3675888"/>
            <a:ext cx="1463040" cy="530352"/>
          </a:xfrm>
          <a:prstGeom prst="roundRect">
            <a:avLst>
              <a:gd name="adj" fmla="val 13793"/>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21" name="Text 19"/>
          <p:cNvSpPr/>
          <p:nvPr/>
        </p:nvSpPr>
        <p:spPr>
          <a:xfrm>
            <a:off x="4343400" y="3675888"/>
            <a:ext cx="1463040" cy="530352"/>
          </a:xfrm>
          <a:prstGeom prst="rect">
            <a:avLst/>
          </a:prstGeom>
          <a:noFill/>
          <a:ln/>
        </p:spPr>
        <p:txBody>
          <a:bodyPr wrap="square" rtlCol="0" anchor="ctr"/>
          <a:lstStyle/>
          <a:p>
            <a:pPr marL="0" indent="0" algn="ctr">
              <a:buNone/>
            </a:pPr>
            <a:r>
              <a:rPr lang="en-US" sz="1250" b="1" dirty="0">
                <a:solidFill>
                  <a:srgbClr val="F2F5F8"/>
                </a:solidFill>
                <a:latin typeface="Calibri" pitchFamily="34" charset="0"/>
                <a:ea typeface="Calibri" pitchFamily="34" charset="-122"/>
                <a:cs typeface="Calibri" pitchFamily="34" charset="-120"/>
              </a:rPr>
              <a:t>Direct</a:t>
            </a:r>
            <a:endParaRPr lang="en-US" sz="1250" dirty="0"/>
          </a:p>
        </p:txBody>
      </p:sp>
      <p:sp>
        <p:nvSpPr>
          <p:cNvPr id="22" name="Shape 20"/>
          <p:cNvSpPr/>
          <p:nvPr/>
        </p:nvSpPr>
        <p:spPr>
          <a:xfrm>
            <a:off x="3154680" y="4206240"/>
            <a:ext cx="960120" cy="320040"/>
          </a:xfrm>
          <a:prstGeom prst="line">
            <a:avLst/>
          </a:prstGeom>
          <a:noFill/>
          <a:ln w="19050">
            <a:solidFill>
              <a:srgbClr val="8A96A8"/>
            </a:solidFill>
            <a:prstDash val="solid"/>
            <a:tailEnd type="triangle"/>
          </a:ln>
        </p:spPr>
      </p:sp>
      <p:sp>
        <p:nvSpPr>
          <p:cNvPr id="23" name="Shape 21"/>
          <p:cNvSpPr/>
          <p:nvPr/>
        </p:nvSpPr>
        <p:spPr>
          <a:xfrm flipH="1">
            <a:off x="4114800" y="4206240"/>
            <a:ext cx="960120" cy="320040"/>
          </a:xfrm>
          <a:prstGeom prst="line">
            <a:avLst/>
          </a:prstGeom>
          <a:noFill/>
          <a:ln w="19050">
            <a:solidFill>
              <a:srgbClr val="8A96A8"/>
            </a:solidFill>
            <a:prstDash val="solid"/>
            <a:tailEnd type="triangle"/>
          </a:ln>
        </p:spPr>
      </p:sp>
      <p:sp>
        <p:nvSpPr>
          <p:cNvPr id="24" name="Shape 22"/>
          <p:cNvSpPr/>
          <p:nvPr/>
        </p:nvSpPr>
        <p:spPr>
          <a:xfrm>
            <a:off x="3246120" y="4526280"/>
            <a:ext cx="1737360" cy="530352"/>
          </a:xfrm>
          <a:prstGeom prst="roundRect">
            <a:avLst>
              <a:gd name="adj" fmla="val 13793"/>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25" name="Text 23"/>
          <p:cNvSpPr/>
          <p:nvPr/>
        </p:nvSpPr>
        <p:spPr>
          <a:xfrm>
            <a:off x="3246120" y="4526280"/>
            <a:ext cx="1737360" cy="530352"/>
          </a:xfrm>
          <a:prstGeom prst="rect">
            <a:avLst/>
          </a:prstGeom>
          <a:noFill/>
          <a:ln/>
        </p:spPr>
        <p:txBody>
          <a:bodyPr wrap="square" rtlCol="0" anchor="ctr"/>
          <a:lstStyle/>
          <a:p>
            <a:pPr marL="0" indent="0" algn="ctr">
              <a:buNone/>
            </a:pPr>
            <a:r>
              <a:rPr lang="en-US" sz="1300" b="1" dirty="0">
                <a:solidFill>
                  <a:srgbClr val="F2F5F8"/>
                </a:solidFill>
                <a:latin typeface="Calibri" pitchFamily="34" charset="0"/>
                <a:ea typeface="Calibri" pitchFamily="34" charset="-122"/>
                <a:cs typeface="Calibri" pitchFamily="34" charset="-120"/>
              </a:rPr>
              <a:t>Respond</a:t>
            </a:r>
            <a:endParaRPr lang="en-US" sz="1300" dirty="0"/>
          </a:p>
        </p:txBody>
      </p:sp>
      <p:sp>
        <p:nvSpPr>
          <p:cNvPr id="26" name="Shape 24"/>
          <p:cNvSpPr/>
          <p:nvPr/>
        </p:nvSpPr>
        <p:spPr>
          <a:xfrm>
            <a:off x="4114800" y="5056632"/>
            <a:ext cx="0" cy="256032"/>
          </a:xfrm>
          <a:prstGeom prst="line">
            <a:avLst/>
          </a:prstGeom>
          <a:noFill/>
          <a:ln w="19050">
            <a:solidFill>
              <a:srgbClr val="8A96A8"/>
            </a:solidFill>
            <a:prstDash val="solid"/>
            <a:tailEnd type="triangle"/>
          </a:ln>
        </p:spPr>
      </p:sp>
      <p:sp>
        <p:nvSpPr>
          <p:cNvPr id="27" name="Shape 25"/>
          <p:cNvSpPr/>
          <p:nvPr/>
        </p:nvSpPr>
        <p:spPr>
          <a:xfrm>
            <a:off x="3566160" y="5312664"/>
            <a:ext cx="1097280" cy="457200"/>
          </a:xfrm>
          <a:prstGeom prst="roundRect">
            <a:avLst>
              <a:gd name="adj" fmla="val 50000"/>
            </a:avLst>
          </a:prstGeom>
          <a:solidFill>
            <a:srgbClr val="241B1B"/>
          </a:solidFill>
          <a:ln w="15875">
            <a:solidFill>
              <a:srgbClr val="2DD4BF"/>
            </a:solidFill>
            <a:prstDash val="solid"/>
          </a:ln>
        </p:spPr>
      </p:sp>
      <p:sp>
        <p:nvSpPr>
          <p:cNvPr id="28" name="Text 26"/>
          <p:cNvSpPr/>
          <p:nvPr/>
        </p:nvSpPr>
        <p:spPr>
          <a:xfrm>
            <a:off x="3566160" y="5312664"/>
            <a:ext cx="1097280" cy="457200"/>
          </a:xfrm>
          <a:prstGeom prst="rect">
            <a:avLst/>
          </a:prstGeom>
          <a:noFill/>
          <a:ln/>
        </p:spPr>
        <p:txBody>
          <a:bodyPr wrap="square" rtlCol="0" anchor="ctr"/>
          <a:lstStyle/>
          <a:p>
            <a:pPr marL="0" indent="0" algn="ctr">
              <a:buNone/>
            </a:pPr>
            <a:r>
              <a:rPr lang="en-US" sz="1100" b="1" kern="0" spc="100" dirty="0">
                <a:solidFill>
                  <a:srgbClr val="8A96A8"/>
                </a:solidFill>
                <a:latin typeface="Calibri" pitchFamily="34" charset="0"/>
                <a:ea typeface="Calibri" pitchFamily="34" charset="-122"/>
                <a:cs typeface="Calibri" pitchFamily="34" charset="-120"/>
              </a:rPr>
              <a:t>END</a:t>
            </a:r>
            <a:endParaRPr lang="en-US" sz="1100" dirty="0"/>
          </a:p>
        </p:txBody>
      </p:sp>
      <p:sp>
        <p:nvSpPr>
          <p:cNvPr id="29" name="Shape 27"/>
          <p:cNvSpPr/>
          <p:nvPr/>
        </p:nvSpPr>
        <p:spPr>
          <a:xfrm>
            <a:off x="8503920" y="1737360"/>
            <a:ext cx="3154680" cy="960120"/>
          </a:xfrm>
          <a:prstGeom prst="roundRect">
            <a:avLst>
              <a:gd name="adj" fmla="val 7619"/>
            </a:avLst>
          </a:prstGeom>
          <a:solidFill>
            <a:srgbClr val="1B212C"/>
          </a:solidFill>
          <a:ln w="12700">
            <a:solidFill>
              <a:srgbClr val="2C3441"/>
            </a:solidFill>
            <a:prstDash val="solid"/>
          </a:ln>
        </p:spPr>
      </p:sp>
      <p:sp>
        <p:nvSpPr>
          <p:cNvPr id="30" name="Text 28"/>
          <p:cNvSpPr/>
          <p:nvPr/>
        </p:nvSpPr>
        <p:spPr>
          <a:xfrm>
            <a:off x="8686800" y="1847088"/>
            <a:ext cx="2788920" cy="320040"/>
          </a:xfrm>
          <a:prstGeom prst="rect">
            <a:avLst/>
          </a:prstGeom>
          <a:noFill/>
          <a:ln/>
        </p:spPr>
        <p:txBody>
          <a:bodyPr wrap="square" rtlCol="0" anchor="ctr"/>
          <a:lstStyle/>
          <a:p>
            <a:pPr marL="0" indent="0">
              <a:buNone/>
            </a:pPr>
            <a:r>
              <a:rPr lang="en-US" sz="1350" b="1" dirty="0">
                <a:solidFill>
                  <a:srgbClr val="2DD4BF"/>
                </a:solidFill>
                <a:latin typeface="Calibri" pitchFamily="34" charset="0"/>
                <a:ea typeface="Calibri" pitchFamily="34" charset="-122"/>
                <a:cs typeface="Calibri" pitchFamily="34" charset="-120"/>
              </a:rPr>
              <a:t>NODES</a:t>
            </a:r>
            <a:endParaRPr lang="en-US" sz="1350" dirty="0"/>
          </a:p>
        </p:txBody>
      </p:sp>
      <p:sp>
        <p:nvSpPr>
          <p:cNvPr id="31" name="Text 29"/>
          <p:cNvSpPr/>
          <p:nvPr/>
        </p:nvSpPr>
        <p:spPr>
          <a:xfrm>
            <a:off x="8686800" y="2194560"/>
            <a:ext cx="2788920" cy="457200"/>
          </a:xfrm>
          <a:prstGeom prst="rect">
            <a:avLst/>
          </a:prstGeom>
          <a:noFill/>
          <a:ln/>
        </p:spPr>
        <p:txBody>
          <a:bodyPr wrap="square" rtlCol="0" anchor="t"/>
          <a:lstStyle/>
          <a:p>
            <a:pPr marL="0" indent="0">
              <a:buNone/>
            </a:pPr>
            <a:r>
              <a:rPr lang="en-US" sz="1150" dirty="0">
                <a:solidFill>
                  <a:srgbClr val="8A96A8"/>
                </a:solidFill>
                <a:latin typeface="Calibri" pitchFamily="34" charset="0"/>
                <a:ea typeface="Calibri" pitchFamily="34" charset="-122"/>
                <a:cs typeface="Calibri" pitchFamily="34" charset="-120"/>
              </a:rPr>
              <a:t>do the work</a:t>
            </a:r>
            <a:endParaRPr lang="en-US" sz="1150" dirty="0"/>
          </a:p>
        </p:txBody>
      </p:sp>
      <p:sp>
        <p:nvSpPr>
          <p:cNvPr id="32" name="Shape 30"/>
          <p:cNvSpPr/>
          <p:nvPr/>
        </p:nvSpPr>
        <p:spPr>
          <a:xfrm>
            <a:off x="8503920" y="2907792"/>
            <a:ext cx="3154680" cy="960120"/>
          </a:xfrm>
          <a:prstGeom prst="roundRect">
            <a:avLst>
              <a:gd name="adj" fmla="val 7619"/>
            </a:avLst>
          </a:prstGeom>
          <a:solidFill>
            <a:srgbClr val="1B212C"/>
          </a:solidFill>
          <a:ln w="12700">
            <a:solidFill>
              <a:srgbClr val="2C3441"/>
            </a:solidFill>
            <a:prstDash val="solid"/>
          </a:ln>
        </p:spPr>
      </p:sp>
      <p:sp>
        <p:nvSpPr>
          <p:cNvPr id="33" name="Text 31"/>
          <p:cNvSpPr/>
          <p:nvPr/>
        </p:nvSpPr>
        <p:spPr>
          <a:xfrm>
            <a:off x="8686800" y="3017520"/>
            <a:ext cx="2788920" cy="320040"/>
          </a:xfrm>
          <a:prstGeom prst="rect">
            <a:avLst/>
          </a:prstGeom>
          <a:noFill/>
          <a:ln/>
        </p:spPr>
        <p:txBody>
          <a:bodyPr wrap="square" rtlCol="0" anchor="ctr"/>
          <a:lstStyle/>
          <a:p>
            <a:pPr marL="0" indent="0">
              <a:buNone/>
            </a:pPr>
            <a:r>
              <a:rPr lang="en-US" sz="1350" b="1" dirty="0">
                <a:solidFill>
                  <a:srgbClr val="2DD4BF"/>
                </a:solidFill>
                <a:latin typeface="Calibri" pitchFamily="34" charset="0"/>
                <a:ea typeface="Calibri" pitchFamily="34" charset="-122"/>
                <a:cs typeface="Calibri" pitchFamily="34" charset="-120"/>
              </a:rPr>
              <a:t>EDGES</a:t>
            </a:r>
            <a:endParaRPr lang="en-US" sz="1350" dirty="0"/>
          </a:p>
        </p:txBody>
      </p:sp>
      <p:sp>
        <p:nvSpPr>
          <p:cNvPr id="34" name="Text 32"/>
          <p:cNvSpPr/>
          <p:nvPr/>
        </p:nvSpPr>
        <p:spPr>
          <a:xfrm>
            <a:off x="8686800" y="3364992"/>
            <a:ext cx="2788920" cy="457200"/>
          </a:xfrm>
          <a:prstGeom prst="rect">
            <a:avLst/>
          </a:prstGeom>
          <a:noFill/>
          <a:ln/>
        </p:spPr>
        <p:txBody>
          <a:bodyPr wrap="square" rtlCol="0" anchor="t"/>
          <a:lstStyle/>
          <a:p>
            <a:pPr marL="0" indent="0">
              <a:buNone/>
            </a:pPr>
            <a:r>
              <a:rPr lang="en-US" sz="1150" dirty="0">
                <a:solidFill>
                  <a:srgbClr val="8A96A8"/>
                </a:solidFill>
                <a:latin typeface="Calibri" pitchFamily="34" charset="0"/>
                <a:ea typeface="Calibri" pitchFamily="34" charset="-122"/>
                <a:cs typeface="Calibri" pitchFamily="34" charset="-120"/>
              </a:rPr>
              <a:t>control the flow</a:t>
            </a:r>
            <a:endParaRPr lang="en-US" sz="1150" dirty="0"/>
          </a:p>
        </p:txBody>
      </p:sp>
      <p:sp>
        <p:nvSpPr>
          <p:cNvPr id="35" name="Shape 33"/>
          <p:cNvSpPr/>
          <p:nvPr/>
        </p:nvSpPr>
        <p:spPr>
          <a:xfrm>
            <a:off x="8503920" y="4078224"/>
            <a:ext cx="3154680" cy="960120"/>
          </a:xfrm>
          <a:prstGeom prst="roundRect">
            <a:avLst>
              <a:gd name="adj" fmla="val 7619"/>
            </a:avLst>
          </a:prstGeom>
          <a:solidFill>
            <a:srgbClr val="1B212C"/>
          </a:solidFill>
          <a:ln w="12700">
            <a:solidFill>
              <a:srgbClr val="2C3441"/>
            </a:solidFill>
            <a:prstDash val="solid"/>
          </a:ln>
        </p:spPr>
      </p:sp>
      <p:sp>
        <p:nvSpPr>
          <p:cNvPr id="36" name="Text 34"/>
          <p:cNvSpPr/>
          <p:nvPr/>
        </p:nvSpPr>
        <p:spPr>
          <a:xfrm>
            <a:off x="8686800" y="4187952"/>
            <a:ext cx="2788920" cy="320040"/>
          </a:xfrm>
          <a:prstGeom prst="rect">
            <a:avLst/>
          </a:prstGeom>
          <a:noFill/>
          <a:ln/>
        </p:spPr>
        <p:txBody>
          <a:bodyPr wrap="square" rtlCol="0" anchor="ctr"/>
          <a:lstStyle/>
          <a:p>
            <a:pPr marL="0" indent="0">
              <a:buNone/>
            </a:pPr>
            <a:r>
              <a:rPr lang="en-US" sz="1350" b="1" dirty="0">
                <a:solidFill>
                  <a:srgbClr val="2DD4BF"/>
                </a:solidFill>
                <a:latin typeface="Calibri" pitchFamily="34" charset="0"/>
                <a:ea typeface="Calibri" pitchFamily="34" charset="-122"/>
                <a:cs typeface="Calibri" pitchFamily="34" charset="-120"/>
              </a:rPr>
              <a:t>STATE</a:t>
            </a:r>
            <a:endParaRPr lang="en-US" sz="1350" dirty="0"/>
          </a:p>
        </p:txBody>
      </p:sp>
      <p:sp>
        <p:nvSpPr>
          <p:cNvPr id="37" name="Text 35"/>
          <p:cNvSpPr/>
          <p:nvPr/>
        </p:nvSpPr>
        <p:spPr>
          <a:xfrm>
            <a:off x="8686800" y="4535424"/>
            <a:ext cx="2788920" cy="457200"/>
          </a:xfrm>
          <a:prstGeom prst="rect">
            <a:avLst/>
          </a:prstGeom>
          <a:noFill/>
          <a:ln/>
        </p:spPr>
        <p:txBody>
          <a:bodyPr wrap="square" rtlCol="0" anchor="t"/>
          <a:lstStyle/>
          <a:p>
            <a:pPr marL="0" indent="0">
              <a:buNone/>
            </a:pPr>
            <a:r>
              <a:rPr lang="en-US" sz="1150" dirty="0">
                <a:solidFill>
                  <a:srgbClr val="8A96A8"/>
                </a:solidFill>
                <a:latin typeface="Calibri" pitchFamily="34" charset="0"/>
                <a:ea typeface="Calibri" pitchFamily="34" charset="-122"/>
                <a:cs typeface="Calibri" pitchFamily="34" charset="-120"/>
              </a:rPr>
              <a:t>information shared between every node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51C"/>
        </a:solidFill>
        <a:effectLst/>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B6577"/>
                </a:solidFill>
                <a:latin typeface="Calibri" pitchFamily="34" charset="0"/>
                <a:ea typeface="Calibri" pitchFamily="34" charset="-122"/>
                <a:cs typeface="Calibri" pitchFamily="34" charset="-120"/>
              </a:rPr>
              <a:t>LangGraph — SE Lab</a:t>
            </a:r>
            <a:endParaRPr lang="en-US" sz="900" dirty="0"/>
          </a:p>
        </p:txBody>
      </p:sp>
      <p:sp>
        <p:nvSpPr>
          <p:cNvPr id="3" name="Text 1"/>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548640" y="164592"/>
            <a:ext cx="11094415" cy="274320"/>
          </a:xfrm>
          <a:prstGeom prst="rect">
            <a:avLst/>
          </a:prstGeom>
          <a:noFill/>
          <a:ln/>
        </p:spPr>
        <p:txBody>
          <a:bodyPr wrap="square" rtlCol="0" anchor="ctr"/>
          <a:lstStyle/>
          <a:p>
            <a:pPr marL="0" indent="0">
              <a:buNone/>
            </a:pPr>
            <a:r>
              <a:rPr lang="en-US" sz="1100" b="1" kern="0" spc="200" dirty="0">
                <a:solidFill>
                  <a:srgbClr val="2DD4BF"/>
                </a:solidFill>
                <a:latin typeface="Calibri" pitchFamily="34" charset="0"/>
                <a:ea typeface="Calibri" pitchFamily="34" charset="-122"/>
                <a:cs typeface="Calibri" pitchFamily="34" charset="-120"/>
              </a:rPr>
              <a:t>CORE CONCEPTS</a:t>
            </a:r>
            <a:endParaRPr lang="en-US" sz="1100" dirty="0"/>
          </a:p>
        </p:txBody>
      </p:sp>
      <p:sp>
        <p:nvSpPr>
          <p:cNvPr id="5" name="Text 3"/>
          <p:cNvSpPr/>
          <p:nvPr/>
        </p:nvSpPr>
        <p:spPr>
          <a:xfrm>
            <a:off x="548640" y="384048"/>
            <a:ext cx="11094415" cy="685800"/>
          </a:xfrm>
          <a:prstGeom prst="rect">
            <a:avLst/>
          </a:prstGeom>
          <a:noFill/>
          <a:ln/>
        </p:spPr>
        <p:txBody>
          <a:bodyPr wrap="square" rtlCol="0" anchor="ctr"/>
          <a:lstStyle/>
          <a:p>
            <a:pPr marL="0" indent="0" algn="l">
              <a:buNone/>
            </a:pPr>
            <a:r>
              <a:rPr lang="en-US" sz="3000" b="1" dirty="0">
                <a:solidFill>
                  <a:srgbClr val="F2F5F8"/>
                </a:solidFill>
                <a:latin typeface="Calibri" pitchFamily="34" charset="0"/>
                <a:ea typeface="Calibri" pitchFamily="34" charset="-122"/>
                <a:cs typeface="Calibri" pitchFamily="34" charset="-120"/>
              </a:rPr>
              <a:t>The Three Building Blocks</a:t>
            </a:r>
            <a:endParaRPr lang="en-US" sz="3000" dirty="0"/>
          </a:p>
        </p:txBody>
      </p:sp>
      <p:sp>
        <p:nvSpPr>
          <p:cNvPr id="6" name="Shape 4"/>
          <p:cNvSpPr/>
          <p:nvPr/>
        </p:nvSpPr>
        <p:spPr>
          <a:xfrm>
            <a:off x="548640" y="1371600"/>
            <a:ext cx="3520440" cy="4709160"/>
          </a:xfrm>
          <a:prstGeom prst="roundRect">
            <a:avLst>
              <a:gd name="adj" fmla="val 2338"/>
            </a:avLst>
          </a:prstGeom>
          <a:solidFill>
            <a:srgbClr val="1B212C"/>
          </a:solidFill>
          <a:ln w="12700">
            <a:solidFill>
              <a:srgbClr val="2C3441"/>
            </a:solidFill>
            <a:prstDash val="solid"/>
          </a:ln>
          <a:effectLst>
            <a:outerShdw blurRad="76200" dist="25400" dir="5400000" algn="bl" rotWithShape="0">
              <a:srgbClr val="000000">
                <a:alpha val="30000"/>
              </a:srgbClr>
            </a:outerShdw>
          </a:effectLst>
        </p:spPr>
      </p:sp>
      <p:sp>
        <p:nvSpPr>
          <p:cNvPr id="7" name="Shape 5"/>
          <p:cNvSpPr/>
          <p:nvPr/>
        </p:nvSpPr>
        <p:spPr>
          <a:xfrm>
            <a:off x="804672" y="1627632"/>
            <a:ext cx="1371600" cy="402336"/>
          </a:xfrm>
          <a:prstGeom prst="roundRect">
            <a:avLst>
              <a:gd name="adj" fmla="val 50000"/>
            </a:avLst>
          </a:prstGeom>
          <a:solidFill>
            <a:srgbClr val="1B4B47"/>
          </a:solidFill>
          <a:ln w="12700">
            <a:solidFill>
              <a:srgbClr val="2DD4BF"/>
            </a:solidFill>
            <a:prstDash val="solid"/>
          </a:ln>
        </p:spPr>
      </p:sp>
      <p:sp>
        <p:nvSpPr>
          <p:cNvPr id="8" name="Text 6"/>
          <p:cNvSpPr/>
          <p:nvPr/>
        </p:nvSpPr>
        <p:spPr>
          <a:xfrm>
            <a:off x="804672" y="1627632"/>
            <a:ext cx="1371600" cy="402336"/>
          </a:xfrm>
          <a:prstGeom prst="rect">
            <a:avLst/>
          </a:prstGeom>
          <a:noFill/>
          <a:ln/>
        </p:spPr>
        <p:txBody>
          <a:bodyPr wrap="square" rtlCol="0" anchor="ctr"/>
          <a:lstStyle/>
          <a:p>
            <a:pPr marL="0" indent="0" algn="ctr">
              <a:buNone/>
            </a:pPr>
            <a:r>
              <a:rPr lang="en-US" sz="1300" b="1" kern="0" spc="100" dirty="0">
                <a:solidFill>
                  <a:srgbClr val="2DD4BF"/>
                </a:solidFill>
                <a:latin typeface="Calibri" pitchFamily="34" charset="0"/>
                <a:ea typeface="Calibri" pitchFamily="34" charset="-122"/>
                <a:cs typeface="Calibri" pitchFamily="34" charset="-120"/>
              </a:rPr>
              <a:t>STATE</a:t>
            </a:r>
            <a:endParaRPr lang="en-US" sz="1300" dirty="0"/>
          </a:p>
        </p:txBody>
      </p:sp>
      <p:sp>
        <p:nvSpPr>
          <p:cNvPr id="9" name="Text 7"/>
          <p:cNvSpPr/>
          <p:nvPr/>
        </p:nvSpPr>
        <p:spPr>
          <a:xfrm>
            <a:off x="804672" y="2194560"/>
            <a:ext cx="3008376" cy="777240"/>
          </a:xfrm>
          <a:prstGeom prst="rect">
            <a:avLst/>
          </a:prstGeom>
          <a:noFill/>
          <a:ln/>
        </p:spPr>
        <p:txBody>
          <a:bodyPr wrap="square" rtlCol="0" anchor="t"/>
          <a:lstStyle/>
          <a:p>
            <a:pPr marL="0" indent="0">
              <a:buNone/>
            </a:pPr>
            <a:r>
              <a:rPr lang="en-US" sz="1300" dirty="0">
                <a:solidFill>
                  <a:srgbClr val="F2F5F8"/>
                </a:solidFill>
                <a:latin typeface="Calibri" pitchFamily="34" charset="0"/>
                <a:ea typeface="Calibri" pitchFamily="34" charset="-122"/>
                <a:cs typeface="Calibri" pitchFamily="34" charset="-120"/>
              </a:rPr>
              <a:t>Shared information flowing through the graph.</a:t>
            </a:r>
            <a:endParaRPr lang="en-US" sz="1300" dirty="0"/>
          </a:p>
        </p:txBody>
      </p:sp>
      <p:sp>
        <p:nvSpPr>
          <p:cNvPr id="10" name="Shape 8"/>
          <p:cNvSpPr/>
          <p:nvPr/>
        </p:nvSpPr>
        <p:spPr>
          <a:xfrm>
            <a:off x="804672" y="3063240"/>
            <a:ext cx="3008376" cy="1234440"/>
          </a:xfrm>
          <a:prstGeom prst="roundRect">
            <a:avLst>
              <a:gd name="adj" fmla="val 5185"/>
            </a:avLst>
          </a:prstGeom>
          <a:solidFill>
            <a:srgbClr val="0B0E13"/>
          </a:solidFill>
          <a:ln w="12700">
            <a:solidFill>
              <a:srgbClr val="2C3441"/>
            </a:solidFill>
            <a:prstDash val="solid"/>
          </a:ln>
        </p:spPr>
      </p:sp>
      <p:sp>
        <p:nvSpPr>
          <p:cNvPr id="11" name="Text 9"/>
          <p:cNvSpPr/>
          <p:nvPr/>
        </p:nvSpPr>
        <p:spPr>
          <a:xfrm>
            <a:off x="969264" y="3172968"/>
            <a:ext cx="2679192" cy="1014984"/>
          </a:xfrm>
          <a:prstGeom prst="rect">
            <a:avLst/>
          </a:prstGeom>
          <a:noFill/>
          <a:ln/>
        </p:spPr>
        <p:txBody>
          <a:bodyPr wrap="square" rtlCol="0" anchor="t"/>
          <a:lstStyle/>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class State(TypedDict):</a:t>
            </a: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    question: str</a:t>
            </a: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    response: str</a:t>
            </a:r>
            <a:endParaRPr lang="en-US" sz="1100" dirty="0"/>
          </a:p>
        </p:txBody>
      </p:sp>
      <p:sp>
        <p:nvSpPr>
          <p:cNvPr id="12" name="Shape 10"/>
          <p:cNvSpPr/>
          <p:nvPr/>
        </p:nvSpPr>
        <p:spPr>
          <a:xfrm>
            <a:off x="4334256" y="1371600"/>
            <a:ext cx="3520440" cy="4709160"/>
          </a:xfrm>
          <a:prstGeom prst="roundRect">
            <a:avLst>
              <a:gd name="adj" fmla="val 2338"/>
            </a:avLst>
          </a:prstGeom>
          <a:solidFill>
            <a:srgbClr val="1B212C"/>
          </a:solidFill>
          <a:ln w="12700">
            <a:solidFill>
              <a:srgbClr val="2C3441"/>
            </a:solidFill>
            <a:prstDash val="solid"/>
          </a:ln>
          <a:effectLst>
            <a:outerShdw blurRad="76200" dist="25400" dir="5400000" algn="bl" rotWithShape="0">
              <a:srgbClr val="000000">
                <a:alpha val="30000"/>
              </a:srgbClr>
            </a:outerShdw>
          </a:effectLst>
        </p:spPr>
      </p:sp>
      <p:sp>
        <p:nvSpPr>
          <p:cNvPr id="13" name="Shape 11"/>
          <p:cNvSpPr/>
          <p:nvPr/>
        </p:nvSpPr>
        <p:spPr>
          <a:xfrm>
            <a:off x="4590288" y="1627632"/>
            <a:ext cx="1371600" cy="402336"/>
          </a:xfrm>
          <a:prstGeom prst="roundRect">
            <a:avLst>
              <a:gd name="adj" fmla="val 50000"/>
            </a:avLst>
          </a:prstGeom>
          <a:solidFill>
            <a:srgbClr val="1B4B47"/>
          </a:solidFill>
          <a:ln w="12700">
            <a:solidFill>
              <a:srgbClr val="2DD4BF"/>
            </a:solidFill>
            <a:prstDash val="solid"/>
          </a:ln>
        </p:spPr>
      </p:sp>
      <p:sp>
        <p:nvSpPr>
          <p:cNvPr id="14" name="Text 12"/>
          <p:cNvSpPr/>
          <p:nvPr/>
        </p:nvSpPr>
        <p:spPr>
          <a:xfrm>
            <a:off x="4590288" y="1627632"/>
            <a:ext cx="1371600" cy="402336"/>
          </a:xfrm>
          <a:prstGeom prst="rect">
            <a:avLst/>
          </a:prstGeom>
          <a:noFill/>
          <a:ln/>
        </p:spPr>
        <p:txBody>
          <a:bodyPr wrap="square" rtlCol="0" anchor="ctr"/>
          <a:lstStyle/>
          <a:p>
            <a:pPr marL="0" indent="0" algn="ctr">
              <a:buNone/>
            </a:pPr>
            <a:r>
              <a:rPr lang="en-US" sz="1300" b="1" kern="0" spc="100" dirty="0">
                <a:solidFill>
                  <a:srgbClr val="2DD4BF"/>
                </a:solidFill>
                <a:latin typeface="Calibri" pitchFamily="34" charset="0"/>
                <a:ea typeface="Calibri" pitchFamily="34" charset="-122"/>
                <a:cs typeface="Calibri" pitchFamily="34" charset="-120"/>
              </a:rPr>
              <a:t>NODE</a:t>
            </a:r>
            <a:endParaRPr lang="en-US" sz="1300" dirty="0"/>
          </a:p>
        </p:txBody>
      </p:sp>
      <p:sp>
        <p:nvSpPr>
          <p:cNvPr id="15" name="Text 13"/>
          <p:cNvSpPr/>
          <p:nvPr/>
        </p:nvSpPr>
        <p:spPr>
          <a:xfrm>
            <a:off x="4590288" y="2194560"/>
            <a:ext cx="3008376" cy="777240"/>
          </a:xfrm>
          <a:prstGeom prst="rect">
            <a:avLst/>
          </a:prstGeom>
          <a:noFill/>
          <a:ln/>
        </p:spPr>
        <p:txBody>
          <a:bodyPr wrap="square" rtlCol="0" anchor="t"/>
          <a:lstStyle/>
          <a:p>
            <a:pPr marL="0" indent="0">
              <a:buNone/>
            </a:pPr>
            <a:r>
              <a:rPr lang="en-US" sz="1300" dirty="0">
                <a:solidFill>
                  <a:srgbClr val="F2F5F8"/>
                </a:solidFill>
                <a:latin typeface="Calibri" pitchFamily="34" charset="0"/>
                <a:ea typeface="Calibri" pitchFamily="34" charset="-122"/>
                <a:cs typeface="Calibri" pitchFamily="34" charset="-120"/>
              </a:rPr>
              <a:t>A unit of work — a plain Python function.</a:t>
            </a:r>
            <a:endParaRPr lang="en-US" sz="1300" dirty="0"/>
          </a:p>
        </p:txBody>
      </p:sp>
      <p:sp>
        <p:nvSpPr>
          <p:cNvPr id="16" name="Shape 14"/>
          <p:cNvSpPr/>
          <p:nvPr/>
        </p:nvSpPr>
        <p:spPr>
          <a:xfrm>
            <a:off x="4590288" y="3063240"/>
            <a:ext cx="3008376" cy="1234440"/>
          </a:xfrm>
          <a:prstGeom prst="roundRect">
            <a:avLst>
              <a:gd name="adj" fmla="val 5185"/>
            </a:avLst>
          </a:prstGeom>
          <a:solidFill>
            <a:srgbClr val="0B0E13"/>
          </a:solidFill>
          <a:ln w="12700">
            <a:solidFill>
              <a:srgbClr val="2C3441"/>
            </a:solidFill>
            <a:prstDash val="solid"/>
          </a:ln>
        </p:spPr>
      </p:sp>
      <p:sp>
        <p:nvSpPr>
          <p:cNvPr id="17" name="Text 15"/>
          <p:cNvSpPr/>
          <p:nvPr/>
        </p:nvSpPr>
        <p:spPr>
          <a:xfrm>
            <a:off x="4754880" y="3172968"/>
            <a:ext cx="2679192" cy="1014984"/>
          </a:xfrm>
          <a:prstGeom prst="rect">
            <a:avLst/>
          </a:prstGeom>
          <a:noFill/>
          <a:ln/>
        </p:spPr>
        <p:txBody>
          <a:bodyPr wrap="square" rtlCol="0" anchor="t"/>
          <a:lstStyle/>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def process(state):</a:t>
            </a: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    return {</a:t>
            </a: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        "response": "..."</a:t>
            </a: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    }</a:t>
            </a:r>
            <a:endParaRPr lang="en-US" sz="1100" dirty="0"/>
          </a:p>
        </p:txBody>
      </p:sp>
      <p:sp>
        <p:nvSpPr>
          <p:cNvPr id="18" name="Shape 16"/>
          <p:cNvSpPr/>
          <p:nvPr/>
        </p:nvSpPr>
        <p:spPr>
          <a:xfrm>
            <a:off x="8119872" y="1371600"/>
            <a:ext cx="3520440" cy="4709160"/>
          </a:xfrm>
          <a:prstGeom prst="roundRect">
            <a:avLst>
              <a:gd name="adj" fmla="val 2338"/>
            </a:avLst>
          </a:prstGeom>
          <a:solidFill>
            <a:srgbClr val="1B212C"/>
          </a:solidFill>
          <a:ln w="12700">
            <a:solidFill>
              <a:srgbClr val="2C3441"/>
            </a:solidFill>
            <a:prstDash val="solid"/>
          </a:ln>
          <a:effectLst>
            <a:outerShdw blurRad="76200" dist="25400" dir="5400000" algn="bl" rotWithShape="0">
              <a:srgbClr val="000000">
                <a:alpha val="30000"/>
              </a:srgbClr>
            </a:outerShdw>
          </a:effectLst>
        </p:spPr>
      </p:sp>
      <p:sp>
        <p:nvSpPr>
          <p:cNvPr id="19" name="Shape 17"/>
          <p:cNvSpPr/>
          <p:nvPr/>
        </p:nvSpPr>
        <p:spPr>
          <a:xfrm>
            <a:off x="8375904" y="1627632"/>
            <a:ext cx="1371600" cy="402336"/>
          </a:xfrm>
          <a:prstGeom prst="roundRect">
            <a:avLst>
              <a:gd name="adj" fmla="val 50000"/>
            </a:avLst>
          </a:prstGeom>
          <a:solidFill>
            <a:srgbClr val="1B4B47"/>
          </a:solidFill>
          <a:ln w="12700">
            <a:solidFill>
              <a:srgbClr val="2DD4BF"/>
            </a:solidFill>
            <a:prstDash val="solid"/>
          </a:ln>
        </p:spPr>
      </p:sp>
      <p:sp>
        <p:nvSpPr>
          <p:cNvPr id="20" name="Text 18"/>
          <p:cNvSpPr/>
          <p:nvPr/>
        </p:nvSpPr>
        <p:spPr>
          <a:xfrm>
            <a:off x="8375904" y="1627632"/>
            <a:ext cx="1371600" cy="402336"/>
          </a:xfrm>
          <a:prstGeom prst="rect">
            <a:avLst/>
          </a:prstGeom>
          <a:noFill/>
          <a:ln/>
        </p:spPr>
        <p:txBody>
          <a:bodyPr wrap="square" rtlCol="0" anchor="ctr"/>
          <a:lstStyle/>
          <a:p>
            <a:pPr marL="0" indent="0" algn="ctr">
              <a:buNone/>
            </a:pPr>
            <a:r>
              <a:rPr lang="en-US" sz="1300" b="1" kern="0" spc="100" dirty="0">
                <a:solidFill>
                  <a:srgbClr val="2DD4BF"/>
                </a:solidFill>
                <a:latin typeface="Calibri" pitchFamily="34" charset="0"/>
                <a:ea typeface="Calibri" pitchFamily="34" charset="-122"/>
                <a:cs typeface="Calibri" pitchFamily="34" charset="-120"/>
              </a:rPr>
              <a:t>EDGE</a:t>
            </a:r>
            <a:endParaRPr lang="en-US" sz="1300" dirty="0"/>
          </a:p>
        </p:txBody>
      </p:sp>
      <p:sp>
        <p:nvSpPr>
          <p:cNvPr id="21" name="Text 19"/>
          <p:cNvSpPr/>
          <p:nvPr/>
        </p:nvSpPr>
        <p:spPr>
          <a:xfrm>
            <a:off x="8375904" y="2194560"/>
            <a:ext cx="3008376" cy="777240"/>
          </a:xfrm>
          <a:prstGeom prst="rect">
            <a:avLst/>
          </a:prstGeom>
          <a:noFill/>
          <a:ln/>
        </p:spPr>
        <p:txBody>
          <a:bodyPr wrap="square" rtlCol="0" anchor="t"/>
          <a:lstStyle/>
          <a:p>
            <a:pPr marL="0" indent="0">
              <a:buNone/>
            </a:pPr>
            <a:r>
              <a:rPr lang="en-US" sz="1300" dirty="0">
                <a:solidFill>
                  <a:srgbClr val="F2F5F8"/>
                </a:solidFill>
                <a:latin typeface="Calibri" pitchFamily="34" charset="0"/>
                <a:ea typeface="Calibri" pitchFamily="34" charset="-122"/>
                <a:cs typeface="Calibri" pitchFamily="34" charset="-120"/>
              </a:rPr>
              <a:t>Determines what runs next.</a:t>
            </a:r>
            <a:endParaRPr lang="en-US" sz="1300" dirty="0"/>
          </a:p>
        </p:txBody>
      </p:sp>
      <p:sp>
        <p:nvSpPr>
          <p:cNvPr id="22" name="Shape 20"/>
          <p:cNvSpPr/>
          <p:nvPr/>
        </p:nvSpPr>
        <p:spPr>
          <a:xfrm>
            <a:off x="8375904" y="3063240"/>
            <a:ext cx="3008376" cy="1234440"/>
          </a:xfrm>
          <a:prstGeom prst="roundRect">
            <a:avLst>
              <a:gd name="adj" fmla="val 5185"/>
            </a:avLst>
          </a:prstGeom>
          <a:solidFill>
            <a:srgbClr val="0B0E13"/>
          </a:solidFill>
          <a:ln w="12700">
            <a:solidFill>
              <a:srgbClr val="2C3441"/>
            </a:solidFill>
            <a:prstDash val="solid"/>
          </a:ln>
        </p:spPr>
      </p:sp>
      <p:sp>
        <p:nvSpPr>
          <p:cNvPr id="23" name="Text 21"/>
          <p:cNvSpPr/>
          <p:nvPr/>
        </p:nvSpPr>
        <p:spPr>
          <a:xfrm>
            <a:off x="8540496" y="3172968"/>
            <a:ext cx="2679192" cy="1014984"/>
          </a:xfrm>
          <a:prstGeom prst="rect">
            <a:avLst/>
          </a:prstGeom>
          <a:noFill/>
          <a:ln/>
        </p:spPr>
        <p:txBody>
          <a:bodyPr wrap="square" rtlCol="0" anchor="t"/>
          <a:lstStyle/>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graph.add_edge("A", "B")</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 conditional:</a:t>
            </a: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graph.add_conditional_edges(</a:t>
            </a: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    "A", router</a:t>
            </a: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a:t>
            </a:r>
            <a:endParaRPr lang="en-US" sz="1100" dirty="0"/>
          </a:p>
        </p:txBody>
      </p:sp>
      <p:sp>
        <p:nvSpPr>
          <p:cNvPr id="24" name="Text 22"/>
          <p:cNvSpPr/>
          <p:nvPr/>
        </p:nvSpPr>
        <p:spPr>
          <a:xfrm>
            <a:off x="8375904" y="4617720"/>
            <a:ext cx="3008376" cy="320040"/>
          </a:xfrm>
          <a:prstGeom prst="rect">
            <a:avLst/>
          </a:prstGeom>
          <a:noFill/>
          <a:ln/>
        </p:spPr>
        <p:txBody>
          <a:bodyPr wrap="square" rtlCol="0" anchor="ctr"/>
          <a:lstStyle/>
          <a:p>
            <a:pPr marL="0" indent="0" algn="ctr">
              <a:buNone/>
            </a:pPr>
            <a:r>
              <a:rPr lang="en-US" sz="1300" dirty="0">
                <a:solidFill>
                  <a:srgbClr val="8A96A8"/>
                </a:solidFill>
                <a:latin typeface="Courier New" pitchFamily="34" charset="0"/>
                <a:ea typeface="Courier New" pitchFamily="34" charset="-122"/>
                <a:cs typeface="Courier New" pitchFamily="34" charset="-120"/>
              </a:rPr>
              <a:t>A → B</a:t>
            </a:r>
            <a:endParaRPr lang="en-US" sz="1300" dirty="0"/>
          </a:p>
        </p:txBody>
      </p:sp>
      <p:sp>
        <p:nvSpPr>
          <p:cNvPr id="25" name="Text 23"/>
          <p:cNvSpPr/>
          <p:nvPr/>
        </p:nvSpPr>
        <p:spPr>
          <a:xfrm>
            <a:off x="8375904" y="5029200"/>
            <a:ext cx="3008376" cy="640080"/>
          </a:xfrm>
          <a:prstGeom prst="rect">
            <a:avLst/>
          </a:prstGeom>
          <a:noFill/>
          <a:ln/>
        </p:spPr>
        <p:txBody>
          <a:bodyPr wrap="square" rtlCol="0" anchor="t"/>
          <a:lstStyle/>
          <a:p>
            <a:pPr marL="0" indent="0" algn="ctr">
              <a:buNone/>
            </a:pPr>
            <a:r>
              <a:rPr lang="en-US" sz="1200" dirty="0">
                <a:solidFill>
                  <a:srgbClr val="2DD4BF"/>
                </a:solidFill>
                <a:latin typeface="Courier New" pitchFamily="34" charset="0"/>
                <a:ea typeface="Courier New" pitchFamily="34" charset="-122"/>
                <a:cs typeface="Courier New" pitchFamily="34" charset="-120"/>
              </a:rPr>
              <a:t>A → B (yes)</a:t>
            </a:r>
            <a:endParaRPr lang="en-US" sz="1200" dirty="0"/>
          </a:p>
          <a:p>
            <a:pPr marL="0" indent="0" algn="ctr">
              <a:buNone/>
            </a:pPr>
            <a:r>
              <a:rPr lang="en-US" sz="1200" dirty="0">
                <a:solidFill>
                  <a:srgbClr val="2DD4BF"/>
                </a:solidFill>
                <a:latin typeface="Courier New" pitchFamily="34" charset="0"/>
                <a:ea typeface="Courier New" pitchFamily="34" charset="-122"/>
                <a:cs typeface="Courier New" pitchFamily="34" charset="-120"/>
              </a:rPr>
              <a:t>   → C (no)</a:t>
            </a:r>
            <a:endParaRPr lang="en-US" sz="1200" dirty="0"/>
          </a:p>
        </p:txBody>
      </p:sp>
      <p:sp>
        <p:nvSpPr>
          <p:cNvPr id="26" name="Text 24"/>
          <p:cNvSpPr/>
          <p:nvPr/>
        </p:nvSpPr>
        <p:spPr>
          <a:xfrm>
            <a:off x="8375904" y="5669280"/>
            <a:ext cx="3008376" cy="320040"/>
          </a:xfrm>
          <a:prstGeom prst="rect">
            <a:avLst/>
          </a:prstGeom>
          <a:noFill/>
          <a:ln/>
        </p:spPr>
        <p:txBody>
          <a:bodyPr wrap="square" rtlCol="0" anchor="ctr"/>
          <a:lstStyle/>
          <a:p>
            <a:pPr marL="0" indent="0" algn="ctr">
              <a:buNone/>
            </a:pPr>
            <a:r>
              <a:rPr lang="en-US" sz="950" i="1" dirty="0">
                <a:solidFill>
                  <a:srgbClr val="8A96A8"/>
                </a:solidFill>
                <a:latin typeface="Calibri" pitchFamily="34" charset="0"/>
                <a:ea typeface="Calibri" pitchFamily="34" charset="-122"/>
                <a:cs typeface="Calibri" pitchFamily="34" charset="-120"/>
              </a:rPr>
              <a:t>conditional edge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51C"/>
        </a:solidFill>
        <a:effectLst/>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B6577"/>
                </a:solidFill>
                <a:latin typeface="Calibri" pitchFamily="34" charset="0"/>
                <a:ea typeface="Calibri" pitchFamily="34" charset="-122"/>
                <a:cs typeface="Calibri" pitchFamily="34" charset="-120"/>
              </a:rPr>
              <a:t>LangGraph — SE Lab</a:t>
            </a:r>
            <a:endParaRPr lang="en-US" sz="900" dirty="0"/>
          </a:p>
        </p:txBody>
      </p:sp>
      <p:sp>
        <p:nvSpPr>
          <p:cNvPr id="3" name="Text 1"/>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548640" y="164592"/>
            <a:ext cx="11094415" cy="274320"/>
          </a:xfrm>
          <a:prstGeom prst="rect">
            <a:avLst/>
          </a:prstGeom>
          <a:noFill/>
          <a:ln/>
        </p:spPr>
        <p:txBody>
          <a:bodyPr wrap="square" rtlCol="0" anchor="ctr"/>
          <a:lstStyle/>
          <a:p>
            <a:pPr marL="0" indent="0">
              <a:buNone/>
            </a:pPr>
            <a:r>
              <a:rPr lang="en-US" sz="1100" b="1" kern="0" spc="200" dirty="0">
                <a:solidFill>
                  <a:srgbClr val="2DD4BF"/>
                </a:solidFill>
                <a:latin typeface="Calibri" pitchFamily="34" charset="0"/>
                <a:ea typeface="Calibri" pitchFamily="34" charset="-122"/>
                <a:cs typeface="Calibri" pitchFamily="34" charset="-120"/>
              </a:rPr>
              <a:t>WORKED EXAMPLE</a:t>
            </a:r>
            <a:endParaRPr lang="en-US" sz="1100" dirty="0"/>
          </a:p>
        </p:txBody>
      </p:sp>
      <p:sp>
        <p:nvSpPr>
          <p:cNvPr id="5" name="Text 3"/>
          <p:cNvSpPr/>
          <p:nvPr/>
        </p:nvSpPr>
        <p:spPr>
          <a:xfrm>
            <a:off x="548640" y="384048"/>
            <a:ext cx="11094415" cy="685800"/>
          </a:xfrm>
          <a:prstGeom prst="rect">
            <a:avLst/>
          </a:prstGeom>
          <a:noFill/>
          <a:ln/>
        </p:spPr>
        <p:txBody>
          <a:bodyPr wrap="square" rtlCol="0" anchor="ctr"/>
          <a:lstStyle/>
          <a:p>
            <a:pPr marL="0" indent="0" algn="l">
              <a:buNone/>
            </a:pPr>
            <a:r>
              <a:rPr lang="en-US" sz="3000" b="1" dirty="0">
                <a:solidFill>
                  <a:srgbClr val="F2F5F8"/>
                </a:solidFill>
                <a:latin typeface="Calibri" pitchFamily="34" charset="0"/>
                <a:ea typeface="Calibri" pitchFamily="34" charset="-122"/>
                <a:cs typeface="Calibri" pitchFamily="34" charset="-120"/>
              </a:rPr>
              <a:t>Example: Student Query Assistant</a:t>
            </a:r>
            <a:endParaRPr lang="en-US" sz="3000" dirty="0"/>
          </a:p>
        </p:txBody>
      </p:sp>
      <p:sp>
        <p:nvSpPr>
          <p:cNvPr id="6" name="Shape 4"/>
          <p:cNvSpPr/>
          <p:nvPr/>
        </p:nvSpPr>
        <p:spPr>
          <a:xfrm>
            <a:off x="2651760" y="1234440"/>
            <a:ext cx="1188720" cy="438912"/>
          </a:xfrm>
          <a:prstGeom prst="roundRect">
            <a:avLst>
              <a:gd name="adj" fmla="val 50000"/>
            </a:avLst>
          </a:prstGeom>
          <a:solidFill>
            <a:srgbClr val="1B4B47"/>
          </a:solidFill>
          <a:ln w="15875">
            <a:solidFill>
              <a:srgbClr val="2DD4BF"/>
            </a:solidFill>
            <a:prstDash val="solid"/>
          </a:ln>
        </p:spPr>
      </p:sp>
      <p:sp>
        <p:nvSpPr>
          <p:cNvPr id="7" name="Text 5"/>
          <p:cNvSpPr/>
          <p:nvPr/>
        </p:nvSpPr>
        <p:spPr>
          <a:xfrm>
            <a:off x="2651760" y="1234440"/>
            <a:ext cx="1188720" cy="438912"/>
          </a:xfrm>
          <a:prstGeom prst="rect">
            <a:avLst/>
          </a:prstGeom>
          <a:noFill/>
          <a:ln/>
        </p:spPr>
        <p:txBody>
          <a:bodyPr wrap="square" rtlCol="0" anchor="ctr"/>
          <a:lstStyle/>
          <a:p>
            <a:pPr marL="0" indent="0" algn="ctr">
              <a:buNone/>
            </a:pPr>
            <a:r>
              <a:rPr lang="en-US" sz="1100" b="1" kern="0" spc="100" dirty="0">
                <a:solidFill>
                  <a:srgbClr val="2DD4BF"/>
                </a:solidFill>
                <a:latin typeface="Calibri" pitchFamily="34" charset="0"/>
                <a:ea typeface="Calibri" pitchFamily="34" charset="-122"/>
                <a:cs typeface="Calibri" pitchFamily="34" charset="-120"/>
              </a:rPr>
              <a:t>START</a:t>
            </a:r>
            <a:endParaRPr lang="en-US" sz="1100" dirty="0"/>
          </a:p>
        </p:txBody>
      </p:sp>
      <p:sp>
        <p:nvSpPr>
          <p:cNvPr id="8" name="Shape 6"/>
          <p:cNvSpPr/>
          <p:nvPr/>
        </p:nvSpPr>
        <p:spPr>
          <a:xfrm>
            <a:off x="3246120" y="1673352"/>
            <a:ext cx="0" cy="228600"/>
          </a:xfrm>
          <a:prstGeom prst="line">
            <a:avLst/>
          </a:prstGeom>
          <a:noFill/>
          <a:ln w="19050">
            <a:solidFill>
              <a:srgbClr val="8A96A8"/>
            </a:solidFill>
            <a:prstDash val="solid"/>
            <a:tailEnd type="triangle"/>
          </a:ln>
        </p:spPr>
      </p:sp>
      <p:sp>
        <p:nvSpPr>
          <p:cNvPr id="9" name="Shape 7"/>
          <p:cNvSpPr/>
          <p:nvPr/>
        </p:nvSpPr>
        <p:spPr>
          <a:xfrm>
            <a:off x="2331720" y="1901952"/>
            <a:ext cx="1828800" cy="502920"/>
          </a:xfrm>
          <a:prstGeom prst="roundRect">
            <a:avLst>
              <a:gd name="adj" fmla="val 14545"/>
            </a:avLst>
          </a:prstGeom>
          <a:solidFill>
            <a:srgbClr val="1B4B47"/>
          </a:solidFill>
          <a:ln w="15875">
            <a:solidFill>
              <a:srgbClr val="2DD4BF"/>
            </a:solidFill>
            <a:prstDash val="solid"/>
          </a:ln>
          <a:effectLst>
            <a:outerShdw blurRad="76200" dist="25400" dir="5400000" algn="bl" rotWithShape="0">
              <a:srgbClr val="000000">
                <a:alpha val="35000"/>
              </a:srgbClr>
            </a:outerShdw>
          </a:effectLst>
        </p:spPr>
      </p:sp>
      <p:sp>
        <p:nvSpPr>
          <p:cNvPr id="10" name="Text 8"/>
          <p:cNvSpPr/>
          <p:nvPr/>
        </p:nvSpPr>
        <p:spPr>
          <a:xfrm>
            <a:off x="2331720" y="1901952"/>
            <a:ext cx="1828800" cy="502920"/>
          </a:xfrm>
          <a:prstGeom prst="rect">
            <a:avLst/>
          </a:prstGeom>
          <a:noFill/>
          <a:ln/>
        </p:spPr>
        <p:txBody>
          <a:bodyPr wrap="square" rtlCol="0" anchor="ctr"/>
          <a:lstStyle/>
          <a:p>
            <a:pPr marL="0" indent="0" algn="ctr">
              <a:buNone/>
            </a:pPr>
            <a:r>
              <a:rPr lang="en-US" sz="1300" b="1" dirty="0">
                <a:solidFill>
                  <a:srgbClr val="2DD4BF"/>
                </a:solidFill>
                <a:latin typeface="Calibri" pitchFamily="34" charset="0"/>
                <a:ea typeface="Calibri" pitchFamily="34" charset="-122"/>
                <a:cs typeface="Calibri" pitchFamily="34" charset="-120"/>
              </a:rPr>
              <a:t>Classify</a:t>
            </a:r>
            <a:endParaRPr lang="en-US" sz="1300" dirty="0"/>
          </a:p>
        </p:txBody>
      </p:sp>
      <p:sp>
        <p:nvSpPr>
          <p:cNvPr id="11" name="Shape 9"/>
          <p:cNvSpPr/>
          <p:nvPr/>
        </p:nvSpPr>
        <p:spPr>
          <a:xfrm flipH="1">
            <a:off x="2240280" y="2404872"/>
            <a:ext cx="1005840" cy="292608"/>
          </a:xfrm>
          <a:prstGeom prst="line">
            <a:avLst/>
          </a:prstGeom>
          <a:noFill/>
          <a:ln w="19050">
            <a:solidFill>
              <a:srgbClr val="2DD4BF"/>
            </a:solidFill>
            <a:prstDash val="solid"/>
            <a:tailEnd type="triangle"/>
          </a:ln>
        </p:spPr>
      </p:sp>
      <p:sp>
        <p:nvSpPr>
          <p:cNvPr id="12" name="Shape 10"/>
          <p:cNvSpPr/>
          <p:nvPr/>
        </p:nvSpPr>
        <p:spPr>
          <a:xfrm>
            <a:off x="3246120" y="2404872"/>
            <a:ext cx="960120" cy="292608"/>
          </a:xfrm>
          <a:prstGeom prst="line">
            <a:avLst/>
          </a:prstGeom>
          <a:noFill/>
          <a:ln w="19050">
            <a:solidFill>
              <a:srgbClr val="8A96A8"/>
            </a:solidFill>
            <a:prstDash val="solid"/>
            <a:tailEnd type="triangle"/>
          </a:ln>
        </p:spPr>
      </p:sp>
      <p:sp>
        <p:nvSpPr>
          <p:cNvPr id="13" name="Text 11"/>
          <p:cNvSpPr/>
          <p:nvPr/>
        </p:nvSpPr>
        <p:spPr>
          <a:xfrm>
            <a:off x="960120" y="2423160"/>
            <a:ext cx="1188720" cy="256032"/>
          </a:xfrm>
          <a:prstGeom prst="rect">
            <a:avLst/>
          </a:prstGeom>
          <a:noFill/>
          <a:ln/>
        </p:spPr>
        <p:txBody>
          <a:bodyPr wrap="square" rtlCol="0" anchor="ctr"/>
          <a:lstStyle/>
          <a:p>
            <a:pPr marL="0" indent="0" algn="r">
              <a:buNone/>
            </a:pPr>
            <a:r>
              <a:rPr lang="en-US" sz="900" i="1" dirty="0">
                <a:solidFill>
                  <a:srgbClr val="2DD4BF"/>
                </a:solidFill>
                <a:latin typeface="Calibri" pitchFamily="34" charset="0"/>
                <a:ea typeface="Calibri" pitchFamily="34" charset="-122"/>
                <a:cs typeface="Calibri" pitchFamily="34" charset="-120"/>
              </a:rPr>
              <a:t>programming</a:t>
            </a:r>
            <a:endParaRPr lang="en-US" sz="900" dirty="0"/>
          </a:p>
        </p:txBody>
      </p:sp>
      <p:sp>
        <p:nvSpPr>
          <p:cNvPr id="14" name="Text 12"/>
          <p:cNvSpPr/>
          <p:nvPr/>
        </p:nvSpPr>
        <p:spPr>
          <a:xfrm>
            <a:off x="5029200" y="2423160"/>
            <a:ext cx="1097280" cy="256032"/>
          </a:xfrm>
          <a:prstGeom prst="rect">
            <a:avLst/>
          </a:prstGeom>
          <a:noFill/>
          <a:ln/>
        </p:spPr>
        <p:txBody>
          <a:bodyPr wrap="square" rtlCol="0" anchor="ctr"/>
          <a:lstStyle/>
          <a:p>
            <a:pPr marL="0" indent="0" algn="l">
              <a:buNone/>
            </a:pPr>
            <a:r>
              <a:rPr lang="en-US" sz="900" i="1" dirty="0">
                <a:solidFill>
                  <a:srgbClr val="8A96A8"/>
                </a:solidFill>
                <a:latin typeface="Calibri" pitchFamily="34" charset="0"/>
                <a:ea typeface="Calibri" pitchFamily="34" charset="-122"/>
                <a:cs typeface="Calibri" pitchFamily="34" charset="-120"/>
              </a:rPr>
              <a:t>general</a:t>
            </a:r>
            <a:endParaRPr lang="en-US" sz="900" dirty="0"/>
          </a:p>
        </p:txBody>
      </p:sp>
      <p:sp>
        <p:nvSpPr>
          <p:cNvPr id="15" name="Shape 13"/>
          <p:cNvSpPr/>
          <p:nvPr/>
        </p:nvSpPr>
        <p:spPr>
          <a:xfrm>
            <a:off x="1463040" y="2697480"/>
            <a:ext cx="1554480" cy="502920"/>
          </a:xfrm>
          <a:prstGeom prst="roundRect">
            <a:avLst>
              <a:gd name="adj" fmla="val 14545"/>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6" name="Text 14"/>
          <p:cNvSpPr/>
          <p:nvPr/>
        </p:nvSpPr>
        <p:spPr>
          <a:xfrm>
            <a:off x="1463040" y="2697480"/>
            <a:ext cx="1554480" cy="50292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Programming</a:t>
            </a:r>
            <a:endParaRPr lang="en-US" sz="1150" dirty="0"/>
          </a:p>
        </p:txBody>
      </p:sp>
      <p:sp>
        <p:nvSpPr>
          <p:cNvPr id="17" name="Shape 15"/>
          <p:cNvSpPr/>
          <p:nvPr/>
        </p:nvSpPr>
        <p:spPr>
          <a:xfrm>
            <a:off x="3429000" y="2697480"/>
            <a:ext cx="1554480" cy="502920"/>
          </a:xfrm>
          <a:prstGeom prst="roundRect">
            <a:avLst>
              <a:gd name="adj" fmla="val 14545"/>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8" name="Text 16"/>
          <p:cNvSpPr/>
          <p:nvPr/>
        </p:nvSpPr>
        <p:spPr>
          <a:xfrm>
            <a:off x="3429000" y="2697480"/>
            <a:ext cx="1554480" cy="50292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General</a:t>
            </a:r>
            <a:endParaRPr lang="en-US" sz="1150" dirty="0"/>
          </a:p>
        </p:txBody>
      </p:sp>
      <p:sp>
        <p:nvSpPr>
          <p:cNvPr id="19" name="Shape 17"/>
          <p:cNvSpPr/>
          <p:nvPr/>
        </p:nvSpPr>
        <p:spPr>
          <a:xfrm>
            <a:off x="2240280" y="3200400"/>
            <a:ext cx="0" cy="292608"/>
          </a:xfrm>
          <a:prstGeom prst="line">
            <a:avLst/>
          </a:prstGeom>
          <a:noFill/>
          <a:ln w="19050">
            <a:solidFill>
              <a:srgbClr val="8A96A8"/>
            </a:solidFill>
            <a:prstDash val="solid"/>
            <a:tailEnd type="triangle"/>
          </a:ln>
        </p:spPr>
      </p:sp>
      <p:sp>
        <p:nvSpPr>
          <p:cNvPr id="20" name="Shape 18"/>
          <p:cNvSpPr/>
          <p:nvPr/>
        </p:nvSpPr>
        <p:spPr>
          <a:xfrm>
            <a:off x="4206240" y="3200400"/>
            <a:ext cx="0" cy="292608"/>
          </a:xfrm>
          <a:prstGeom prst="line">
            <a:avLst/>
          </a:prstGeom>
          <a:noFill/>
          <a:ln w="19050">
            <a:solidFill>
              <a:srgbClr val="8A96A8"/>
            </a:solidFill>
            <a:prstDash val="solid"/>
            <a:tailEnd type="triangle"/>
          </a:ln>
        </p:spPr>
      </p:sp>
      <p:sp>
        <p:nvSpPr>
          <p:cNvPr id="21" name="Shape 19"/>
          <p:cNvSpPr/>
          <p:nvPr/>
        </p:nvSpPr>
        <p:spPr>
          <a:xfrm>
            <a:off x="1463040" y="3493008"/>
            <a:ext cx="1554480" cy="502920"/>
          </a:xfrm>
          <a:prstGeom prst="roundRect">
            <a:avLst>
              <a:gd name="adj" fmla="val 14545"/>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22" name="Text 20"/>
          <p:cNvSpPr/>
          <p:nvPr/>
        </p:nvSpPr>
        <p:spPr>
          <a:xfrm>
            <a:off x="1463040" y="3493008"/>
            <a:ext cx="1554480" cy="50292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Code Helper</a:t>
            </a:r>
            <a:endParaRPr lang="en-US" sz="1150" dirty="0"/>
          </a:p>
        </p:txBody>
      </p:sp>
      <p:sp>
        <p:nvSpPr>
          <p:cNvPr id="23" name="Shape 21"/>
          <p:cNvSpPr/>
          <p:nvPr/>
        </p:nvSpPr>
        <p:spPr>
          <a:xfrm>
            <a:off x="3429000" y="3493008"/>
            <a:ext cx="1554480" cy="502920"/>
          </a:xfrm>
          <a:prstGeom prst="roundRect">
            <a:avLst>
              <a:gd name="adj" fmla="val 14545"/>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24" name="Text 22"/>
          <p:cNvSpPr/>
          <p:nvPr/>
        </p:nvSpPr>
        <p:spPr>
          <a:xfrm>
            <a:off x="3429000" y="3493008"/>
            <a:ext cx="1554480" cy="50292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General LLM</a:t>
            </a:r>
            <a:endParaRPr lang="en-US" sz="1150" dirty="0"/>
          </a:p>
        </p:txBody>
      </p:sp>
      <p:sp>
        <p:nvSpPr>
          <p:cNvPr id="25" name="Shape 23"/>
          <p:cNvSpPr/>
          <p:nvPr/>
        </p:nvSpPr>
        <p:spPr>
          <a:xfrm>
            <a:off x="2240280" y="3995928"/>
            <a:ext cx="1005840" cy="292608"/>
          </a:xfrm>
          <a:prstGeom prst="line">
            <a:avLst/>
          </a:prstGeom>
          <a:noFill/>
          <a:ln w="19050">
            <a:solidFill>
              <a:srgbClr val="8A96A8"/>
            </a:solidFill>
            <a:prstDash val="solid"/>
            <a:tailEnd type="triangle"/>
          </a:ln>
        </p:spPr>
      </p:sp>
      <p:sp>
        <p:nvSpPr>
          <p:cNvPr id="26" name="Shape 24"/>
          <p:cNvSpPr/>
          <p:nvPr/>
        </p:nvSpPr>
        <p:spPr>
          <a:xfrm flipH="1">
            <a:off x="3246120" y="3995928"/>
            <a:ext cx="960120" cy="292608"/>
          </a:xfrm>
          <a:prstGeom prst="line">
            <a:avLst/>
          </a:prstGeom>
          <a:noFill/>
          <a:ln w="19050">
            <a:solidFill>
              <a:srgbClr val="8A96A8"/>
            </a:solidFill>
            <a:prstDash val="solid"/>
            <a:tailEnd type="triangle"/>
          </a:ln>
        </p:spPr>
      </p:sp>
      <p:sp>
        <p:nvSpPr>
          <p:cNvPr id="27" name="Shape 25"/>
          <p:cNvSpPr/>
          <p:nvPr/>
        </p:nvSpPr>
        <p:spPr>
          <a:xfrm>
            <a:off x="2331720" y="4288536"/>
            <a:ext cx="1828800" cy="502920"/>
          </a:xfrm>
          <a:prstGeom prst="roundRect">
            <a:avLst>
              <a:gd name="adj" fmla="val 14545"/>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28" name="Text 26"/>
          <p:cNvSpPr/>
          <p:nvPr/>
        </p:nvSpPr>
        <p:spPr>
          <a:xfrm>
            <a:off x="2331720" y="4288536"/>
            <a:ext cx="1828800" cy="502920"/>
          </a:xfrm>
          <a:prstGeom prst="rect">
            <a:avLst/>
          </a:prstGeom>
          <a:noFill/>
          <a:ln/>
        </p:spPr>
        <p:txBody>
          <a:bodyPr wrap="square" rtlCol="0" anchor="ctr"/>
          <a:lstStyle/>
          <a:p>
            <a:pPr marL="0" indent="0" algn="ctr">
              <a:buNone/>
            </a:pPr>
            <a:r>
              <a:rPr lang="en-US" sz="1300" b="1" dirty="0">
                <a:solidFill>
                  <a:srgbClr val="F2F5F8"/>
                </a:solidFill>
                <a:latin typeface="Calibri" pitchFamily="34" charset="0"/>
                <a:ea typeface="Calibri" pitchFamily="34" charset="-122"/>
                <a:cs typeface="Calibri" pitchFamily="34" charset="-120"/>
              </a:rPr>
              <a:t>Response</a:t>
            </a:r>
            <a:endParaRPr lang="en-US" sz="1300" dirty="0"/>
          </a:p>
        </p:txBody>
      </p:sp>
      <p:sp>
        <p:nvSpPr>
          <p:cNvPr id="29" name="Shape 27"/>
          <p:cNvSpPr/>
          <p:nvPr/>
        </p:nvSpPr>
        <p:spPr>
          <a:xfrm>
            <a:off x="3246120" y="4791456"/>
            <a:ext cx="0" cy="228600"/>
          </a:xfrm>
          <a:prstGeom prst="line">
            <a:avLst/>
          </a:prstGeom>
          <a:noFill/>
          <a:ln w="19050">
            <a:solidFill>
              <a:srgbClr val="8A96A8"/>
            </a:solidFill>
            <a:prstDash val="solid"/>
            <a:tailEnd type="triangle"/>
          </a:ln>
        </p:spPr>
      </p:sp>
      <p:sp>
        <p:nvSpPr>
          <p:cNvPr id="30" name="Shape 28"/>
          <p:cNvSpPr/>
          <p:nvPr/>
        </p:nvSpPr>
        <p:spPr>
          <a:xfrm>
            <a:off x="2697480" y="5020056"/>
            <a:ext cx="1097280" cy="438912"/>
          </a:xfrm>
          <a:prstGeom prst="roundRect">
            <a:avLst>
              <a:gd name="adj" fmla="val 50000"/>
            </a:avLst>
          </a:prstGeom>
          <a:solidFill>
            <a:srgbClr val="241B1B"/>
          </a:solidFill>
          <a:ln w="15875">
            <a:solidFill>
              <a:srgbClr val="2DD4BF"/>
            </a:solidFill>
            <a:prstDash val="solid"/>
          </a:ln>
        </p:spPr>
      </p:sp>
      <p:sp>
        <p:nvSpPr>
          <p:cNvPr id="31" name="Text 29"/>
          <p:cNvSpPr/>
          <p:nvPr/>
        </p:nvSpPr>
        <p:spPr>
          <a:xfrm>
            <a:off x="2697480" y="5020056"/>
            <a:ext cx="1097280" cy="438912"/>
          </a:xfrm>
          <a:prstGeom prst="rect">
            <a:avLst/>
          </a:prstGeom>
          <a:noFill/>
          <a:ln/>
        </p:spPr>
        <p:txBody>
          <a:bodyPr wrap="square" rtlCol="0" anchor="ctr"/>
          <a:lstStyle/>
          <a:p>
            <a:pPr marL="0" indent="0" algn="ctr">
              <a:buNone/>
            </a:pPr>
            <a:r>
              <a:rPr lang="en-US" sz="1100" b="1" kern="0" spc="100" dirty="0">
                <a:solidFill>
                  <a:srgbClr val="8A96A8"/>
                </a:solidFill>
                <a:latin typeface="Calibri" pitchFamily="34" charset="0"/>
                <a:ea typeface="Calibri" pitchFamily="34" charset="-122"/>
                <a:cs typeface="Calibri" pitchFamily="34" charset="-120"/>
              </a:rPr>
              <a:t>END</a:t>
            </a:r>
            <a:endParaRPr lang="en-US" sz="1100" dirty="0"/>
          </a:p>
        </p:txBody>
      </p:sp>
      <p:sp>
        <p:nvSpPr>
          <p:cNvPr id="32" name="Shape 30"/>
          <p:cNvSpPr/>
          <p:nvPr/>
        </p:nvSpPr>
        <p:spPr>
          <a:xfrm>
            <a:off x="7223760" y="1234440"/>
            <a:ext cx="4434840" cy="1325880"/>
          </a:xfrm>
          <a:prstGeom prst="roundRect">
            <a:avLst>
              <a:gd name="adj" fmla="val 5517"/>
            </a:avLst>
          </a:prstGeom>
          <a:solidFill>
            <a:srgbClr val="1B212C"/>
          </a:solidFill>
          <a:ln w="13970">
            <a:solidFill>
              <a:srgbClr val="2DD4BF"/>
            </a:solidFill>
            <a:prstDash val="solid"/>
          </a:ln>
        </p:spPr>
      </p:sp>
      <p:sp>
        <p:nvSpPr>
          <p:cNvPr id="33" name="Text 31"/>
          <p:cNvSpPr/>
          <p:nvPr/>
        </p:nvSpPr>
        <p:spPr>
          <a:xfrm>
            <a:off x="7452360" y="1353312"/>
            <a:ext cx="3977640" cy="274320"/>
          </a:xfrm>
          <a:prstGeom prst="rect">
            <a:avLst/>
          </a:prstGeom>
          <a:noFill/>
          <a:ln/>
        </p:spPr>
        <p:txBody>
          <a:bodyPr wrap="square"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State</a:t>
            </a:r>
            <a:endParaRPr lang="en-US" sz="1300" dirty="0"/>
          </a:p>
        </p:txBody>
      </p:sp>
      <p:sp>
        <p:nvSpPr>
          <p:cNvPr id="34" name="Shape 32"/>
          <p:cNvSpPr/>
          <p:nvPr/>
        </p:nvSpPr>
        <p:spPr>
          <a:xfrm>
            <a:off x="7452360" y="1645920"/>
            <a:ext cx="3977640" cy="777240"/>
          </a:xfrm>
          <a:prstGeom prst="roundRect">
            <a:avLst>
              <a:gd name="adj" fmla="val 8235"/>
            </a:avLst>
          </a:prstGeom>
          <a:solidFill>
            <a:srgbClr val="0B0E13"/>
          </a:solidFill>
          <a:ln w="12700">
            <a:solidFill>
              <a:srgbClr val="2C3441"/>
            </a:solidFill>
            <a:prstDash val="solid"/>
          </a:ln>
        </p:spPr>
      </p:sp>
      <p:sp>
        <p:nvSpPr>
          <p:cNvPr id="35" name="Text 33"/>
          <p:cNvSpPr/>
          <p:nvPr/>
        </p:nvSpPr>
        <p:spPr>
          <a:xfrm>
            <a:off x="7616952" y="1755648"/>
            <a:ext cx="3648456" cy="557784"/>
          </a:xfrm>
          <a:prstGeom prst="rect">
            <a:avLst/>
          </a:prstGeom>
          <a:noFill/>
          <a:ln/>
        </p:spPr>
        <p:txBody>
          <a:bodyPr wrap="square" rtlCol="0" anchor="t"/>
          <a:lstStyle/>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question: str</a:t>
            </a: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category: str</a:t>
            </a:r>
            <a:endParaRPr lang="en-US" sz="1100" dirty="0"/>
          </a:p>
          <a:p>
            <a:pPr marL="0" indent="0" algn="l">
              <a:lnSpc>
                <a:spcPct val="115000"/>
              </a:lnSpc>
              <a:buNone/>
            </a:pPr>
            <a:r>
              <a:rPr lang="en-US" sz="1100" dirty="0">
                <a:solidFill>
                  <a:srgbClr val="D8E1E8"/>
                </a:solidFill>
                <a:latin typeface="Courier New" pitchFamily="34" charset="0"/>
                <a:ea typeface="Courier New" pitchFamily="34" charset="-122"/>
                <a:cs typeface="Courier New" pitchFamily="34" charset="-120"/>
              </a:rPr>
              <a:t>response: str</a:t>
            </a:r>
            <a:endParaRPr lang="en-US" sz="1100" dirty="0"/>
          </a:p>
        </p:txBody>
      </p:sp>
      <p:sp>
        <p:nvSpPr>
          <p:cNvPr id="36" name="Shape 34"/>
          <p:cNvSpPr/>
          <p:nvPr/>
        </p:nvSpPr>
        <p:spPr>
          <a:xfrm>
            <a:off x="7223760" y="2788920"/>
            <a:ext cx="4434840" cy="3429000"/>
          </a:xfrm>
          <a:prstGeom prst="roundRect">
            <a:avLst>
              <a:gd name="adj" fmla="val 2133"/>
            </a:avLst>
          </a:prstGeom>
          <a:solidFill>
            <a:srgbClr val="1B212C"/>
          </a:solidFill>
          <a:ln w="12700">
            <a:solidFill>
              <a:srgbClr val="2C3441"/>
            </a:solidFill>
            <a:prstDash val="solid"/>
          </a:ln>
        </p:spPr>
      </p:sp>
      <p:sp>
        <p:nvSpPr>
          <p:cNvPr id="37" name="Text 35"/>
          <p:cNvSpPr/>
          <p:nvPr/>
        </p:nvSpPr>
        <p:spPr>
          <a:xfrm>
            <a:off x="7452360" y="2926080"/>
            <a:ext cx="3977640" cy="274320"/>
          </a:xfrm>
          <a:prstGeom prst="rect">
            <a:avLst/>
          </a:prstGeom>
          <a:noFill/>
          <a:ln/>
        </p:spPr>
        <p:txBody>
          <a:bodyPr wrap="square" rtlCol="0" anchor="ctr"/>
          <a:lstStyle/>
          <a:p>
            <a:pPr marL="0" indent="0">
              <a:buNone/>
            </a:pPr>
            <a:r>
              <a:rPr lang="en-US" sz="1300" b="1" dirty="0">
                <a:solidFill>
                  <a:srgbClr val="F2F5F8"/>
                </a:solidFill>
                <a:latin typeface="Calibri" pitchFamily="34" charset="0"/>
                <a:ea typeface="Calibri" pitchFamily="34" charset="-122"/>
                <a:cs typeface="Calibri" pitchFamily="34" charset="-120"/>
              </a:rPr>
              <a:t>Walkthrough</a:t>
            </a:r>
            <a:endParaRPr lang="en-US" sz="1300" dirty="0"/>
          </a:p>
        </p:txBody>
      </p:sp>
      <p:sp>
        <p:nvSpPr>
          <p:cNvPr id="38" name="Text 36"/>
          <p:cNvSpPr/>
          <p:nvPr/>
        </p:nvSpPr>
        <p:spPr>
          <a:xfrm>
            <a:off x="7452360" y="3246120"/>
            <a:ext cx="3977640" cy="502920"/>
          </a:xfrm>
          <a:prstGeom prst="rect">
            <a:avLst/>
          </a:prstGeom>
          <a:noFill/>
          <a:ln/>
        </p:spPr>
        <p:txBody>
          <a:bodyPr wrap="square" rtlCol="0" anchor="t"/>
          <a:lstStyle/>
          <a:p>
            <a:pPr marL="0" indent="0">
              <a:buNone/>
            </a:pPr>
            <a:r>
              <a:rPr lang="en-US" sz="1250" i="1" dirty="0">
                <a:solidFill>
                  <a:srgbClr val="D8E1E8"/>
                </a:solidFill>
                <a:latin typeface="Courier New" pitchFamily="34" charset="0"/>
                <a:ea typeface="Courier New" pitchFamily="34" charset="-122"/>
                <a:cs typeface="Courier New" pitchFamily="34" charset="-120"/>
              </a:rPr>
              <a:t>"Why am I getting a segmentation fault in C++?"</a:t>
            </a:r>
            <a:endParaRPr lang="en-US" sz="1250" dirty="0"/>
          </a:p>
        </p:txBody>
      </p:sp>
      <p:sp>
        <p:nvSpPr>
          <p:cNvPr id="39" name="Text 37"/>
          <p:cNvSpPr/>
          <p:nvPr/>
        </p:nvSpPr>
        <p:spPr>
          <a:xfrm>
            <a:off x="7452360" y="3886200"/>
            <a:ext cx="3977640" cy="274320"/>
          </a:xfrm>
          <a:prstGeom prst="rect">
            <a:avLst/>
          </a:prstGeom>
          <a:noFill/>
          <a:ln/>
        </p:spPr>
        <p:txBody>
          <a:bodyPr wrap="square" rtlCol="0" anchor="ctr"/>
          <a:lstStyle/>
          <a:p>
            <a:pPr marL="0" indent="0">
              <a:buNone/>
            </a:pPr>
            <a:r>
              <a:rPr lang="en-US" sz="1200" b="1" dirty="0">
                <a:solidFill>
                  <a:srgbClr val="2DD4BF"/>
                </a:solidFill>
                <a:latin typeface="Courier New" pitchFamily="34" charset="0"/>
                <a:ea typeface="Courier New" pitchFamily="34" charset="-122"/>
                <a:cs typeface="Courier New" pitchFamily="34" charset="-120"/>
              </a:rPr>
              <a:t>Classify</a:t>
            </a:r>
            <a:endParaRPr lang="en-US" sz="1200" dirty="0"/>
          </a:p>
        </p:txBody>
      </p:sp>
      <p:sp>
        <p:nvSpPr>
          <p:cNvPr id="40" name="Text 38"/>
          <p:cNvSpPr/>
          <p:nvPr/>
        </p:nvSpPr>
        <p:spPr>
          <a:xfrm>
            <a:off x="7452360" y="4160520"/>
            <a:ext cx="3977640" cy="274320"/>
          </a:xfrm>
          <a:prstGeom prst="rect">
            <a:avLst/>
          </a:prstGeom>
          <a:noFill/>
          <a:ln/>
        </p:spPr>
        <p:txBody>
          <a:bodyPr wrap="square" rtlCol="0" anchor="ctr"/>
          <a:lstStyle/>
          <a:p>
            <a:pPr marL="0" indent="0">
              <a:buNone/>
            </a:pPr>
            <a:r>
              <a:rPr lang="en-US" sz="1100" dirty="0">
                <a:solidFill>
                  <a:srgbClr val="8A96A8"/>
                </a:solidFill>
                <a:latin typeface="Calibri" pitchFamily="34" charset="0"/>
                <a:ea typeface="Calibri" pitchFamily="34" charset="-122"/>
                <a:cs typeface="Calibri" pitchFamily="34" charset="-120"/>
              </a:rPr>
              <a:t>reads the question</a:t>
            </a:r>
            <a:endParaRPr lang="en-US" sz="1100" dirty="0"/>
          </a:p>
        </p:txBody>
      </p:sp>
      <p:sp>
        <p:nvSpPr>
          <p:cNvPr id="41" name="Text 39"/>
          <p:cNvSpPr/>
          <p:nvPr/>
        </p:nvSpPr>
        <p:spPr>
          <a:xfrm>
            <a:off x="7452360" y="4507992"/>
            <a:ext cx="3977640" cy="274320"/>
          </a:xfrm>
          <a:prstGeom prst="rect">
            <a:avLst/>
          </a:prstGeom>
          <a:noFill/>
          <a:ln/>
        </p:spPr>
        <p:txBody>
          <a:bodyPr wrap="square" rtlCol="0" anchor="ctr"/>
          <a:lstStyle/>
          <a:p>
            <a:pPr marL="0" indent="0">
              <a:buNone/>
            </a:pPr>
            <a:r>
              <a:rPr lang="en-US" sz="1200" b="1" dirty="0">
                <a:solidFill>
                  <a:srgbClr val="2DD4BF"/>
                </a:solidFill>
                <a:latin typeface="Courier New" pitchFamily="34" charset="0"/>
                <a:ea typeface="Courier New" pitchFamily="34" charset="-122"/>
                <a:cs typeface="Courier New" pitchFamily="34" charset="-120"/>
              </a:rPr>
              <a:t>category = "programming"</a:t>
            </a:r>
            <a:endParaRPr lang="en-US" sz="1200" dirty="0"/>
          </a:p>
        </p:txBody>
      </p:sp>
      <p:sp>
        <p:nvSpPr>
          <p:cNvPr id="42" name="Text 40"/>
          <p:cNvSpPr/>
          <p:nvPr/>
        </p:nvSpPr>
        <p:spPr>
          <a:xfrm>
            <a:off x="7452360" y="4782312"/>
            <a:ext cx="3977640" cy="274320"/>
          </a:xfrm>
          <a:prstGeom prst="rect">
            <a:avLst/>
          </a:prstGeom>
          <a:noFill/>
          <a:ln/>
        </p:spPr>
        <p:txBody>
          <a:bodyPr wrap="square" rtlCol="0" anchor="ctr"/>
          <a:lstStyle/>
          <a:p>
            <a:pPr marL="0" indent="0">
              <a:buNone/>
            </a:pPr>
            <a:r>
              <a:rPr lang="en-US" sz="1100" dirty="0">
                <a:solidFill>
                  <a:srgbClr val="8A96A8"/>
                </a:solidFill>
                <a:latin typeface="Calibri" pitchFamily="34" charset="0"/>
                <a:ea typeface="Calibri" pitchFamily="34" charset="-122"/>
                <a:cs typeface="Calibri" pitchFamily="34" charset="-120"/>
              </a:rPr>
              <a:t>state is updated</a:t>
            </a:r>
            <a:endParaRPr lang="en-US" sz="1100" dirty="0"/>
          </a:p>
        </p:txBody>
      </p:sp>
      <p:sp>
        <p:nvSpPr>
          <p:cNvPr id="43" name="Text 41"/>
          <p:cNvSpPr/>
          <p:nvPr/>
        </p:nvSpPr>
        <p:spPr>
          <a:xfrm>
            <a:off x="7452360" y="5129784"/>
            <a:ext cx="3977640" cy="274320"/>
          </a:xfrm>
          <a:prstGeom prst="rect">
            <a:avLst/>
          </a:prstGeom>
          <a:noFill/>
          <a:ln/>
        </p:spPr>
        <p:txBody>
          <a:bodyPr wrap="square" rtlCol="0" anchor="ctr"/>
          <a:lstStyle/>
          <a:p>
            <a:pPr marL="0" indent="0">
              <a:buNone/>
            </a:pPr>
            <a:r>
              <a:rPr lang="en-US" sz="1200" b="1" dirty="0">
                <a:solidFill>
                  <a:srgbClr val="2DD4BF"/>
                </a:solidFill>
                <a:latin typeface="Courier New" pitchFamily="34" charset="0"/>
                <a:ea typeface="Courier New" pitchFamily="34" charset="-122"/>
                <a:cs typeface="Courier New" pitchFamily="34" charset="-120"/>
              </a:rPr>
              <a:t>Code Helper</a:t>
            </a:r>
            <a:endParaRPr lang="en-US" sz="1200" dirty="0"/>
          </a:p>
        </p:txBody>
      </p:sp>
      <p:sp>
        <p:nvSpPr>
          <p:cNvPr id="44" name="Text 42"/>
          <p:cNvSpPr/>
          <p:nvPr/>
        </p:nvSpPr>
        <p:spPr>
          <a:xfrm>
            <a:off x="7452360" y="5404104"/>
            <a:ext cx="3977640" cy="274320"/>
          </a:xfrm>
          <a:prstGeom prst="rect">
            <a:avLst/>
          </a:prstGeom>
          <a:noFill/>
          <a:ln/>
        </p:spPr>
        <p:txBody>
          <a:bodyPr wrap="square" rtlCol="0" anchor="ctr"/>
          <a:lstStyle/>
          <a:p>
            <a:pPr marL="0" indent="0">
              <a:buNone/>
            </a:pPr>
            <a:r>
              <a:rPr lang="en-US" sz="1100" dirty="0">
                <a:solidFill>
                  <a:srgbClr val="8A96A8"/>
                </a:solidFill>
                <a:latin typeface="Calibri" pitchFamily="34" charset="0"/>
                <a:ea typeface="Calibri" pitchFamily="34" charset="-122"/>
                <a:cs typeface="Calibri" pitchFamily="34" charset="-120"/>
              </a:rPr>
              <a:t>runs because of that state</a:t>
            </a:r>
            <a:endParaRPr lang="en-US" sz="1100" dirty="0"/>
          </a:p>
        </p:txBody>
      </p:sp>
      <p:sp>
        <p:nvSpPr>
          <p:cNvPr id="45" name="Text 43"/>
          <p:cNvSpPr/>
          <p:nvPr/>
        </p:nvSpPr>
        <p:spPr>
          <a:xfrm>
            <a:off x="7452360" y="5751576"/>
            <a:ext cx="3977640" cy="274320"/>
          </a:xfrm>
          <a:prstGeom prst="rect">
            <a:avLst/>
          </a:prstGeom>
          <a:noFill/>
          <a:ln/>
        </p:spPr>
        <p:txBody>
          <a:bodyPr wrap="square" rtlCol="0" anchor="ctr"/>
          <a:lstStyle/>
          <a:p>
            <a:pPr marL="0" indent="0">
              <a:buNone/>
            </a:pPr>
            <a:r>
              <a:rPr lang="en-US" sz="1200" b="1" dirty="0">
                <a:solidFill>
                  <a:srgbClr val="2DD4BF"/>
                </a:solidFill>
                <a:latin typeface="Courier New" pitchFamily="34" charset="0"/>
                <a:ea typeface="Courier New" pitchFamily="34" charset="-122"/>
                <a:cs typeface="Courier New" pitchFamily="34" charset="-120"/>
              </a:rPr>
              <a:t>response</a:t>
            </a:r>
            <a:endParaRPr lang="en-US" sz="1200" dirty="0"/>
          </a:p>
        </p:txBody>
      </p:sp>
      <p:sp>
        <p:nvSpPr>
          <p:cNvPr id="46" name="Text 44"/>
          <p:cNvSpPr/>
          <p:nvPr/>
        </p:nvSpPr>
        <p:spPr>
          <a:xfrm>
            <a:off x="7452360" y="6025896"/>
            <a:ext cx="3977640" cy="274320"/>
          </a:xfrm>
          <a:prstGeom prst="rect">
            <a:avLst/>
          </a:prstGeom>
          <a:noFill/>
          <a:ln/>
        </p:spPr>
        <p:txBody>
          <a:bodyPr wrap="square" rtlCol="0" anchor="ctr"/>
          <a:lstStyle/>
          <a:p>
            <a:pPr marL="0" indent="0">
              <a:buNone/>
            </a:pPr>
            <a:r>
              <a:rPr lang="en-US" sz="1100" dirty="0">
                <a:solidFill>
                  <a:srgbClr val="8A96A8"/>
                </a:solidFill>
                <a:latin typeface="Calibri" pitchFamily="34" charset="0"/>
                <a:ea typeface="Calibri" pitchFamily="34" charset="-122"/>
                <a:cs typeface="Calibri" pitchFamily="34" charset="-120"/>
              </a:rPr>
              <a:t>is generated and returned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51C"/>
        </a:solidFill>
        <a:effectLst/>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B6577"/>
                </a:solidFill>
                <a:latin typeface="Calibri" pitchFamily="34" charset="0"/>
                <a:ea typeface="Calibri" pitchFamily="34" charset="-122"/>
                <a:cs typeface="Calibri" pitchFamily="34" charset="-120"/>
              </a:rPr>
              <a:t>LangGraph — SE Lab</a:t>
            </a:r>
            <a:endParaRPr lang="en-US" sz="900" dirty="0"/>
          </a:p>
        </p:txBody>
      </p:sp>
      <p:sp>
        <p:nvSpPr>
          <p:cNvPr id="3" name="Text 1"/>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548640" y="164592"/>
            <a:ext cx="11094415" cy="274320"/>
          </a:xfrm>
          <a:prstGeom prst="rect">
            <a:avLst/>
          </a:prstGeom>
          <a:noFill/>
          <a:ln/>
        </p:spPr>
        <p:txBody>
          <a:bodyPr wrap="square" rtlCol="0" anchor="ctr"/>
          <a:lstStyle/>
          <a:p>
            <a:pPr marL="0" indent="0">
              <a:buNone/>
            </a:pPr>
            <a:r>
              <a:rPr lang="en-US" sz="1100" b="1" kern="0" spc="200" dirty="0">
                <a:solidFill>
                  <a:srgbClr val="2DD4BF"/>
                </a:solidFill>
                <a:latin typeface="Calibri" pitchFamily="34" charset="0"/>
                <a:ea typeface="Calibri" pitchFamily="34" charset="-122"/>
                <a:cs typeface="Calibri" pitchFamily="34" charset="-120"/>
              </a:rPr>
              <a:t>ROUTING</a:t>
            </a:r>
            <a:endParaRPr lang="en-US" sz="1100" dirty="0"/>
          </a:p>
        </p:txBody>
      </p:sp>
      <p:sp>
        <p:nvSpPr>
          <p:cNvPr id="5" name="Text 3"/>
          <p:cNvSpPr/>
          <p:nvPr/>
        </p:nvSpPr>
        <p:spPr>
          <a:xfrm>
            <a:off x="548640" y="384048"/>
            <a:ext cx="11094415" cy="685800"/>
          </a:xfrm>
          <a:prstGeom prst="rect">
            <a:avLst/>
          </a:prstGeom>
          <a:noFill/>
          <a:ln/>
        </p:spPr>
        <p:txBody>
          <a:bodyPr wrap="square" rtlCol="0" anchor="ctr"/>
          <a:lstStyle/>
          <a:p>
            <a:pPr marL="0" indent="0" algn="l">
              <a:buNone/>
            </a:pPr>
            <a:r>
              <a:rPr lang="en-US" sz="3000" b="1" dirty="0">
                <a:solidFill>
                  <a:srgbClr val="F2F5F8"/>
                </a:solidFill>
                <a:latin typeface="Calibri" pitchFamily="34" charset="0"/>
                <a:ea typeface="Calibri" pitchFamily="34" charset="-122"/>
                <a:cs typeface="Calibri" pitchFamily="34" charset="-120"/>
              </a:rPr>
              <a:t>Where the Graph Becomes Useful</a:t>
            </a:r>
            <a:endParaRPr lang="en-US" sz="3000" dirty="0"/>
          </a:p>
        </p:txBody>
      </p:sp>
      <p:sp>
        <p:nvSpPr>
          <p:cNvPr id="6" name="Shape 4"/>
          <p:cNvSpPr/>
          <p:nvPr/>
        </p:nvSpPr>
        <p:spPr>
          <a:xfrm>
            <a:off x="1737360" y="1371600"/>
            <a:ext cx="1828800" cy="502920"/>
          </a:xfrm>
          <a:prstGeom prst="roundRect">
            <a:avLst>
              <a:gd name="adj" fmla="val 14545"/>
            </a:avLst>
          </a:prstGeom>
          <a:solidFill>
            <a:srgbClr val="1B4B47"/>
          </a:solidFill>
          <a:ln w="15875">
            <a:solidFill>
              <a:srgbClr val="2DD4BF"/>
            </a:solidFill>
            <a:prstDash val="solid"/>
          </a:ln>
          <a:effectLst>
            <a:outerShdw blurRad="76200" dist="25400" dir="5400000" algn="bl" rotWithShape="0">
              <a:srgbClr val="000000">
                <a:alpha val="35000"/>
              </a:srgbClr>
            </a:outerShdw>
          </a:effectLst>
        </p:spPr>
      </p:sp>
      <p:sp>
        <p:nvSpPr>
          <p:cNvPr id="7" name="Text 5"/>
          <p:cNvSpPr/>
          <p:nvPr/>
        </p:nvSpPr>
        <p:spPr>
          <a:xfrm>
            <a:off x="1737360" y="1371600"/>
            <a:ext cx="1828800" cy="502920"/>
          </a:xfrm>
          <a:prstGeom prst="rect">
            <a:avLst/>
          </a:prstGeom>
          <a:noFill/>
          <a:ln/>
        </p:spPr>
        <p:txBody>
          <a:bodyPr wrap="square" rtlCol="0" anchor="ctr"/>
          <a:lstStyle/>
          <a:p>
            <a:pPr marL="0" indent="0" algn="ctr">
              <a:buNone/>
            </a:pPr>
            <a:r>
              <a:rPr lang="en-US" sz="1300" b="1" dirty="0">
                <a:solidFill>
                  <a:srgbClr val="2DD4BF"/>
                </a:solidFill>
                <a:latin typeface="Calibri" pitchFamily="34" charset="0"/>
                <a:ea typeface="Calibri" pitchFamily="34" charset="-122"/>
                <a:cs typeface="Calibri" pitchFamily="34" charset="-120"/>
              </a:rPr>
              <a:t>Classify</a:t>
            </a:r>
            <a:endParaRPr lang="en-US" sz="1300" dirty="0"/>
          </a:p>
        </p:txBody>
      </p:sp>
      <p:sp>
        <p:nvSpPr>
          <p:cNvPr id="8" name="Shape 6"/>
          <p:cNvSpPr/>
          <p:nvPr/>
        </p:nvSpPr>
        <p:spPr>
          <a:xfrm flipH="1">
            <a:off x="1828800" y="1874520"/>
            <a:ext cx="822960" cy="365760"/>
          </a:xfrm>
          <a:prstGeom prst="line">
            <a:avLst/>
          </a:prstGeom>
          <a:noFill/>
          <a:ln w="19050">
            <a:solidFill>
              <a:srgbClr val="2DD4BF"/>
            </a:solidFill>
            <a:prstDash val="solid"/>
            <a:tailEnd type="triangle"/>
          </a:ln>
        </p:spPr>
      </p:sp>
      <p:sp>
        <p:nvSpPr>
          <p:cNvPr id="9" name="Shape 7"/>
          <p:cNvSpPr/>
          <p:nvPr/>
        </p:nvSpPr>
        <p:spPr>
          <a:xfrm>
            <a:off x="2651760" y="1874520"/>
            <a:ext cx="914400" cy="365760"/>
          </a:xfrm>
          <a:prstGeom prst="line">
            <a:avLst/>
          </a:prstGeom>
          <a:noFill/>
          <a:ln w="19050">
            <a:solidFill>
              <a:srgbClr val="8A96A8"/>
            </a:solidFill>
            <a:prstDash val="solid"/>
            <a:tailEnd type="triangle"/>
          </a:ln>
        </p:spPr>
      </p:sp>
      <p:sp>
        <p:nvSpPr>
          <p:cNvPr id="10" name="Shape 8"/>
          <p:cNvSpPr/>
          <p:nvPr/>
        </p:nvSpPr>
        <p:spPr>
          <a:xfrm>
            <a:off x="1051560" y="2240280"/>
            <a:ext cx="1554480" cy="502920"/>
          </a:xfrm>
          <a:prstGeom prst="roundRect">
            <a:avLst>
              <a:gd name="adj" fmla="val 14545"/>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1" name="Text 9"/>
          <p:cNvSpPr/>
          <p:nvPr/>
        </p:nvSpPr>
        <p:spPr>
          <a:xfrm>
            <a:off x="1051560" y="2240280"/>
            <a:ext cx="1554480" cy="50292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Programming</a:t>
            </a:r>
            <a:endParaRPr lang="en-US" sz="1150" dirty="0"/>
          </a:p>
        </p:txBody>
      </p:sp>
      <p:sp>
        <p:nvSpPr>
          <p:cNvPr id="12" name="Shape 10"/>
          <p:cNvSpPr/>
          <p:nvPr/>
        </p:nvSpPr>
        <p:spPr>
          <a:xfrm>
            <a:off x="2788920" y="2240280"/>
            <a:ext cx="1554480" cy="502920"/>
          </a:xfrm>
          <a:prstGeom prst="roundRect">
            <a:avLst>
              <a:gd name="adj" fmla="val 14545"/>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3" name="Text 11"/>
          <p:cNvSpPr/>
          <p:nvPr/>
        </p:nvSpPr>
        <p:spPr>
          <a:xfrm>
            <a:off x="2788920" y="2240280"/>
            <a:ext cx="1554480" cy="50292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General</a:t>
            </a:r>
            <a:endParaRPr lang="en-US" sz="1150" dirty="0"/>
          </a:p>
        </p:txBody>
      </p:sp>
      <p:sp>
        <p:nvSpPr>
          <p:cNvPr id="14" name="Shape 12"/>
          <p:cNvSpPr/>
          <p:nvPr/>
        </p:nvSpPr>
        <p:spPr>
          <a:xfrm>
            <a:off x="1828800" y="2743200"/>
            <a:ext cx="0" cy="365760"/>
          </a:xfrm>
          <a:prstGeom prst="line">
            <a:avLst/>
          </a:prstGeom>
          <a:noFill/>
          <a:ln w="19050">
            <a:solidFill>
              <a:srgbClr val="8A96A8"/>
            </a:solidFill>
            <a:prstDash val="solid"/>
            <a:tailEnd type="triangle"/>
          </a:ln>
        </p:spPr>
      </p:sp>
      <p:sp>
        <p:nvSpPr>
          <p:cNvPr id="15" name="Shape 13"/>
          <p:cNvSpPr/>
          <p:nvPr/>
        </p:nvSpPr>
        <p:spPr>
          <a:xfrm>
            <a:off x="3566160" y="2743200"/>
            <a:ext cx="0" cy="365760"/>
          </a:xfrm>
          <a:prstGeom prst="line">
            <a:avLst/>
          </a:prstGeom>
          <a:noFill/>
          <a:ln w="19050">
            <a:solidFill>
              <a:srgbClr val="8A96A8"/>
            </a:solidFill>
            <a:prstDash val="solid"/>
            <a:tailEnd type="triangle"/>
          </a:ln>
        </p:spPr>
      </p:sp>
      <p:sp>
        <p:nvSpPr>
          <p:cNvPr id="16" name="Shape 14"/>
          <p:cNvSpPr/>
          <p:nvPr/>
        </p:nvSpPr>
        <p:spPr>
          <a:xfrm>
            <a:off x="1051560" y="3108960"/>
            <a:ext cx="1554480" cy="502920"/>
          </a:xfrm>
          <a:prstGeom prst="roundRect">
            <a:avLst>
              <a:gd name="adj" fmla="val 14545"/>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7" name="Text 15"/>
          <p:cNvSpPr/>
          <p:nvPr/>
        </p:nvSpPr>
        <p:spPr>
          <a:xfrm>
            <a:off x="1051560" y="3108960"/>
            <a:ext cx="1554480" cy="50292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Code LLM</a:t>
            </a:r>
            <a:endParaRPr lang="en-US" sz="1150" dirty="0"/>
          </a:p>
        </p:txBody>
      </p:sp>
      <p:sp>
        <p:nvSpPr>
          <p:cNvPr id="18" name="Shape 16"/>
          <p:cNvSpPr/>
          <p:nvPr/>
        </p:nvSpPr>
        <p:spPr>
          <a:xfrm>
            <a:off x="2788920" y="3108960"/>
            <a:ext cx="1554480" cy="502920"/>
          </a:xfrm>
          <a:prstGeom prst="roundRect">
            <a:avLst>
              <a:gd name="adj" fmla="val 14545"/>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9" name="Text 17"/>
          <p:cNvSpPr/>
          <p:nvPr/>
        </p:nvSpPr>
        <p:spPr>
          <a:xfrm>
            <a:off x="2788920" y="3108960"/>
            <a:ext cx="1554480" cy="50292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General LLM</a:t>
            </a:r>
            <a:endParaRPr lang="en-US" sz="1150" dirty="0"/>
          </a:p>
        </p:txBody>
      </p:sp>
      <p:sp>
        <p:nvSpPr>
          <p:cNvPr id="20" name="Text 18"/>
          <p:cNvSpPr/>
          <p:nvPr/>
        </p:nvSpPr>
        <p:spPr>
          <a:xfrm>
            <a:off x="5577840" y="1371600"/>
            <a:ext cx="6080760" cy="320040"/>
          </a:xfrm>
          <a:prstGeom prst="rect">
            <a:avLst/>
          </a:prstGeom>
          <a:noFill/>
          <a:ln/>
        </p:spPr>
        <p:txBody>
          <a:bodyPr wrap="square" rtlCol="0" anchor="ctr"/>
          <a:lstStyle/>
          <a:p>
            <a:pPr marL="0" indent="0">
              <a:buNone/>
            </a:pPr>
            <a:r>
              <a:rPr lang="en-US" sz="1400" b="1" dirty="0">
                <a:solidFill>
                  <a:srgbClr val="F2F5F8"/>
                </a:solidFill>
                <a:latin typeface="Calibri" pitchFamily="34" charset="0"/>
                <a:ea typeface="Calibri" pitchFamily="34" charset="-122"/>
                <a:cs typeface="Calibri" pitchFamily="34" charset="-120"/>
              </a:rPr>
              <a:t>Registering the router</a:t>
            </a:r>
            <a:endParaRPr lang="en-US" sz="1400" dirty="0"/>
          </a:p>
        </p:txBody>
      </p:sp>
      <p:sp>
        <p:nvSpPr>
          <p:cNvPr id="21" name="Shape 19"/>
          <p:cNvSpPr/>
          <p:nvPr/>
        </p:nvSpPr>
        <p:spPr>
          <a:xfrm>
            <a:off x="5577840" y="1783080"/>
            <a:ext cx="6080760" cy="2194560"/>
          </a:xfrm>
          <a:prstGeom prst="roundRect">
            <a:avLst>
              <a:gd name="adj" fmla="val 2917"/>
            </a:avLst>
          </a:prstGeom>
          <a:solidFill>
            <a:srgbClr val="0B0E13"/>
          </a:solidFill>
          <a:ln w="12700">
            <a:solidFill>
              <a:srgbClr val="2C3441"/>
            </a:solidFill>
            <a:prstDash val="solid"/>
          </a:ln>
        </p:spPr>
      </p:sp>
      <p:sp>
        <p:nvSpPr>
          <p:cNvPr id="22" name="Text 20"/>
          <p:cNvSpPr/>
          <p:nvPr/>
        </p:nvSpPr>
        <p:spPr>
          <a:xfrm>
            <a:off x="5742432" y="1892808"/>
            <a:ext cx="5751576" cy="1975104"/>
          </a:xfrm>
          <a:prstGeom prst="rect">
            <a:avLst/>
          </a:prstGeom>
          <a:noFill/>
          <a:ln/>
        </p:spPr>
        <p:txBody>
          <a:bodyPr wrap="square" rtlCol="0" anchor="t"/>
          <a:lstStyle/>
          <a:p>
            <a:pPr marL="0" indent="0" algn="l">
              <a:lnSpc>
                <a:spcPct val="115000"/>
              </a:lnSpc>
              <a:buNone/>
            </a:pPr>
            <a:r>
              <a:rPr lang="en-US" sz="1300" dirty="0">
                <a:solidFill>
                  <a:srgbClr val="D8E1E8"/>
                </a:solidFill>
                <a:latin typeface="Courier New" pitchFamily="34" charset="0"/>
                <a:ea typeface="Courier New" pitchFamily="34" charset="-122"/>
                <a:cs typeface="Courier New" pitchFamily="34" charset="-120"/>
              </a:rPr>
              <a:t>def route(state) -&gt; Literal["Programming", "General"]:</a:t>
            </a:r>
            <a:endParaRPr lang="en-US" sz="1300" dirty="0"/>
          </a:p>
          <a:p>
            <a:pPr marL="0" indent="0" algn="l">
              <a:lnSpc>
                <a:spcPct val="115000"/>
              </a:lnSpc>
              <a:buNone/>
            </a:pPr>
            <a:r>
              <a:rPr lang="en-US" sz="1300" dirty="0">
                <a:solidFill>
                  <a:srgbClr val="D8E1E8"/>
                </a:solidFill>
                <a:latin typeface="Courier New" pitchFamily="34" charset="0"/>
                <a:ea typeface="Courier New" pitchFamily="34" charset="-122"/>
                <a:cs typeface="Courier New" pitchFamily="34" charset="-120"/>
              </a:rPr>
              <a:t>    return state["category"]</a:t>
            </a:r>
            <a:endParaRPr lang="en-US" sz="1300" dirty="0"/>
          </a:p>
          <a:p>
            <a:pPr marL="0" indent="0" algn="l">
              <a:lnSpc>
                <a:spcPct val="115000"/>
              </a:lnSpc>
              <a:buNone/>
            </a:pPr>
            <a:endParaRPr lang="en-US" sz="1300" dirty="0"/>
          </a:p>
          <a:p>
            <a:pPr marL="0" indent="0" algn="l">
              <a:lnSpc>
                <a:spcPct val="115000"/>
              </a:lnSpc>
              <a:buNone/>
            </a:pPr>
            <a:r>
              <a:rPr lang="en-US" sz="1300" dirty="0">
                <a:solidFill>
                  <a:srgbClr val="D8E1E8"/>
                </a:solidFill>
                <a:latin typeface="Courier New" pitchFamily="34" charset="0"/>
                <a:ea typeface="Courier New" pitchFamily="34" charset="-122"/>
                <a:cs typeface="Courier New" pitchFamily="34" charset="-120"/>
              </a:rPr>
              <a:t>builder.add_conditional_edges(</a:t>
            </a:r>
            <a:endParaRPr lang="en-US" sz="1300" dirty="0"/>
          </a:p>
          <a:p>
            <a:pPr marL="0" indent="0" algn="l">
              <a:lnSpc>
                <a:spcPct val="115000"/>
              </a:lnSpc>
              <a:buNone/>
            </a:pPr>
            <a:r>
              <a:rPr lang="en-US" sz="1300" dirty="0">
                <a:solidFill>
                  <a:srgbClr val="D8E1E8"/>
                </a:solidFill>
                <a:latin typeface="Courier New" pitchFamily="34" charset="0"/>
                <a:ea typeface="Courier New" pitchFamily="34" charset="-122"/>
                <a:cs typeface="Courier New" pitchFamily="34" charset="-120"/>
              </a:rPr>
              <a:t>    "Classify",   # source node</a:t>
            </a:r>
            <a:endParaRPr lang="en-US" sz="1300" dirty="0"/>
          </a:p>
          <a:p>
            <a:pPr marL="0" indent="0" algn="l">
              <a:lnSpc>
                <a:spcPct val="115000"/>
              </a:lnSpc>
              <a:buNone/>
            </a:pPr>
            <a:r>
              <a:rPr lang="en-US" sz="1300" dirty="0">
                <a:solidFill>
                  <a:srgbClr val="D8E1E8"/>
                </a:solidFill>
                <a:latin typeface="Courier New" pitchFamily="34" charset="0"/>
                <a:ea typeface="Courier New" pitchFamily="34" charset="-122"/>
                <a:cs typeface="Courier New" pitchFamily="34" charset="-120"/>
              </a:rPr>
              <a:t>    route,        # function reading state</a:t>
            </a:r>
            <a:endParaRPr lang="en-US" sz="1300" dirty="0"/>
          </a:p>
          <a:p>
            <a:pPr marL="0" indent="0" algn="l">
              <a:lnSpc>
                <a:spcPct val="115000"/>
              </a:lnSpc>
              <a:buNone/>
            </a:pPr>
            <a:r>
              <a:rPr lang="en-US" sz="1300" dirty="0">
                <a:solidFill>
                  <a:srgbClr val="D8E1E8"/>
                </a:solidFill>
                <a:latin typeface="Courier New" pitchFamily="34" charset="0"/>
                <a:ea typeface="Courier New" pitchFamily="34" charset="-122"/>
                <a:cs typeface="Courier New" pitchFamily="34" charset="-120"/>
              </a:rPr>
              <a:t>    ["Programming", "General"]</a:t>
            </a:r>
            <a:endParaRPr lang="en-US" sz="1300" dirty="0"/>
          </a:p>
          <a:p>
            <a:pPr marL="0" indent="0" algn="l">
              <a:lnSpc>
                <a:spcPct val="115000"/>
              </a:lnSpc>
              <a:buNone/>
            </a:pPr>
            <a:r>
              <a:rPr lang="en-US" sz="1300" dirty="0">
                <a:solidFill>
                  <a:srgbClr val="D8E1E8"/>
                </a:solidFill>
                <a:latin typeface="Courier New" pitchFamily="34" charset="0"/>
                <a:ea typeface="Courier New" pitchFamily="34" charset="-122"/>
                <a:cs typeface="Courier New" pitchFamily="34" charset="-120"/>
              </a:rPr>
              <a:t>)</a:t>
            </a:r>
            <a:endParaRPr lang="en-US" sz="1300" dirty="0"/>
          </a:p>
        </p:txBody>
      </p:sp>
      <p:sp>
        <p:nvSpPr>
          <p:cNvPr id="23" name="Shape 21"/>
          <p:cNvSpPr/>
          <p:nvPr/>
        </p:nvSpPr>
        <p:spPr>
          <a:xfrm>
            <a:off x="5577840" y="4206240"/>
            <a:ext cx="6080760" cy="960120"/>
          </a:xfrm>
          <a:prstGeom prst="roundRect">
            <a:avLst>
              <a:gd name="adj" fmla="val 7619"/>
            </a:avLst>
          </a:prstGeom>
          <a:solidFill>
            <a:srgbClr val="1B212C"/>
          </a:solidFill>
          <a:ln w="13970">
            <a:solidFill>
              <a:srgbClr val="2DD4BF"/>
            </a:solidFill>
            <a:prstDash val="solid"/>
          </a:ln>
        </p:spPr>
      </p:sp>
      <p:sp>
        <p:nvSpPr>
          <p:cNvPr id="24" name="Text 22"/>
          <p:cNvSpPr/>
          <p:nvPr/>
        </p:nvSpPr>
        <p:spPr>
          <a:xfrm>
            <a:off x="5852160" y="4206240"/>
            <a:ext cx="5532120" cy="960120"/>
          </a:xfrm>
          <a:prstGeom prst="rect">
            <a:avLst/>
          </a:prstGeom>
          <a:noFill/>
          <a:ln/>
        </p:spPr>
        <p:txBody>
          <a:bodyPr wrap="square" rtlCol="0" anchor="ctr"/>
          <a:lstStyle/>
          <a:p>
            <a:pPr marL="0" indent="0">
              <a:buNone/>
            </a:pPr>
            <a:r>
              <a:rPr lang="en-US" sz="1550" i="1" dirty="0">
                <a:solidFill>
                  <a:srgbClr val="2DD4BF"/>
                </a:solidFill>
                <a:latin typeface="Calibri" pitchFamily="34" charset="0"/>
                <a:ea typeface="Calibri" pitchFamily="34" charset="-122"/>
                <a:cs typeface="Calibri" pitchFamily="34" charset="-120"/>
              </a:rPr>
              <a:t>The next node can depend on the current state.</a:t>
            </a:r>
            <a:endParaRPr lang="en-US" sz="1550" dirty="0"/>
          </a:p>
        </p:txBody>
      </p:sp>
      <p:sp>
        <p:nvSpPr>
          <p:cNvPr id="25" name="Text 23"/>
          <p:cNvSpPr/>
          <p:nvPr/>
        </p:nvSpPr>
        <p:spPr>
          <a:xfrm>
            <a:off x="5577840" y="5349240"/>
            <a:ext cx="6080760" cy="1005840"/>
          </a:xfrm>
          <a:prstGeom prst="rect">
            <a:avLst/>
          </a:prstGeom>
          <a:noFill/>
          <a:ln/>
        </p:spPr>
        <p:txBody>
          <a:bodyPr wrap="square" rtlCol="0" anchor="t"/>
          <a:lstStyle/>
          <a:p>
            <a:pPr marL="0" indent="0">
              <a:buNone/>
            </a:pPr>
            <a:r>
              <a:rPr lang="en-US" sz="1300" dirty="0">
                <a:solidFill>
                  <a:srgbClr val="8A96A8"/>
                </a:solidFill>
                <a:latin typeface="Calibri" pitchFamily="34" charset="0"/>
                <a:ea typeface="Calibri" pitchFamily="34" charset="-122"/>
                <a:cs typeface="Calibri" pitchFamily="34" charset="-120"/>
              </a:rPr>
              <a:t>A normal add_edge() is a fixed hop. A conditional edge asks a function to look at the state and choose — this is what lets one graph handle many kinds of input.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51C"/>
        </a:solidFill>
        <a:effectLst/>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B6577"/>
                </a:solidFill>
                <a:latin typeface="Calibri" pitchFamily="34" charset="0"/>
                <a:ea typeface="Calibri" pitchFamily="34" charset="-122"/>
                <a:cs typeface="Calibri" pitchFamily="34" charset="-120"/>
              </a:rPr>
              <a:t>LangGraph — SE Lab</a:t>
            </a:r>
            <a:endParaRPr lang="en-US" sz="900" dirty="0"/>
          </a:p>
        </p:txBody>
      </p:sp>
      <p:sp>
        <p:nvSpPr>
          <p:cNvPr id="3" name="Text 1"/>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548640" y="164592"/>
            <a:ext cx="11094415" cy="274320"/>
          </a:xfrm>
          <a:prstGeom prst="rect">
            <a:avLst/>
          </a:prstGeom>
          <a:noFill/>
          <a:ln/>
        </p:spPr>
        <p:txBody>
          <a:bodyPr wrap="square" rtlCol="0" anchor="ctr"/>
          <a:lstStyle/>
          <a:p>
            <a:pPr marL="0" indent="0">
              <a:buNone/>
            </a:pPr>
            <a:r>
              <a:rPr lang="en-US" sz="1100" b="1" kern="0" spc="200" dirty="0">
                <a:solidFill>
                  <a:srgbClr val="2DD4BF"/>
                </a:solidFill>
                <a:latin typeface="Calibri" pitchFamily="34" charset="0"/>
                <a:ea typeface="Calibri" pitchFamily="34" charset="-122"/>
                <a:cs typeface="Calibri" pitchFamily="34" charset="-120"/>
              </a:rPr>
              <a:t>CYCLES</a:t>
            </a:r>
            <a:endParaRPr lang="en-US" sz="1100" dirty="0"/>
          </a:p>
        </p:txBody>
      </p:sp>
      <p:sp>
        <p:nvSpPr>
          <p:cNvPr id="5" name="Text 3"/>
          <p:cNvSpPr/>
          <p:nvPr/>
        </p:nvSpPr>
        <p:spPr>
          <a:xfrm>
            <a:off x="548640" y="384048"/>
            <a:ext cx="11094415" cy="685800"/>
          </a:xfrm>
          <a:prstGeom prst="rect">
            <a:avLst/>
          </a:prstGeom>
          <a:noFill/>
          <a:ln/>
        </p:spPr>
        <p:txBody>
          <a:bodyPr wrap="square" rtlCol="0" anchor="ctr"/>
          <a:lstStyle/>
          <a:p>
            <a:pPr marL="0" indent="0" algn="l">
              <a:buNone/>
            </a:pPr>
            <a:r>
              <a:rPr lang="en-US" sz="3000" b="1" dirty="0">
                <a:solidFill>
                  <a:srgbClr val="F2F5F8"/>
                </a:solidFill>
                <a:latin typeface="Calibri" pitchFamily="34" charset="0"/>
                <a:ea typeface="Calibri" pitchFamily="34" charset="-122"/>
                <a:cs typeface="Calibri" pitchFamily="34" charset="-120"/>
              </a:rPr>
              <a:t>Graphs Can Also Loop</a:t>
            </a:r>
            <a:endParaRPr lang="en-US" sz="3000" dirty="0"/>
          </a:p>
        </p:txBody>
      </p:sp>
      <p:sp>
        <p:nvSpPr>
          <p:cNvPr id="6" name="Shape 4"/>
          <p:cNvSpPr/>
          <p:nvPr/>
        </p:nvSpPr>
        <p:spPr>
          <a:xfrm>
            <a:off x="2057400" y="1417320"/>
            <a:ext cx="1920240" cy="530352"/>
          </a:xfrm>
          <a:prstGeom prst="roundRect">
            <a:avLst>
              <a:gd name="adj" fmla="val 13793"/>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7" name="Text 5"/>
          <p:cNvSpPr/>
          <p:nvPr/>
        </p:nvSpPr>
        <p:spPr>
          <a:xfrm>
            <a:off x="2057400" y="1417320"/>
            <a:ext cx="1920240" cy="530352"/>
          </a:xfrm>
          <a:prstGeom prst="rect">
            <a:avLst/>
          </a:prstGeom>
          <a:noFill/>
          <a:ln/>
        </p:spPr>
        <p:txBody>
          <a:bodyPr wrap="square" rtlCol="0" anchor="ctr"/>
          <a:lstStyle/>
          <a:p>
            <a:pPr marL="0" indent="0" algn="ctr">
              <a:buNone/>
            </a:pPr>
            <a:r>
              <a:rPr lang="en-US" sz="1300" b="1" dirty="0">
                <a:solidFill>
                  <a:srgbClr val="F2F5F8"/>
                </a:solidFill>
                <a:latin typeface="Calibri" pitchFamily="34" charset="0"/>
                <a:ea typeface="Calibri" pitchFamily="34" charset="-122"/>
                <a:cs typeface="Calibri" pitchFamily="34" charset="-120"/>
              </a:rPr>
              <a:t>Generate</a:t>
            </a:r>
            <a:endParaRPr lang="en-US" sz="1300" dirty="0"/>
          </a:p>
        </p:txBody>
      </p:sp>
      <p:sp>
        <p:nvSpPr>
          <p:cNvPr id="8" name="Shape 6"/>
          <p:cNvSpPr/>
          <p:nvPr/>
        </p:nvSpPr>
        <p:spPr>
          <a:xfrm>
            <a:off x="3017520" y="1947672"/>
            <a:ext cx="0" cy="292608"/>
          </a:xfrm>
          <a:prstGeom prst="line">
            <a:avLst/>
          </a:prstGeom>
          <a:noFill/>
          <a:ln w="19050">
            <a:solidFill>
              <a:srgbClr val="8A96A8"/>
            </a:solidFill>
            <a:prstDash val="solid"/>
            <a:tailEnd type="triangle"/>
          </a:ln>
        </p:spPr>
      </p:sp>
      <p:sp>
        <p:nvSpPr>
          <p:cNvPr id="9" name="Shape 7"/>
          <p:cNvSpPr/>
          <p:nvPr/>
        </p:nvSpPr>
        <p:spPr>
          <a:xfrm>
            <a:off x="2057400" y="2240280"/>
            <a:ext cx="1920240" cy="530352"/>
          </a:xfrm>
          <a:prstGeom prst="roundRect">
            <a:avLst>
              <a:gd name="adj" fmla="val 13793"/>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0" name="Text 8"/>
          <p:cNvSpPr/>
          <p:nvPr/>
        </p:nvSpPr>
        <p:spPr>
          <a:xfrm>
            <a:off x="2057400" y="2240280"/>
            <a:ext cx="1920240" cy="530352"/>
          </a:xfrm>
          <a:prstGeom prst="rect">
            <a:avLst/>
          </a:prstGeom>
          <a:noFill/>
          <a:ln/>
        </p:spPr>
        <p:txBody>
          <a:bodyPr wrap="square" rtlCol="0" anchor="ctr"/>
          <a:lstStyle/>
          <a:p>
            <a:pPr marL="0" indent="0" algn="ctr">
              <a:buNone/>
            </a:pPr>
            <a:r>
              <a:rPr lang="en-US" sz="1300" b="1" dirty="0">
                <a:solidFill>
                  <a:srgbClr val="F2F5F8"/>
                </a:solidFill>
                <a:latin typeface="Calibri" pitchFamily="34" charset="0"/>
                <a:ea typeface="Calibri" pitchFamily="34" charset="-122"/>
                <a:cs typeface="Calibri" pitchFamily="34" charset="-120"/>
              </a:rPr>
              <a:t>Evaluate</a:t>
            </a:r>
            <a:endParaRPr lang="en-US" sz="1300" dirty="0"/>
          </a:p>
        </p:txBody>
      </p:sp>
      <p:sp>
        <p:nvSpPr>
          <p:cNvPr id="11" name="Shape 9"/>
          <p:cNvSpPr/>
          <p:nvPr/>
        </p:nvSpPr>
        <p:spPr>
          <a:xfrm>
            <a:off x="3017520" y="2770632"/>
            <a:ext cx="0" cy="292608"/>
          </a:xfrm>
          <a:prstGeom prst="line">
            <a:avLst/>
          </a:prstGeom>
          <a:noFill/>
          <a:ln w="19050">
            <a:solidFill>
              <a:srgbClr val="8A96A8"/>
            </a:solidFill>
            <a:prstDash val="solid"/>
            <a:tailEnd type="triangle"/>
          </a:ln>
        </p:spPr>
      </p:sp>
      <p:sp>
        <p:nvSpPr>
          <p:cNvPr id="12" name="Shape 10"/>
          <p:cNvSpPr/>
          <p:nvPr/>
        </p:nvSpPr>
        <p:spPr>
          <a:xfrm>
            <a:off x="2057400" y="3063240"/>
            <a:ext cx="1920240" cy="530352"/>
          </a:xfrm>
          <a:prstGeom prst="roundRect">
            <a:avLst>
              <a:gd name="adj" fmla="val 13793"/>
            </a:avLst>
          </a:prstGeom>
          <a:solidFill>
            <a:srgbClr val="1B4B47"/>
          </a:solidFill>
          <a:ln w="15875">
            <a:solidFill>
              <a:srgbClr val="2DD4BF"/>
            </a:solidFill>
            <a:prstDash val="solid"/>
          </a:ln>
          <a:effectLst>
            <a:outerShdw blurRad="76200" dist="25400" dir="5400000" algn="bl" rotWithShape="0">
              <a:srgbClr val="000000">
                <a:alpha val="35000"/>
              </a:srgbClr>
            </a:outerShdw>
          </a:effectLst>
        </p:spPr>
      </p:sp>
      <p:sp>
        <p:nvSpPr>
          <p:cNvPr id="13" name="Text 11"/>
          <p:cNvSpPr/>
          <p:nvPr/>
        </p:nvSpPr>
        <p:spPr>
          <a:xfrm>
            <a:off x="2057400" y="3063240"/>
            <a:ext cx="1920240" cy="530352"/>
          </a:xfrm>
          <a:prstGeom prst="rect">
            <a:avLst/>
          </a:prstGeom>
          <a:noFill/>
          <a:ln/>
        </p:spPr>
        <p:txBody>
          <a:bodyPr wrap="square" rtlCol="0" anchor="ctr"/>
          <a:lstStyle/>
          <a:p>
            <a:pPr marL="0" indent="0" algn="ctr">
              <a:buNone/>
            </a:pPr>
            <a:r>
              <a:rPr lang="en-US" sz="1300" b="1" dirty="0">
                <a:solidFill>
                  <a:srgbClr val="2DD4BF"/>
                </a:solidFill>
                <a:latin typeface="Calibri" pitchFamily="34" charset="0"/>
                <a:ea typeface="Calibri" pitchFamily="34" charset="-122"/>
                <a:cs typeface="Calibri" pitchFamily="34" charset="-120"/>
              </a:rPr>
              <a:t>Good?</a:t>
            </a:r>
            <a:endParaRPr lang="en-US" sz="1300" dirty="0"/>
          </a:p>
        </p:txBody>
      </p:sp>
      <p:sp>
        <p:nvSpPr>
          <p:cNvPr id="14" name="Shape 12"/>
          <p:cNvSpPr/>
          <p:nvPr/>
        </p:nvSpPr>
        <p:spPr>
          <a:xfrm>
            <a:off x="3017520" y="3593592"/>
            <a:ext cx="0" cy="365760"/>
          </a:xfrm>
          <a:prstGeom prst="line">
            <a:avLst/>
          </a:prstGeom>
          <a:noFill/>
          <a:ln w="19050">
            <a:solidFill>
              <a:srgbClr val="8A96A8"/>
            </a:solidFill>
            <a:prstDash val="solid"/>
            <a:tailEnd type="triangle"/>
          </a:ln>
        </p:spPr>
      </p:sp>
      <p:sp>
        <p:nvSpPr>
          <p:cNvPr id="15" name="Text 13"/>
          <p:cNvSpPr/>
          <p:nvPr/>
        </p:nvSpPr>
        <p:spPr>
          <a:xfrm>
            <a:off x="3154680" y="3593592"/>
            <a:ext cx="914400" cy="274320"/>
          </a:xfrm>
          <a:prstGeom prst="rect">
            <a:avLst/>
          </a:prstGeom>
          <a:noFill/>
          <a:ln/>
        </p:spPr>
        <p:txBody>
          <a:bodyPr wrap="square" rtlCol="0" anchor="ctr"/>
          <a:lstStyle/>
          <a:p>
            <a:pPr marL="0" indent="0" algn="l">
              <a:buNone/>
            </a:pPr>
            <a:r>
              <a:rPr lang="en-US" sz="1000" i="1" dirty="0">
                <a:solidFill>
                  <a:srgbClr val="8A96A8"/>
                </a:solidFill>
                <a:latin typeface="Calibri" pitchFamily="34" charset="0"/>
                <a:ea typeface="Calibri" pitchFamily="34" charset="-122"/>
                <a:cs typeface="Calibri" pitchFamily="34" charset="-120"/>
              </a:rPr>
              <a:t>YES</a:t>
            </a:r>
            <a:endParaRPr lang="en-US" sz="1000" dirty="0"/>
          </a:p>
        </p:txBody>
      </p:sp>
      <p:sp>
        <p:nvSpPr>
          <p:cNvPr id="16" name="Shape 14"/>
          <p:cNvSpPr/>
          <p:nvPr/>
        </p:nvSpPr>
        <p:spPr>
          <a:xfrm>
            <a:off x="2468880" y="3959352"/>
            <a:ext cx="1097280" cy="438912"/>
          </a:xfrm>
          <a:prstGeom prst="roundRect">
            <a:avLst>
              <a:gd name="adj" fmla="val 50000"/>
            </a:avLst>
          </a:prstGeom>
          <a:solidFill>
            <a:srgbClr val="241B1B"/>
          </a:solidFill>
          <a:ln w="15875">
            <a:solidFill>
              <a:srgbClr val="2DD4BF"/>
            </a:solidFill>
            <a:prstDash val="solid"/>
          </a:ln>
        </p:spPr>
      </p:sp>
      <p:sp>
        <p:nvSpPr>
          <p:cNvPr id="17" name="Text 15"/>
          <p:cNvSpPr/>
          <p:nvPr/>
        </p:nvSpPr>
        <p:spPr>
          <a:xfrm>
            <a:off x="2468880" y="3959352"/>
            <a:ext cx="1097280" cy="438912"/>
          </a:xfrm>
          <a:prstGeom prst="rect">
            <a:avLst/>
          </a:prstGeom>
          <a:noFill/>
          <a:ln/>
        </p:spPr>
        <p:txBody>
          <a:bodyPr wrap="square" rtlCol="0" anchor="ctr"/>
          <a:lstStyle/>
          <a:p>
            <a:pPr marL="0" indent="0" algn="ctr">
              <a:buNone/>
            </a:pPr>
            <a:r>
              <a:rPr lang="en-US" sz="1100" b="1" kern="0" spc="100" dirty="0">
                <a:solidFill>
                  <a:srgbClr val="8A96A8"/>
                </a:solidFill>
                <a:latin typeface="Calibri" pitchFamily="34" charset="0"/>
                <a:ea typeface="Calibri" pitchFamily="34" charset="-122"/>
                <a:cs typeface="Calibri" pitchFamily="34" charset="-120"/>
              </a:rPr>
              <a:t>END</a:t>
            </a:r>
            <a:endParaRPr lang="en-US" sz="1100" dirty="0"/>
          </a:p>
        </p:txBody>
      </p:sp>
      <p:sp>
        <p:nvSpPr>
          <p:cNvPr id="18" name="Shape 16"/>
          <p:cNvSpPr/>
          <p:nvPr/>
        </p:nvSpPr>
        <p:spPr>
          <a:xfrm>
            <a:off x="3977640" y="3328416"/>
            <a:ext cx="822960" cy="0"/>
          </a:xfrm>
          <a:prstGeom prst="line">
            <a:avLst/>
          </a:prstGeom>
          <a:noFill/>
          <a:ln w="19050">
            <a:solidFill>
              <a:srgbClr val="F2B84B"/>
            </a:solidFill>
            <a:prstDash val="solid"/>
          </a:ln>
        </p:spPr>
      </p:sp>
      <p:sp>
        <p:nvSpPr>
          <p:cNvPr id="19" name="Shape 17"/>
          <p:cNvSpPr/>
          <p:nvPr/>
        </p:nvSpPr>
        <p:spPr>
          <a:xfrm>
            <a:off x="4800600" y="1682496"/>
            <a:ext cx="0" cy="1645920"/>
          </a:xfrm>
          <a:prstGeom prst="line">
            <a:avLst/>
          </a:prstGeom>
          <a:noFill/>
          <a:ln w="19050">
            <a:solidFill>
              <a:srgbClr val="F2B84B"/>
            </a:solidFill>
            <a:prstDash val="solid"/>
          </a:ln>
        </p:spPr>
      </p:sp>
      <p:sp>
        <p:nvSpPr>
          <p:cNvPr id="20" name="Shape 18"/>
          <p:cNvSpPr/>
          <p:nvPr/>
        </p:nvSpPr>
        <p:spPr>
          <a:xfrm flipH="1">
            <a:off x="3977640" y="1682496"/>
            <a:ext cx="822960" cy="0"/>
          </a:xfrm>
          <a:prstGeom prst="line">
            <a:avLst/>
          </a:prstGeom>
          <a:noFill/>
          <a:ln w="19050">
            <a:solidFill>
              <a:srgbClr val="F2B84B"/>
            </a:solidFill>
            <a:prstDash val="solid"/>
            <a:tailEnd type="triangle"/>
          </a:ln>
        </p:spPr>
      </p:sp>
      <p:sp>
        <p:nvSpPr>
          <p:cNvPr id="21" name="Text 19"/>
          <p:cNvSpPr/>
          <p:nvPr/>
        </p:nvSpPr>
        <p:spPr>
          <a:xfrm>
            <a:off x="4069080" y="2628648"/>
            <a:ext cx="1188720" cy="256032"/>
          </a:xfrm>
          <a:prstGeom prst="rect">
            <a:avLst/>
          </a:prstGeom>
          <a:noFill/>
          <a:ln/>
        </p:spPr>
        <p:txBody>
          <a:bodyPr wrap="square" rtlCol="0" anchor="ctr"/>
          <a:lstStyle/>
          <a:p>
            <a:pPr marL="0" indent="0" algn="l">
              <a:buNone/>
            </a:pPr>
            <a:r>
              <a:rPr lang="en-US" sz="1000" i="1" dirty="0">
                <a:solidFill>
                  <a:srgbClr val="F2B84B"/>
                </a:solidFill>
                <a:latin typeface="Calibri" pitchFamily="34" charset="0"/>
                <a:ea typeface="Calibri" pitchFamily="34" charset="-122"/>
                <a:cs typeface="Calibri" pitchFamily="34" charset="-120"/>
              </a:rPr>
              <a:t>NO — retry</a:t>
            </a:r>
            <a:endParaRPr lang="en-US" sz="1000" dirty="0"/>
          </a:p>
        </p:txBody>
      </p:sp>
      <p:sp>
        <p:nvSpPr>
          <p:cNvPr id="22" name="Shape 20"/>
          <p:cNvSpPr/>
          <p:nvPr/>
        </p:nvSpPr>
        <p:spPr>
          <a:xfrm>
            <a:off x="6675120" y="1417320"/>
            <a:ext cx="4937760" cy="2331720"/>
          </a:xfrm>
          <a:prstGeom prst="roundRect">
            <a:avLst>
              <a:gd name="adj" fmla="val 3137"/>
            </a:avLst>
          </a:prstGeom>
          <a:solidFill>
            <a:srgbClr val="1B212C"/>
          </a:solidFill>
          <a:ln w="12700">
            <a:solidFill>
              <a:srgbClr val="2C3441"/>
            </a:solidFill>
            <a:prstDash val="solid"/>
          </a:ln>
        </p:spPr>
      </p:sp>
      <p:sp>
        <p:nvSpPr>
          <p:cNvPr id="23" name="Text 21"/>
          <p:cNvSpPr/>
          <p:nvPr/>
        </p:nvSpPr>
        <p:spPr>
          <a:xfrm>
            <a:off x="6931152" y="1572768"/>
            <a:ext cx="4425696" cy="274320"/>
          </a:xfrm>
          <a:prstGeom prst="rect">
            <a:avLst/>
          </a:prstGeom>
          <a:noFill/>
          <a:ln/>
        </p:spPr>
        <p:txBody>
          <a:bodyPr wrap="square" rtlCol="0" anchor="ctr"/>
          <a:lstStyle/>
          <a:p>
            <a:pPr marL="0" indent="0">
              <a:buNone/>
            </a:pPr>
            <a:r>
              <a:rPr lang="en-US" sz="1350" b="1" dirty="0">
                <a:solidFill>
                  <a:srgbClr val="F2F5F8"/>
                </a:solidFill>
                <a:latin typeface="Calibri" pitchFamily="34" charset="0"/>
                <a:ea typeface="Calibri" pitchFamily="34" charset="-122"/>
                <a:cs typeface="Calibri" pitchFamily="34" charset="-120"/>
              </a:rPr>
              <a:t>A practical example</a:t>
            </a:r>
            <a:endParaRPr lang="en-US" sz="1350" dirty="0"/>
          </a:p>
        </p:txBody>
      </p:sp>
      <p:sp>
        <p:nvSpPr>
          <p:cNvPr id="24" name="Text 22"/>
          <p:cNvSpPr/>
          <p:nvPr/>
        </p:nvSpPr>
        <p:spPr>
          <a:xfrm>
            <a:off x="6931152" y="1920240"/>
            <a:ext cx="4425696" cy="1737360"/>
          </a:xfrm>
          <a:prstGeom prst="rect">
            <a:avLst/>
          </a:prstGeom>
          <a:noFill/>
          <a:ln/>
        </p:spPr>
        <p:txBody>
          <a:bodyPr wrap="square" rtlCol="0" anchor="t"/>
          <a:lstStyle/>
          <a:p>
            <a:pPr marL="228600" indent="-228600" algn="l">
              <a:spcAft>
                <a:spcPts val="1000"/>
              </a:spcAft>
              <a:buSzPct val="100000"/>
              <a:buChar char="•"/>
            </a:pPr>
            <a:r>
              <a:rPr lang="en-US" sz="1350" dirty="0">
                <a:solidFill>
                  <a:srgbClr val="F2F5F8"/>
                </a:solidFill>
                <a:latin typeface="Calibri" pitchFamily="34" charset="0"/>
                <a:ea typeface="Calibri" pitchFamily="34" charset="-122"/>
                <a:cs typeface="Calibri" pitchFamily="34" charset="-120"/>
              </a:rPr>
              <a:t>LLM generates an answer</a:t>
            </a:r>
            <a:endParaRPr lang="en-US" sz="1350" dirty="0"/>
          </a:p>
          <a:p>
            <a:pPr marL="228600" indent="-228600" algn="l">
              <a:spcAft>
                <a:spcPts val="1000"/>
              </a:spcAft>
              <a:buSzPct val="100000"/>
              <a:buChar char="•"/>
            </a:pPr>
            <a:r>
              <a:rPr lang="en-US" sz="1350" dirty="0">
                <a:solidFill>
                  <a:srgbClr val="F2F5F8"/>
                </a:solidFill>
                <a:latin typeface="Calibri" pitchFamily="34" charset="0"/>
                <a:ea typeface="Calibri" pitchFamily="34" charset="-122"/>
                <a:cs typeface="Calibri" pitchFamily="34" charset="-120"/>
              </a:rPr>
              <a:t>Evaluator checks the quality</a:t>
            </a:r>
            <a:endParaRPr lang="en-US" sz="1350" dirty="0"/>
          </a:p>
          <a:p>
            <a:pPr marL="228600" indent="-228600" algn="l">
              <a:spcAft>
                <a:spcPts val="1000"/>
              </a:spcAft>
              <a:buSzPct val="100000"/>
              <a:buChar char="•"/>
            </a:pPr>
            <a:r>
              <a:rPr lang="en-US" sz="1350" dirty="0">
                <a:solidFill>
                  <a:srgbClr val="F2F5F8"/>
                </a:solidFill>
                <a:latin typeface="Calibri" pitchFamily="34" charset="0"/>
                <a:ea typeface="Calibri" pitchFamily="34" charset="-122"/>
                <a:cs typeface="Calibri" pitchFamily="34" charset="-120"/>
              </a:rPr>
              <a:t>If poor → regenerate</a:t>
            </a:r>
            <a:endParaRPr lang="en-US" sz="1350" dirty="0"/>
          </a:p>
          <a:p>
            <a:pPr marL="228600" indent="-228600" algn="l">
              <a:spcAft>
                <a:spcPts val="1000"/>
              </a:spcAft>
              <a:buSzPct val="100000"/>
              <a:buChar char="•"/>
            </a:pPr>
            <a:r>
              <a:rPr lang="en-US" sz="1350" dirty="0">
                <a:solidFill>
                  <a:srgbClr val="F2F5F8"/>
                </a:solidFill>
                <a:latin typeface="Calibri" pitchFamily="34" charset="0"/>
                <a:ea typeface="Calibri" pitchFamily="34" charset="-122"/>
                <a:cs typeface="Calibri" pitchFamily="34" charset="-120"/>
              </a:rPr>
              <a:t>If good → finish</a:t>
            </a:r>
            <a:endParaRPr lang="en-US" sz="1350" dirty="0"/>
          </a:p>
        </p:txBody>
      </p:sp>
      <p:sp>
        <p:nvSpPr>
          <p:cNvPr id="25" name="Text 23"/>
          <p:cNvSpPr/>
          <p:nvPr/>
        </p:nvSpPr>
        <p:spPr>
          <a:xfrm>
            <a:off x="6675120" y="4023360"/>
            <a:ext cx="4937760" cy="822960"/>
          </a:xfrm>
          <a:prstGeom prst="rect">
            <a:avLst/>
          </a:prstGeom>
          <a:noFill/>
          <a:ln/>
        </p:spPr>
        <p:txBody>
          <a:bodyPr wrap="square" rtlCol="0" anchor="ctr"/>
          <a:lstStyle/>
          <a:p>
            <a:pPr marL="0" indent="0">
              <a:buNone/>
            </a:pPr>
            <a:r>
              <a:rPr lang="en-US" sz="1800" i="1" dirty="0">
                <a:solidFill>
                  <a:srgbClr val="2DD4BF"/>
                </a:solidFill>
                <a:latin typeface="Calibri" pitchFamily="34" charset="0"/>
                <a:ea typeface="Calibri" pitchFamily="34" charset="-122"/>
                <a:cs typeface="Calibri" pitchFamily="34" charset="-120"/>
              </a:rPr>
              <a:t>Graphs are not limited to A → B → C.</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51C"/>
        </a:solidFill>
        <a:effectLst/>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B6577"/>
                </a:solidFill>
                <a:latin typeface="Calibri" pitchFamily="34" charset="0"/>
                <a:ea typeface="Calibri" pitchFamily="34" charset="-122"/>
                <a:cs typeface="Calibri" pitchFamily="34" charset="-120"/>
              </a:rPr>
              <a:t>LangGraph — SE Lab</a:t>
            </a:r>
            <a:endParaRPr lang="en-US" sz="900" dirty="0"/>
          </a:p>
        </p:txBody>
      </p:sp>
      <p:sp>
        <p:nvSpPr>
          <p:cNvPr id="3" name="Text 1"/>
          <p:cNvSpPr/>
          <p:nvPr/>
        </p:nvSpPr>
        <p:spPr>
          <a:xfrm>
            <a:off x="11368735" y="6473952"/>
            <a:ext cx="365760" cy="274320"/>
          </a:xfrm>
          <a:prstGeom prst="rect">
            <a:avLst/>
          </a:prstGeom>
          <a:noFill/>
          <a:ln/>
        </p:spPr>
        <p:txBody>
          <a:bodyPr wrap="square" rtlCol="0" anchor="ctr"/>
          <a:lstStyle/>
          <a:p>
            <a:pPr marL="0" indent="0" algn="r">
              <a:buNone/>
            </a:pPr>
            <a:r>
              <a:rPr lang="en-US" sz="900" dirty="0">
                <a:solidFill>
                  <a:srgbClr val="5B6577"/>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48640" y="164592"/>
            <a:ext cx="11094415" cy="274320"/>
          </a:xfrm>
          <a:prstGeom prst="rect">
            <a:avLst/>
          </a:prstGeom>
          <a:noFill/>
          <a:ln/>
        </p:spPr>
        <p:txBody>
          <a:bodyPr wrap="square" rtlCol="0" anchor="ctr"/>
          <a:lstStyle/>
          <a:p>
            <a:pPr marL="0" indent="0">
              <a:buNone/>
            </a:pPr>
            <a:r>
              <a:rPr lang="en-US" sz="1100" b="1" kern="0" spc="200" dirty="0">
                <a:solidFill>
                  <a:srgbClr val="2DD4BF"/>
                </a:solidFill>
                <a:latin typeface="Calibri" pitchFamily="34" charset="0"/>
                <a:ea typeface="Calibri" pitchFamily="34" charset="-122"/>
                <a:cs typeface="Calibri" pitchFamily="34" charset="-120"/>
              </a:rPr>
              <a:t>APPLICATION</a:t>
            </a:r>
            <a:endParaRPr lang="en-US" sz="1100" dirty="0"/>
          </a:p>
        </p:txBody>
      </p:sp>
      <p:sp>
        <p:nvSpPr>
          <p:cNvPr id="5" name="Text 3"/>
          <p:cNvSpPr/>
          <p:nvPr/>
        </p:nvSpPr>
        <p:spPr>
          <a:xfrm>
            <a:off x="548640" y="384048"/>
            <a:ext cx="11094415" cy="685800"/>
          </a:xfrm>
          <a:prstGeom prst="rect">
            <a:avLst/>
          </a:prstGeom>
          <a:noFill/>
          <a:ln/>
        </p:spPr>
        <p:txBody>
          <a:bodyPr wrap="square" rtlCol="0" anchor="ctr"/>
          <a:lstStyle/>
          <a:p>
            <a:pPr marL="0" indent="0" algn="l">
              <a:buNone/>
            </a:pPr>
            <a:r>
              <a:rPr lang="en-US" sz="3000" b="1" dirty="0">
                <a:solidFill>
                  <a:srgbClr val="F2F5F8"/>
                </a:solidFill>
                <a:latin typeface="Calibri" pitchFamily="34" charset="0"/>
                <a:ea typeface="Calibri" pitchFamily="34" charset="-122"/>
                <a:cs typeface="Calibri" pitchFamily="34" charset="-120"/>
              </a:rPr>
              <a:t>Where Can This Be Used?</a:t>
            </a:r>
            <a:endParaRPr lang="en-US" sz="3000" dirty="0"/>
          </a:p>
        </p:txBody>
      </p:sp>
      <p:sp>
        <p:nvSpPr>
          <p:cNvPr id="6" name="Shape 4"/>
          <p:cNvSpPr/>
          <p:nvPr/>
        </p:nvSpPr>
        <p:spPr>
          <a:xfrm>
            <a:off x="2011680" y="1234440"/>
            <a:ext cx="2103120" cy="457200"/>
          </a:xfrm>
          <a:prstGeom prst="roundRect">
            <a:avLst>
              <a:gd name="adj" fmla="val 16000"/>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7" name="Text 5"/>
          <p:cNvSpPr/>
          <p:nvPr/>
        </p:nvSpPr>
        <p:spPr>
          <a:xfrm>
            <a:off x="2011680" y="1234440"/>
            <a:ext cx="2103120" cy="45720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Code Submission</a:t>
            </a:r>
            <a:endParaRPr lang="en-US" sz="1150" dirty="0"/>
          </a:p>
        </p:txBody>
      </p:sp>
      <p:sp>
        <p:nvSpPr>
          <p:cNvPr id="8" name="Shape 6"/>
          <p:cNvSpPr/>
          <p:nvPr/>
        </p:nvSpPr>
        <p:spPr>
          <a:xfrm>
            <a:off x="3063240" y="1691640"/>
            <a:ext cx="0" cy="201168"/>
          </a:xfrm>
          <a:prstGeom prst="line">
            <a:avLst/>
          </a:prstGeom>
          <a:noFill/>
          <a:ln w="19050">
            <a:solidFill>
              <a:srgbClr val="8A96A8"/>
            </a:solidFill>
            <a:prstDash val="solid"/>
            <a:tailEnd type="triangle"/>
          </a:ln>
        </p:spPr>
      </p:sp>
      <p:sp>
        <p:nvSpPr>
          <p:cNvPr id="9" name="Shape 7"/>
          <p:cNvSpPr/>
          <p:nvPr/>
        </p:nvSpPr>
        <p:spPr>
          <a:xfrm>
            <a:off x="2011680" y="1892808"/>
            <a:ext cx="2103120" cy="457200"/>
          </a:xfrm>
          <a:prstGeom prst="roundRect">
            <a:avLst>
              <a:gd name="adj" fmla="val 16000"/>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0" name="Text 8"/>
          <p:cNvSpPr/>
          <p:nvPr/>
        </p:nvSpPr>
        <p:spPr>
          <a:xfrm>
            <a:off x="2011680" y="1892808"/>
            <a:ext cx="2103120" cy="45720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Analyze Code</a:t>
            </a:r>
            <a:endParaRPr lang="en-US" sz="1150" dirty="0"/>
          </a:p>
        </p:txBody>
      </p:sp>
      <p:sp>
        <p:nvSpPr>
          <p:cNvPr id="11" name="Shape 9"/>
          <p:cNvSpPr/>
          <p:nvPr/>
        </p:nvSpPr>
        <p:spPr>
          <a:xfrm>
            <a:off x="3063240" y="2350008"/>
            <a:ext cx="0" cy="201168"/>
          </a:xfrm>
          <a:prstGeom prst="line">
            <a:avLst/>
          </a:prstGeom>
          <a:noFill/>
          <a:ln w="19050">
            <a:solidFill>
              <a:srgbClr val="8A96A8"/>
            </a:solidFill>
            <a:prstDash val="solid"/>
            <a:tailEnd type="triangle"/>
          </a:ln>
        </p:spPr>
      </p:sp>
      <p:sp>
        <p:nvSpPr>
          <p:cNvPr id="12" name="Shape 10"/>
          <p:cNvSpPr/>
          <p:nvPr/>
        </p:nvSpPr>
        <p:spPr>
          <a:xfrm>
            <a:off x="2011680" y="2551176"/>
            <a:ext cx="2103120" cy="457200"/>
          </a:xfrm>
          <a:prstGeom prst="roundRect">
            <a:avLst>
              <a:gd name="adj" fmla="val 16000"/>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13" name="Text 11"/>
          <p:cNvSpPr/>
          <p:nvPr/>
        </p:nvSpPr>
        <p:spPr>
          <a:xfrm>
            <a:off x="2011680" y="2551176"/>
            <a:ext cx="2103120" cy="45720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Run Tests</a:t>
            </a:r>
            <a:endParaRPr lang="en-US" sz="1150" dirty="0"/>
          </a:p>
        </p:txBody>
      </p:sp>
      <p:sp>
        <p:nvSpPr>
          <p:cNvPr id="14" name="Shape 12"/>
          <p:cNvSpPr/>
          <p:nvPr/>
        </p:nvSpPr>
        <p:spPr>
          <a:xfrm>
            <a:off x="3063240" y="3008376"/>
            <a:ext cx="0" cy="201168"/>
          </a:xfrm>
          <a:prstGeom prst="line">
            <a:avLst/>
          </a:prstGeom>
          <a:noFill/>
          <a:ln w="19050">
            <a:solidFill>
              <a:srgbClr val="8A96A8"/>
            </a:solidFill>
            <a:prstDash val="solid"/>
            <a:tailEnd type="triangle"/>
          </a:ln>
        </p:spPr>
      </p:sp>
      <p:sp>
        <p:nvSpPr>
          <p:cNvPr id="15" name="Shape 13"/>
          <p:cNvSpPr/>
          <p:nvPr/>
        </p:nvSpPr>
        <p:spPr>
          <a:xfrm>
            <a:off x="2011680" y="3209544"/>
            <a:ext cx="2103120" cy="457200"/>
          </a:xfrm>
          <a:prstGeom prst="roundRect">
            <a:avLst>
              <a:gd name="adj" fmla="val 16000"/>
            </a:avLst>
          </a:prstGeom>
          <a:solidFill>
            <a:srgbClr val="1B4B47"/>
          </a:solidFill>
          <a:ln w="15875">
            <a:solidFill>
              <a:srgbClr val="2DD4BF"/>
            </a:solidFill>
            <a:prstDash val="solid"/>
          </a:ln>
          <a:effectLst>
            <a:outerShdw blurRad="76200" dist="25400" dir="5400000" algn="bl" rotWithShape="0">
              <a:srgbClr val="000000">
                <a:alpha val="35000"/>
              </a:srgbClr>
            </a:outerShdw>
          </a:effectLst>
        </p:spPr>
      </p:sp>
      <p:sp>
        <p:nvSpPr>
          <p:cNvPr id="16" name="Text 14"/>
          <p:cNvSpPr/>
          <p:nvPr/>
        </p:nvSpPr>
        <p:spPr>
          <a:xfrm>
            <a:off x="2011680" y="3209544"/>
            <a:ext cx="2103120" cy="457200"/>
          </a:xfrm>
          <a:prstGeom prst="rect">
            <a:avLst/>
          </a:prstGeom>
          <a:noFill/>
          <a:ln/>
        </p:spPr>
        <p:txBody>
          <a:bodyPr wrap="square" rtlCol="0" anchor="ctr"/>
          <a:lstStyle/>
          <a:p>
            <a:pPr marL="0" indent="0" algn="ctr">
              <a:buNone/>
            </a:pPr>
            <a:r>
              <a:rPr lang="en-US" sz="1150" b="1" dirty="0">
                <a:solidFill>
                  <a:srgbClr val="2DD4BF"/>
                </a:solidFill>
                <a:latin typeface="Calibri" pitchFamily="34" charset="0"/>
                <a:ea typeface="Calibri" pitchFamily="34" charset="-122"/>
                <a:cs typeface="Calibri" pitchFamily="34" charset="-120"/>
              </a:rPr>
              <a:t>Tests Passing?</a:t>
            </a:r>
            <a:endParaRPr lang="en-US" sz="1150" dirty="0"/>
          </a:p>
        </p:txBody>
      </p:sp>
      <p:sp>
        <p:nvSpPr>
          <p:cNvPr id="17" name="Shape 15"/>
          <p:cNvSpPr/>
          <p:nvPr/>
        </p:nvSpPr>
        <p:spPr>
          <a:xfrm flipH="1">
            <a:off x="2240280" y="3666744"/>
            <a:ext cx="822960" cy="292608"/>
          </a:xfrm>
          <a:prstGeom prst="line">
            <a:avLst/>
          </a:prstGeom>
          <a:noFill/>
          <a:ln w="19050">
            <a:solidFill>
              <a:srgbClr val="F2B84B"/>
            </a:solidFill>
            <a:prstDash val="solid"/>
            <a:tailEnd type="triangle"/>
          </a:ln>
        </p:spPr>
      </p:sp>
      <p:sp>
        <p:nvSpPr>
          <p:cNvPr id="18" name="Shape 16"/>
          <p:cNvSpPr/>
          <p:nvPr/>
        </p:nvSpPr>
        <p:spPr>
          <a:xfrm>
            <a:off x="3063240" y="3666744"/>
            <a:ext cx="822960" cy="292608"/>
          </a:xfrm>
          <a:prstGeom prst="line">
            <a:avLst/>
          </a:prstGeom>
          <a:noFill/>
          <a:ln w="19050">
            <a:solidFill>
              <a:srgbClr val="8A96A8"/>
            </a:solidFill>
            <a:prstDash val="solid"/>
            <a:tailEnd type="triangle"/>
          </a:ln>
        </p:spPr>
      </p:sp>
      <p:sp>
        <p:nvSpPr>
          <p:cNvPr id="19" name="Text 17"/>
          <p:cNvSpPr/>
          <p:nvPr/>
        </p:nvSpPr>
        <p:spPr>
          <a:xfrm>
            <a:off x="914400" y="3675888"/>
            <a:ext cx="1234440" cy="237744"/>
          </a:xfrm>
          <a:prstGeom prst="rect">
            <a:avLst/>
          </a:prstGeom>
          <a:noFill/>
          <a:ln/>
        </p:spPr>
        <p:txBody>
          <a:bodyPr wrap="square" rtlCol="0" anchor="ctr"/>
          <a:lstStyle/>
          <a:p>
            <a:pPr marL="0" indent="0" algn="r">
              <a:buNone/>
            </a:pPr>
            <a:r>
              <a:rPr lang="en-US" sz="950" i="1" dirty="0">
                <a:solidFill>
                  <a:srgbClr val="F2B84B"/>
                </a:solidFill>
                <a:latin typeface="Calibri" pitchFamily="34" charset="0"/>
                <a:ea typeface="Calibri" pitchFamily="34" charset="-122"/>
                <a:cs typeface="Calibri" pitchFamily="34" charset="-120"/>
              </a:rPr>
              <a:t>NO</a:t>
            </a:r>
            <a:endParaRPr lang="en-US" sz="950" dirty="0"/>
          </a:p>
        </p:txBody>
      </p:sp>
      <p:sp>
        <p:nvSpPr>
          <p:cNvPr id="20" name="Text 18"/>
          <p:cNvSpPr/>
          <p:nvPr/>
        </p:nvSpPr>
        <p:spPr>
          <a:xfrm>
            <a:off x="4709160" y="3675888"/>
            <a:ext cx="1005840" cy="237744"/>
          </a:xfrm>
          <a:prstGeom prst="rect">
            <a:avLst/>
          </a:prstGeom>
          <a:noFill/>
          <a:ln/>
        </p:spPr>
        <p:txBody>
          <a:bodyPr wrap="square" rtlCol="0" anchor="ctr"/>
          <a:lstStyle/>
          <a:p>
            <a:pPr marL="0" indent="0" algn="l">
              <a:buNone/>
            </a:pPr>
            <a:r>
              <a:rPr lang="en-US" sz="950" i="1" dirty="0">
                <a:solidFill>
                  <a:srgbClr val="8A96A8"/>
                </a:solidFill>
                <a:latin typeface="Calibri" pitchFamily="34" charset="0"/>
                <a:ea typeface="Calibri" pitchFamily="34" charset="-122"/>
                <a:cs typeface="Calibri" pitchFamily="34" charset="-120"/>
              </a:rPr>
              <a:t>YES</a:t>
            </a:r>
            <a:endParaRPr lang="en-US" sz="950" dirty="0"/>
          </a:p>
        </p:txBody>
      </p:sp>
      <p:sp>
        <p:nvSpPr>
          <p:cNvPr id="21" name="Shape 19"/>
          <p:cNvSpPr/>
          <p:nvPr/>
        </p:nvSpPr>
        <p:spPr>
          <a:xfrm>
            <a:off x="1463040" y="3959352"/>
            <a:ext cx="1554480" cy="457200"/>
          </a:xfrm>
          <a:prstGeom prst="roundRect">
            <a:avLst>
              <a:gd name="adj" fmla="val 16000"/>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22" name="Text 20"/>
          <p:cNvSpPr/>
          <p:nvPr/>
        </p:nvSpPr>
        <p:spPr>
          <a:xfrm>
            <a:off x="1463040" y="3959352"/>
            <a:ext cx="1554480" cy="457200"/>
          </a:xfrm>
          <a:prstGeom prst="rect">
            <a:avLst/>
          </a:prstGeom>
          <a:noFill/>
          <a:ln/>
        </p:spPr>
        <p:txBody>
          <a:bodyPr wrap="square" rtlCol="0" anchor="ctr"/>
          <a:lstStyle/>
          <a:p>
            <a:pPr marL="0" indent="0" algn="ctr">
              <a:buNone/>
            </a:pPr>
            <a:r>
              <a:rPr lang="en-US" sz="1050" b="1" dirty="0">
                <a:solidFill>
                  <a:srgbClr val="F2F5F8"/>
                </a:solidFill>
                <a:latin typeface="Calibri" pitchFamily="34" charset="0"/>
                <a:ea typeface="Calibri" pitchFamily="34" charset="-122"/>
                <a:cs typeface="Calibri" pitchFamily="34" charset="-120"/>
              </a:rPr>
              <a:t>Suggest Fixes</a:t>
            </a:r>
            <a:endParaRPr lang="en-US" sz="1050" dirty="0"/>
          </a:p>
        </p:txBody>
      </p:sp>
      <p:sp>
        <p:nvSpPr>
          <p:cNvPr id="23" name="Shape 21"/>
          <p:cNvSpPr/>
          <p:nvPr/>
        </p:nvSpPr>
        <p:spPr>
          <a:xfrm>
            <a:off x="3108960" y="3959352"/>
            <a:ext cx="1554480" cy="457200"/>
          </a:xfrm>
          <a:prstGeom prst="roundRect">
            <a:avLst>
              <a:gd name="adj" fmla="val 16000"/>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24" name="Text 22"/>
          <p:cNvSpPr/>
          <p:nvPr/>
        </p:nvSpPr>
        <p:spPr>
          <a:xfrm>
            <a:off x="3108960" y="3959352"/>
            <a:ext cx="1554480" cy="457200"/>
          </a:xfrm>
          <a:prstGeom prst="rect">
            <a:avLst/>
          </a:prstGeom>
          <a:noFill/>
          <a:ln/>
        </p:spPr>
        <p:txBody>
          <a:bodyPr wrap="square" rtlCol="0" anchor="ctr"/>
          <a:lstStyle/>
          <a:p>
            <a:pPr marL="0" indent="0" algn="ctr">
              <a:buNone/>
            </a:pPr>
            <a:r>
              <a:rPr lang="en-US" sz="1050" b="1" dirty="0">
                <a:solidFill>
                  <a:srgbClr val="F2F5F8"/>
                </a:solidFill>
                <a:latin typeface="Calibri" pitchFamily="34" charset="0"/>
                <a:ea typeface="Calibri" pitchFamily="34" charset="-122"/>
                <a:cs typeface="Calibri" pitchFamily="34" charset="-120"/>
              </a:rPr>
              <a:t>Security Check</a:t>
            </a:r>
            <a:endParaRPr lang="en-US" sz="1050" dirty="0"/>
          </a:p>
        </p:txBody>
      </p:sp>
      <p:sp>
        <p:nvSpPr>
          <p:cNvPr id="25" name="Shape 23"/>
          <p:cNvSpPr/>
          <p:nvPr/>
        </p:nvSpPr>
        <p:spPr>
          <a:xfrm>
            <a:off x="2240280" y="4416552"/>
            <a:ext cx="822960" cy="274320"/>
          </a:xfrm>
          <a:prstGeom prst="line">
            <a:avLst/>
          </a:prstGeom>
          <a:noFill/>
          <a:ln w="19050">
            <a:solidFill>
              <a:srgbClr val="8A96A8"/>
            </a:solidFill>
            <a:prstDash val="solid"/>
            <a:tailEnd type="triangle"/>
          </a:ln>
        </p:spPr>
      </p:sp>
      <p:sp>
        <p:nvSpPr>
          <p:cNvPr id="26" name="Shape 24"/>
          <p:cNvSpPr/>
          <p:nvPr/>
        </p:nvSpPr>
        <p:spPr>
          <a:xfrm flipH="1">
            <a:off x="3063240" y="4416552"/>
            <a:ext cx="822960" cy="274320"/>
          </a:xfrm>
          <a:prstGeom prst="line">
            <a:avLst/>
          </a:prstGeom>
          <a:noFill/>
          <a:ln w="19050">
            <a:solidFill>
              <a:srgbClr val="8A96A8"/>
            </a:solidFill>
            <a:prstDash val="solid"/>
            <a:tailEnd type="triangle"/>
          </a:ln>
        </p:spPr>
      </p:sp>
      <p:sp>
        <p:nvSpPr>
          <p:cNvPr id="27" name="Shape 25"/>
          <p:cNvSpPr/>
          <p:nvPr/>
        </p:nvSpPr>
        <p:spPr>
          <a:xfrm>
            <a:off x="2011680" y="4690872"/>
            <a:ext cx="2103120" cy="457200"/>
          </a:xfrm>
          <a:prstGeom prst="roundRect">
            <a:avLst>
              <a:gd name="adj" fmla="val 16000"/>
            </a:avLst>
          </a:prstGeom>
          <a:solidFill>
            <a:srgbClr val="1B212C"/>
          </a:solidFill>
          <a:ln w="15875">
            <a:solidFill>
              <a:srgbClr val="2C3441"/>
            </a:solidFill>
            <a:prstDash val="solid"/>
          </a:ln>
          <a:effectLst>
            <a:outerShdw blurRad="76200" dist="25400" dir="5400000" algn="bl" rotWithShape="0">
              <a:srgbClr val="000000">
                <a:alpha val="35000"/>
              </a:srgbClr>
            </a:outerShdw>
          </a:effectLst>
        </p:spPr>
      </p:sp>
      <p:sp>
        <p:nvSpPr>
          <p:cNvPr id="28" name="Text 26"/>
          <p:cNvSpPr/>
          <p:nvPr/>
        </p:nvSpPr>
        <p:spPr>
          <a:xfrm>
            <a:off x="2011680" y="4690872"/>
            <a:ext cx="2103120" cy="457200"/>
          </a:xfrm>
          <a:prstGeom prst="rect">
            <a:avLst/>
          </a:prstGeom>
          <a:noFill/>
          <a:ln/>
        </p:spPr>
        <p:txBody>
          <a:bodyPr wrap="square" rtlCol="0" anchor="ctr"/>
          <a:lstStyle/>
          <a:p>
            <a:pPr marL="0" indent="0" algn="ctr">
              <a:buNone/>
            </a:pPr>
            <a:r>
              <a:rPr lang="en-US" sz="1150" b="1" dirty="0">
                <a:solidFill>
                  <a:srgbClr val="F2F5F8"/>
                </a:solidFill>
                <a:latin typeface="Calibri" pitchFamily="34" charset="0"/>
                <a:ea typeface="Calibri" pitchFamily="34" charset="-122"/>
                <a:cs typeface="Calibri" pitchFamily="34" charset="-120"/>
              </a:rPr>
              <a:t>Generate Report</a:t>
            </a:r>
            <a:endParaRPr lang="en-US" sz="1150" dirty="0"/>
          </a:p>
        </p:txBody>
      </p:sp>
      <p:sp>
        <p:nvSpPr>
          <p:cNvPr id="29" name="Shape 27"/>
          <p:cNvSpPr/>
          <p:nvPr/>
        </p:nvSpPr>
        <p:spPr>
          <a:xfrm>
            <a:off x="3063240" y="5148072"/>
            <a:ext cx="0" cy="201168"/>
          </a:xfrm>
          <a:prstGeom prst="line">
            <a:avLst/>
          </a:prstGeom>
          <a:noFill/>
          <a:ln w="19050">
            <a:solidFill>
              <a:srgbClr val="8A96A8"/>
            </a:solidFill>
            <a:prstDash val="solid"/>
            <a:tailEnd type="triangle"/>
          </a:ln>
        </p:spPr>
      </p:sp>
      <p:sp>
        <p:nvSpPr>
          <p:cNvPr id="30" name="Shape 28"/>
          <p:cNvSpPr/>
          <p:nvPr/>
        </p:nvSpPr>
        <p:spPr>
          <a:xfrm>
            <a:off x="2514600" y="5349240"/>
            <a:ext cx="1097280" cy="402336"/>
          </a:xfrm>
          <a:prstGeom prst="roundRect">
            <a:avLst>
              <a:gd name="adj" fmla="val 50000"/>
            </a:avLst>
          </a:prstGeom>
          <a:solidFill>
            <a:srgbClr val="241B1B"/>
          </a:solidFill>
          <a:ln w="15875">
            <a:solidFill>
              <a:srgbClr val="2DD4BF"/>
            </a:solidFill>
            <a:prstDash val="solid"/>
          </a:ln>
        </p:spPr>
      </p:sp>
      <p:sp>
        <p:nvSpPr>
          <p:cNvPr id="31" name="Text 29"/>
          <p:cNvSpPr/>
          <p:nvPr/>
        </p:nvSpPr>
        <p:spPr>
          <a:xfrm>
            <a:off x="2514600" y="5349240"/>
            <a:ext cx="1097280" cy="402336"/>
          </a:xfrm>
          <a:prstGeom prst="rect">
            <a:avLst/>
          </a:prstGeom>
          <a:noFill/>
          <a:ln/>
        </p:spPr>
        <p:txBody>
          <a:bodyPr wrap="square" rtlCol="0" anchor="ctr"/>
          <a:lstStyle/>
          <a:p>
            <a:pPr marL="0" indent="0" algn="ctr">
              <a:buNone/>
            </a:pPr>
            <a:r>
              <a:rPr lang="en-US" sz="1000" b="1" kern="0" spc="100" dirty="0">
                <a:solidFill>
                  <a:srgbClr val="8A96A8"/>
                </a:solidFill>
                <a:latin typeface="Calibri" pitchFamily="34" charset="0"/>
                <a:ea typeface="Calibri" pitchFamily="34" charset="-122"/>
                <a:cs typeface="Calibri" pitchFamily="34" charset="-120"/>
              </a:rPr>
              <a:t>END</a:t>
            </a:r>
            <a:endParaRPr lang="en-US" sz="1000" dirty="0"/>
          </a:p>
        </p:txBody>
      </p:sp>
      <p:sp>
        <p:nvSpPr>
          <p:cNvPr id="32" name="Text 30"/>
          <p:cNvSpPr/>
          <p:nvPr/>
        </p:nvSpPr>
        <p:spPr>
          <a:xfrm>
            <a:off x="6492240" y="1371600"/>
            <a:ext cx="5166360" cy="685800"/>
          </a:xfrm>
          <a:prstGeom prst="rect">
            <a:avLst/>
          </a:prstGeom>
          <a:noFill/>
          <a:ln/>
        </p:spPr>
        <p:txBody>
          <a:bodyPr wrap="square" rtlCol="0" anchor="t"/>
          <a:lstStyle/>
          <a:p>
            <a:pPr marL="0" indent="0">
              <a:buNone/>
            </a:pPr>
            <a:r>
              <a:rPr lang="en-US" sz="1500" dirty="0">
                <a:solidFill>
                  <a:srgbClr val="F2F5F8"/>
                </a:solidFill>
                <a:latin typeface="Calibri" pitchFamily="34" charset="0"/>
                <a:ea typeface="Calibri" pitchFamily="34" charset="-122"/>
                <a:cs typeface="Calibri" pitchFamily="34" charset="-120"/>
              </a:rPr>
              <a:t>The same shape shows up across software engineering:</a:t>
            </a:r>
            <a:endParaRPr lang="en-US" sz="1500" dirty="0"/>
          </a:p>
        </p:txBody>
      </p:sp>
      <p:sp>
        <p:nvSpPr>
          <p:cNvPr id="33" name="Text 31"/>
          <p:cNvSpPr/>
          <p:nvPr/>
        </p:nvSpPr>
        <p:spPr>
          <a:xfrm>
            <a:off x="6492240" y="2240280"/>
            <a:ext cx="2446020" cy="457200"/>
          </a:xfrm>
          <a:prstGeom prst="rect">
            <a:avLst/>
          </a:prstGeom>
          <a:noFill/>
          <a:ln/>
        </p:spPr>
        <p:txBody>
          <a:bodyPr wrap="square" rtlCol="0" anchor="t"/>
          <a:lstStyle/>
          <a:p>
            <a:pPr marL="228600" indent="-228600" algn="l">
              <a:buSzPct val="100000"/>
              <a:buChar char="•"/>
            </a:pPr>
            <a:r>
              <a:rPr lang="en-US" sz="1400" dirty="0">
                <a:solidFill>
                  <a:srgbClr val="F2F5F8"/>
                </a:solidFill>
                <a:latin typeface="Calibri" pitchFamily="34" charset="0"/>
                <a:ea typeface="Calibri" pitchFamily="34" charset="-122"/>
                <a:cs typeface="Calibri" pitchFamily="34" charset="-120"/>
              </a:rPr>
              <a:t>Automated code review</a:t>
            </a:r>
            <a:endParaRPr lang="en-US" sz="1400" dirty="0"/>
          </a:p>
        </p:txBody>
      </p:sp>
      <p:sp>
        <p:nvSpPr>
          <p:cNvPr id="34" name="Text 32"/>
          <p:cNvSpPr/>
          <p:nvPr/>
        </p:nvSpPr>
        <p:spPr>
          <a:xfrm>
            <a:off x="9212580" y="2240280"/>
            <a:ext cx="2446020" cy="457200"/>
          </a:xfrm>
          <a:prstGeom prst="rect">
            <a:avLst/>
          </a:prstGeom>
          <a:noFill/>
          <a:ln/>
        </p:spPr>
        <p:txBody>
          <a:bodyPr wrap="square" rtlCol="0" anchor="t"/>
          <a:lstStyle/>
          <a:p>
            <a:pPr marL="228600" indent="-228600" algn="l">
              <a:buSzPct val="100000"/>
              <a:buChar char="•"/>
            </a:pPr>
            <a:r>
              <a:rPr lang="en-US" sz="1400" dirty="0">
                <a:solidFill>
                  <a:srgbClr val="F2F5F8"/>
                </a:solidFill>
                <a:latin typeface="Calibri" pitchFamily="34" charset="0"/>
                <a:ea typeface="Calibri" pitchFamily="34" charset="-122"/>
                <a:cs typeface="Calibri" pitchFamily="34" charset="-120"/>
              </a:rPr>
              <a:t>Debugging assistants</a:t>
            </a:r>
            <a:endParaRPr lang="en-US" sz="1400" dirty="0"/>
          </a:p>
        </p:txBody>
      </p:sp>
      <p:sp>
        <p:nvSpPr>
          <p:cNvPr id="35" name="Text 33"/>
          <p:cNvSpPr/>
          <p:nvPr/>
        </p:nvSpPr>
        <p:spPr>
          <a:xfrm>
            <a:off x="6492240" y="2807208"/>
            <a:ext cx="2446020" cy="457200"/>
          </a:xfrm>
          <a:prstGeom prst="rect">
            <a:avLst/>
          </a:prstGeom>
          <a:noFill/>
          <a:ln/>
        </p:spPr>
        <p:txBody>
          <a:bodyPr wrap="square" rtlCol="0" anchor="t"/>
          <a:lstStyle/>
          <a:p>
            <a:pPr marL="228600" indent="-228600" algn="l">
              <a:buSzPct val="100000"/>
              <a:buChar char="•"/>
            </a:pPr>
            <a:r>
              <a:rPr lang="en-US" sz="1400" dirty="0">
                <a:solidFill>
                  <a:srgbClr val="F2F5F8"/>
                </a:solidFill>
                <a:latin typeface="Calibri" pitchFamily="34" charset="0"/>
                <a:ea typeface="Calibri" pitchFamily="34" charset="-122"/>
                <a:cs typeface="Calibri" pitchFamily="34" charset="-120"/>
              </a:rPr>
              <a:t>Customer support workflows</a:t>
            </a:r>
            <a:endParaRPr lang="en-US" sz="1400" dirty="0"/>
          </a:p>
        </p:txBody>
      </p:sp>
      <p:sp>
        <p:nvSpPr>
          <p:cNvPr id="36" name="Text 34"/>
          <p:cNvSpPr/>
          <p:nvPr/>
        </p:nvSpPr>
        <p:spPr>
          <a:xfrm>
            <a:off x="9212580" y="2807208"/>
            <a:ext cx="2446020" cy="457200"/>
          </a:xfrm>
          <a:prstGeom prst="rect">
            <a:avLst/>
          </a:prstGeom>
          <a:noFill/>
          <a:ln/>
        </p:spPr>
        <p:txBody>
          <a:bodyPr wrap="square" rtlCol="0" anchor="t"/>
          <a:lstStyle/>
          <a:p>
            <a:pPr marL="228600" indent="-228600" algn="l">
              <a:buSzPct val="100000"/>
              <a:buChar char="•"/>
            </a:pPr>
            <a:r>
              <a:rPr lang="en-US" sz="1400" dirty="0">
                <a:solidFill>
                  <a:srgbClr val="F2F5F8"/>
                </a:solidFill>
                <a:latin typeface="Calibri" pitchFamily="34" charset="0"/>
                <a:ea typeface="Calibri" pitchFamily="34" charset="-122"/>
                <a:cs typeface="Calibri" pitchFamily="34" charset="-120"/>
              </a:rPr>
              <a:t>Document processing</a:t>
            </a:r>
            <a:endParaRPr lang="en-US" sz="1400" dirty="0"/>
          </a:p>
        </p:txBody>
      </p:sp>
      <p:sp>
        <p:nvSpPr>
          <p:cNvPr id="37" name="Text 35"/>
          <p:cNvSpPr/>
          <p:nvPr/>
        </p:nvSpPr>
        <p:spPr>
          <a:xfrm>
            <a:off x="6492240" y="3374136"/>
            <a:ext cx="2446020" cy="457200"/>
          </a:xfrm>
          <a:prstGeom prst="rect">
            <a:avLst/>
          </a:prstGeom>
          <a:noFill/>
          <a:ln/>
        </p:spPr>
        <p:txBody>
          <a:bodyPr wrap="square" rtlCol="0" anchor="t"/>
          <a:lstStyle/>
          <a:p>
            <a:pPr marL="228600" indent="-228600" algn="l">
              <a:buSzPct val="100000"/>
              <a:buChar char="•"/>
            </a:pPr>
            <a:r>
              <a:rPr lang="en-US" sz="1400" dirty="0">
                <a:solidFill>
                  <a:srgbClr val="F2F5F8"/>
                </a:solidFill>
                <a:latin typeface="Calibri" pitchFamily="34" charset="0"/>
                <a:ea typeface="Calibri" pitchFamily="34" charset="-122"/>
                <a:cs typeface="Calibri" pitchFamily="34" charset="-120"/>
              </a:rPr>
              <a:t>Research workflows</a:t>
            </a:r>
            <a:endParaRPr lang="en-US" sz="1400" dirty="0"/>
          </a:p>
        </p:txBody>
      </p:sp>
      <p:sp>
        <p:nvSpPr>
          <p:cNvPr id="38" name="Text 36"/>
          <p:cNvSpPr/>
          <p:nvPr/>
        </p:nvSpPr>
        <p:spPr>
          <a:xfrm>
            <a:off x="9212580" y="3374136"/>
            <a:ext cx="2446020" cy="457200"/>
          </a:xfrm>
          <a:prstGeom prst="rect">
            <a:avLst/>
          </a:prstGeom>
          <a:noFill/>
          <a:ln/>
        </p:spPr>
        <p:txBody>
          <a:bodyPr wrap="square" rtlCol="0" anchor="t"/>
          <a:lstStyle/>
          <a:p>
            <a:pPr marL="228600" indent="-228600" algn="l">
              <a:buSzPct val="100000"/>
              <a:buChar char="•"/>
            </a:pPr>
            <a:r>
              <a:rPr lang="en-US" sz="1400" dirty="0">
                <a:solidFill>
                  <a:srgbClr val="F2F5F8"/>
                </a:solidFill>
                <a:latin typeface="Calibri" pitchFamily="34" charset="0"/>
                <a:ea typeface="Calibri" pitchFamily="34" charset="-122"/>
                <a:cs typeface="Calibri" pitchFamily="34" charset="-120"/>
              </a:rPr>
              <a:t>Multi-agent systems</a:t>
            </a:r>
            <a:endParaRPr lang="en-US" sz="1400" dirty="0"/>
          </a:p>
        </p:txBody>
      </p:sp>
      <p:sp>
        <p:nvSpPr>
          <p:cNvPr id="39" name="Shape 37"/>
          <p:cNvSpPr/>
          <p:nvPr/>
        </p:nvSpPr>
        <p:spPr>
          <a:xfrm>
            <a:off x="6492240" y="4892040"/>
            <a:ext cx="5166360" cy="1005840"/>
          </a:xfrm>
          <a:prstGeom prst="roundRect">
            <a:avLst>
              <a:gd name="adj" fmla="val 7273"/>
            </a:avLst>
          </a:prstGeom>
          <a:solidFill>
            <a:srgbClr val="1B212C"/>
          </a:solidFill>
          <a:ln w="13970">
            <a:solidFill>
              <a:srgbClr val="2DD4BF"/>
            </a:solidFill>
            <a:prstDash val="solid"/>
          </a:ln>
        </p:spPr>
      </p:sp>
      <p:sp>
        <p:nvSpPr>
          <p:cNvPr id="40" name="Text 38"/>
          <p:cNvSpPr/>
          <p:nvPr/>
        </p:nvSpPr>
        <p:spPr>
          <a:xfrm>
            <a:off x="6720840" y="4892040"/>
            <a:ext cx="4709160" cy="1005840"/>
          </a:xfrm>
          <a:prstGeom prst="rect">
            <a:avLst/>
          </a:prstGeom>
          <a:noFill/>
          <a:ln/>
        </p:spPr>
        <p:txBody>
          <a:bodyPr wrap="square" rtlCol="0" anchor="ctr"/>
          <a:lstStyle/>
          <a:p>
            <a:pPr marL="0" indent="0">
              <a:buNone/>
            </a:pPr>
            <a:r>
              <a:rPr lang="en-US" sz="1300" i="1" dirty="0">
                <a:solidFill>
                  <a:srgbClr val="2DD4BF"/>
                </a:solidFill>
                <a:latin typeface="Calibri" pitchFamily="34" charset="0"/>
                <a:ea typeface="Calibri" pitchFamily="34" charset="-122"/>
                <a:cs typeface="Calibri" pitchFamily="34" charset="-120"/>
              </a:rPr>
              <a:t>Anywhere a task needs analysis, a decision, and a controllable next step — a graph fits.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51C"/>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11064240" cy="274320"/>
          </a:xfrm>
          <a:prstGeom prst="rect">
            <a:avLst/>
          </a:prstGeom>
          <a:noFill/>
        </p:spPr>
        <p:txBody>
          <a:bodyPr wrap="none" anchor="ctr">
            <a:spAutoFit/>
          </a:bodyPr>
          <a:lstStyle/>
          <a:p>
            <a:pPr algn="l"/>
            <a:r>
              <a:rPr sz="1100" b="1">
                <a:solidFill>
                  <a:srgbClr val="2DD4BF"/>
                </a:solidFill>
                <a:latin typeface="Aptos"/>
              </a:rPr>
              <a:t>NEXT CONCEPTS</a:t>
            </a:r>
          </a:p>
        </p:txBody>
      </p:sp>
      <p:sp>
        <p:nvSpPr>
          <p:cNvPr id="3" name="TextBox 2"/>
          <p:cNvSpPr txBox="1"/>
          <p:nvPr/>
        </p:nvSpPr>
        <p:spPr>
          <a:xfrm>
            <a:off x="548640" y="384048"/>
            <a:ext cx="11064240" cy="566928"/>
          </a:xfrm>
          <a:prstGeom prst="rect">
            <a:avLst/>
          </a:prstGeom>
          <a:noFill/>
        </p:spPr>
        <p:txBody>
          <a:bodyPr wrap="none" anchor="ctr">
            <a:spAutoFit/>
          </a:bodyPr>
          <a:lstStyle/>
          <a:p>
            <a:pPr algn="l"/>
            <a:r>
              <a:rPr sz="2800" b="1">
                <a:solidFill>
                  <a:srgbClr val="F2F5F8"/>
                </a:solidFill>
                <a:latin typeface="Aptos"/>
              </a:rPr>
              <a:t>Where to go after the basics</a:t>
            </a:r>
          </a:p>
        </p:txBody>
      </p:sp>
      <p:sp>
        <p:nvSpPr>
          <p:cNvPr id="4" name="TextBox 3"/>
          <p:cNvSpPr txBox="1"/>
          <p:nvPr/>
        </p:nvSpPr>
        <p:spPr>
          <a:xfrm>
            <a:off x="548640" y="932688"/>
            <a:ext cx="10789920" cy="347472"/>
          </a:xfrm>
          <a:prstGeom prst="rect">
            <a:avLst/>
          </a:prstGeom>
          <a:noFill/>
        </p:spPr>
        <p:txBody>
          <a:bodyPr wrap="none" anchor="ctr">
            <a:spAutoFit/>
          </a:bodyPr>
          <a:lstStyle/>
          <a:p>
            <a:pPr algn="l"/>
            <a:r>
              <a:rPr sz="1150" b="0">
                <a:solidFill>
                  <a:srgbClr val="8A96A8"/>
                </a:solidFill>
                <a:latin typeface="Aptos"/>
              </a:rPr>
              <a:t>These features become important when LangGraph moves from a demo to a real application.</a:t>
            </a:r>
          </a:p>
        </p:txBody>
      </p:sp>
      <p:sp>
        <p:nvSpPr>
          <p:cNvPr id="5" name="Rounded Rectangle 4"/>
          <p:cNvSpPr/>
          <p:nvPr/>
        </p:nvSpPr>
        <p:spPr>
          <a:xfrm>
            <a:off x="594360" y="1417320"/>
            <a:ext cx="3520440" cy="1481328"/>
          </a:xfrm>
          <a:prstGeom prst="roundRect">
            <a:avLst/>
          </a:prstGeom>
          <a:solidFill>
            <a:srgbClr val="191F28"/>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581912"/>
            <a:ext cx="3063240" cy="256032"/>
          </a:xfrm>
          <a:prstGeom prst="rect">
            <a:avLst/>
          </a:prstGeom>
          <a:noFill/>
        </p:spPr>
        <p:txBody>
          <a:bodyPr wrap="none" anchor="ctr">
            <a:spAutoFit/>
          </a:bodyPr>
          <a:lstStyle/>
          <a:p>
            <a:pPr algn="l"/>
            <a:r>
              <a:rPr sz="1150" b="1">
                <a:solidFill>
                  <a:srgbClr val="2DD4BF"/>
                </a:solidFill>
                <a:latin typeface="Aptos"/>
              </a:rPr>
              <a:t>PERSISTENCE</a:t>
            </a:r>
          </a:p>
        </p:txBody>
      </p:sp>
      <p:sp>
        <p:nvSpPr>
          <p:cNvPr id="7" name="TextBox 6"/>
          <p:cNvSpPr txBox="1"/>
          <p:nvPr/>
        </p:nvSpPr>
        <p:spPr>
          <a:xfrm>
            <a:off x="756188" y="1921175"/>
            <a:ext cx="3358612" cy="437043"/>
          </a:xfrm>
          <a:prstGeom prst="rect">
            <a:avLst/>
          </a:prstGeom>
          <a:noFill/>
        </p:spPr>
        <p:txBody>
          <a:bodyPr wrap="none" anchor="ctr">
            <a:spAutoFit/>
          </a:bodyPr>
          <a:lstStyle/>
          <a:p>
            <a:pPr algn="l"/>
            <a:r>
              <a:rPr sz="1120" b="1" dirty="0">
                <a:solidFill>
                  <a:srgbClr val="F2F5F8"/>
                </a:solidFill>
                <a:latin typeface="Aptos"/>
              </a:rPr>
              <a:t>Save and resume graph state across interactions</a:t>
            </a:r>
            <a:endParaRPr lang="en-IN" sz="1120" b="1" dirty="0">
              <a:solidFill>
                <a:srgbClr val="F2F5F8"/>
              </a:solidFill>
              <a:latin typeface="Aptos"/>
            </a:endParaRPr>
          </a:p>
          <a:p>
            <a:pPr algn="l"/>
            <a:r>
              <a:rPr sz="1120" b="1" dirty="0">
                <a:solidFill>
                  <a:srgbClr val="F2F5F8"/>
                </a:solidFill>
                <a:latin typeface="Aptos"/>
              </a:rPr>
              <a:t> or failures</a:t>
            </a:r>
            <a:r>
              <a:rPr lang="en-IN" sz="1120" b="1" dirty="0">
                <a:solidFill>
                  <a:srgbClr val="F2F5F8"/>
                </a:solidFill>
                <a:latin typeface="Aptos"/>
              </a:rPr>
              <a:t>.</a:t>
            </a:r>
            <a:endParaRPr sz="1120" b="1" dirty="0">
              <a:solidFill>
                <a:srgbClr val="F2F5F8"/>
              </a:solidFill>
              <a:latin typeface="Aptos"/>
            </a:endParaRPr>
          </a:p>
        </p:txBody>
      </p:sp>
      <p:sp>
        <p:nvSpPr>
          <p:cNvPr id="8" name="TextBox 7"/>
          <p:cNvSpPr txBox="1"/>
          <p:nvPr/>
        </p:nvSpPr>
        <p:spPr>
          <a:xfrm>
            <a:off x="822960" y="2468880"/>
            <a:ext cx="3063240" cy="228600"/>
          </a:xfrm>
          <a:prstGeom prst="rect">
            <a:avLst/>
          </a:prstGeom>
          <a:noFill/>
        </p:spPr>
        <p:txBody>
          <a:bodyPr wrap="none" anchor="ctr">
            <a:spAutoFit/>
          </a:bodyPr>
          <a:lstStyle/>
          <a:p>
            <a:pPr algn="l"/>
            <a:r>
              <a:rPr sz="969" b="0">
                <a:solidFill>
                  <a:srgbClr val="8A96A8"/>
                </a:solidFill>
                <a:latin typeface="Aptos"/>
              </a:rPr>
              <a:t>Checkpoints make state durable.</a:t>
            </a:r>
          </a:p>
        </p:txBody>
      </p:sp>
      <p:sp>
        <p:nvSpPr>
          <p:cNvPr id="9" name="Rounded Rectangle 8"/>
          <p:cNvSpPr/>
          <p:nvPr/>
        </p:nvSpPr>
        <p:spPr>
          <a:xfrm>
            <a:off x="4279392" y="1417320"/>
            <a:ext cx="3520440" cy="1481328"/>
          </a:xfrm>
          <a:prstGeom prst="roundRect">
            <a:avLst/>
          </a:prstGeom>
          <a:solidFill>
            <a:srgbClr val="191F28"/>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07992" y="1581912"/>
            <a:ext cx="3063240" cy="256032"/>
          </a:xfrm>
          <a:prstGeom prst="rect">
            <a:avLst/>
          </a:prstGeom>
          <a:noFill/>
        </p:spPr>
        <p:txBody>
          <a:bodyPr wrap="none" anchor="ctr">
            <a:spAutoFit/>
          </a:bodyPr>
          <a:lstStyle/>
          <a:p>
            <a:pPr algn="l"/>
            <a:r>
              <a:rPr sz="1150" b="1">
                <a:solidFill>
                  <a:srgbClr val="2DD4BF"/>
                </a:solidFill>
                <a:latin typeface="Aptos"/>
              </a:rPr>
              <a:t>CHECKPOINTERS</a:t>
            </a:r>
          </a:p>
        </p:txBody>
      </p:sp>
      <p:sp>
        <p:nvSpPr>
          <p:cNvPr id="11" name="TextBox 10"/>
          <p:cNvSpPr txBox="1"/>
          <p:nvPr/>
        </p:nvSpPr>
        <p:spPr>
          <a:xfrm>
            <a:off x="4507992" y="1920240"/>
            <a:ext cx="3063240" cy="438912"/>
          </a:xfrm>
          <a:prstGeom prst="rect">
            <a:avLst/>
          </a:prstGeom>
          <a:noFill/>
        </p:spPr>
        <p:txBody>
          <a:bodyPr wrap="none" anchor="ctr">
            <a:spAutoFit/>
          </a:bodyPr>
          <a:lstStyle/>
          <a:p>
            <a:pPr algn="l"/>
            <a:r>
              <a:rPr sz="1120" b="1" dirty="0">
                <a:solidFill>
                  <a:srgbClr val="F2F5F8"/>
                </a:solidFill>
                <a:latin typeface="Aptos"/>
              </a:rPr>
              <a:t>The mechanism used to persist graph state.</a:t>
            </a:r>
          </a:p>
        </p:txBody>
      </p:sp>
      <p:sp>
        <p:nvSpPr>
          <p:cNvPr id="12" name="TextBox 11"/>
          <p:cNvSpPr txBox="1"/>
          <p:nvPr/>
        </p:nvSpPr>
        <p:spPr>
          <a:xfrm>
            <a:off x="4507992" y="2468880"/>
            <a:ext cx="3063240" cy="228600"/>
          </a:xfrm>
          <a:prstGeom prst="rect">
            <a:avLst/>
          </a:prstGeom>
          <a:noFill/>
        </p:spPr>
        <p:txBody>
          <a:bodyPr wrap="none" anchor="ctr">
            <a:spAutoFit/>
          </a:bodyPr>
          <a:lstStyle/>
          <a:p>
            <a:pPr algn="l"/>
            <a:r>
              <a:rPr sz="969" b="0">
                <a:solidFill>
                  <a:srgbClr val="8A96A8"/>
                </a:solidFill>
                <a:latin typeface="Aptos"/>
              </a:rPr>
              <a:t>InMemory • PostgreSQL • Redis</a:t>
            </a:r>
          </a:p>
        </p:txBody>
      </p:sp>
      <p:sp>
        <p:nvSpPr>
          <p:cNvPr id="13" name="Rounded Rectangle 12"/>
          <p:cNvSpPr/>
          <p:nvPr/>
        </p:nvSpPr>
        <p:spPr>
          <a:xfrm>
            <a:off x="7964424" y="1417320"/>
            <a:ext cx="3328416" cy="1481328"/>
          </a:xfrm>
          <a:prstGeom prst="roundRect">
            <a:avLst/>
          </a:prstGeom>
          <a:solidFill>
            <a:srgbClr val="191F28"/>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93024" y="1581912"/>
            <a:ext cx="2871216" cy="256032"/>
          </a:xfrm>
          <a:prstGeom prst="rect">
            <a:avLst/>
          </a:prstGeom>
          <a:noFill/>
        </p:spPr>
        <p:txBody>
          <a:bodyPr wrap="none" anchor="ctr">
            <a:spAutoFit/>
          </a:bodyPr>
          <a:lstStyle/>
          <a:p>
            <a:pPr algn="l"/>
            <a:r>
              <a:rPr sz="1150" b="1">
                <a:solidFill>
                  <a:srgbClr val="2DD4BF"/>
                </a:solidFill>
                <a:latin typeface="Aptos"/>
              </a:rPr>
              <a:t>HITL • interrupt()</a:t>
            </a:r>
          </a:p>
        </p:txBody>
      </p:sp>
      <p:sp>
        <p:nvSpPr>
          <p:cNvPr id="15" name="TextBox 14"/>
          <p:cNvSpPr txBox="1"/>
          <p:nvPr/>
        </p:nvSpPr>
        <p:spPr>
          <a:xfrm>
            <a:off x="7964424" y="1933956"/>
            <a:ext cx="2871216" cy="438912"/>
          </a:xfrm>
          <a:prstGeom prst="rect">
            <a:avLst/>
          </a:prstGeom>
          <a:noFill/>
        </p:spPr>
        <p:txBody>
          <a:bodyPr wrap="none" anchor="ctr">
            <a:spAutoFit/>
          </a:bodyPr>
          <a:lstStyle/>
          <a:p>
            <a:pPr algn="l"/>
            <a:r>
              <a:rPr sz="1120" b="1" dirty="0">
                <a:solidFill>
                  <a:srgbClr val="F2F5F8"/>
                </a:solidFill>
                <a:latin typeface="Aptos"/>
              </a:rPr>
              <a:t>Pause execution, get human input, then resume.</a:t>
            </a:r>
          </a:p>
        </p:txBody>
      </p:sp>
      <p:sp>
        <p:nvSpPr>
          <p:cNvPr id="16" name="TextBox 15"/>
          <p:cNvSpPr txBox="1"/>
          <p:nvPr/>
        </p:nvSpPr>
        <p:spPr>
          <a:xfrm>
            <a:off x="8193024" y="2468880"/>
            <a:ext cx="2871216" cy="228600"/>
          </a:xfrm>
          <a:prstGeom prst="rect">
            <a:avLst/>
          </a:prstGeom>
          <a:noFill/>
        </p:spPr>
        <p:txBody>
          <a:bodyPr wrap="none" anchor="ctr">
            <a:spAutoFit/>
          </a:bodyPr>
          <a:lstStyle/>
          <a:p>
            <a:pPr algn="l"/>
            <a:r>
              <a:rPr sz="969" b="0">
                <a:solidFill>
                  <a:srgbClr val="8A96A8"/>
                </a:solidFill>
                <a:latin typeface="Aptos"/>
              </a:rPr>
              <a:t>Approvals / sensitive actions</a:t>
            </a:r>
          </a:p>
        </p:txBody>
      </p:sp>
      <p:sp>
        <p:nvSpPr>
          <p:cNvPr id="17" name="Rounded Rectangle 16"/>
          <p:cNvSpPr/>
          <p:nvPr/>
        </p:nvSpPr>
        <p:spPr>
          <a:xfrm>
            <a:off x="594360" y="3182112"/>
            <a:ext cx="5349240" cy="1481328"/>
          </a:xfrm>
          <a:prstGeom prst="roundRect">
            <a:avLst/>
          </a:prstGeom>
          <a:solidFill>
            <a:srgbClr val="191F28"/>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346704"/>
            <a:ext cx="4892040" cy="256032"/>
          </a:xfrm>
          <a:prstGeom prst="rect">
            <a:avLst/>
          </a:prstGeom>
          <a:noFill/>
        </p:spPr>
        <p:txBody>
          <a:bodyPr wrap="none" anchor="ctr">
            <a:spAutoFit/>
          </a:bodyPr>
          <a:lstStyle/>
          <a:p>
            <a:pPr algn="l"/>
            <a:r>
              <a:rPr sz="1150" b="1">
                <a:solidFill>
                  <a:srgbClr val="2DD4BF"/>
                </a:solidFill>
                <a:latin typeface="Aptos"/>
              </a:rPr>
              <a:t>SUBGRAPHS</a:t>
            </a:r>
          </a:p>
        </p:txBody>
      </p:sp>
      <p:sp>
        <p:nvSpPr>
          <p:cNvPr id="19" name="TextBox 18"/>
          <p:cNvSpPr txBox="1"/>
          <p:nvPr/>
        </p:nvSpPr>
        <p:spPr>
          <a:xfrm>
            <a:off x="822960" y="3685032"/>
            <a:ext cx="4892040" cy="438912"/>
          </a:xfrm>
          <a:prstGeom prst="rect">
            <a:avLst/>
          </a:prstGeom>
          <a:noFill/>
        </p:spPr>
        <p:txBody>
          <a:bodyPr wrap="none" anchor="ctr">
            <a:spAutoFit/>
          </a:bodyPr>
          <a:lstStyle/>
          <a:p>
            <a:pPr algn="l"/>
            <a:r>
              <a:rPr sz="1120" b="1">
                <a:solidFill>
                  <a:srgbClr val="F2F5F8"/>
                </a:solidFill>
                <a:latin typeface="Aptos"/>
              </a:rPr>
              <a:t>Use a graph as a node inside another graph.</a:t>
            </a:r>
          </a:p>
        </p:txBody>
      </p:sp>
      <p:sp>
        <p:nvSpPr>
          <p:cNvPr id="20" name="TextBox 19"/>
          <p:cNvSpPr txBox="1"/>
          <p:nvPr/>
        </p:nvSpPr>
        <p:spPr>
          <a:xfrm>
            <a:off x="822960" y="4233672"/>
            <a:ext cx="4892040" cy="228600"/>
          </a:xfrm>
          <a:prstGeom prst="rect">
            <a:avLst/>
          </a:prstGeom>
          <a:noFill/>
        </p:spPr>
        <p:txBody>
          <a:bodyPr wrap="none" anchor="ctr">
            <a:spAutoFit/>
          </a:bodyPr>
          <a:lstStyle/>
          <a:p>
            <a:pPr algn="l"/>
            <a:r>
              <a:rPr sz="969" b="0">
                <a:solidFill>
                  <a:srgbClr val="8A96A8"/>
                </a:solidFill>
                <a:latin typeface="Aptos"/>
              </a:rPr>
              <a:t>Reusable modules • multi-agent systems</a:t>
            </a:r>
          </a:p>
        </p:txBody>
      </p:sp>
      <p:sp>
        <p:nvSpPr>
          <p:cNvPr id="21" name="Rounded Rectangle 20"/>
          <p:cNvSpPr/>
          <p:nvPr/>
        </p:nvSpPr>
        <p:spPr>
          <a:xfrm>
            <a:off x="6144768" y="3182112"/>
            <a:ext cx="5148072" cy="1481328"/>
          </a:xfrm>
          <a:prstGeom prst="roundRect">
            <a:avLst/>
          </a:prstGeom>
          <a:solidFill>
            <a:srgbClr val="191F28"/>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73368" y="3346704"/>
            <a:ext cx="4690872" cy="256032"/>
          </a:xfrm>
          <a:prstGeom prst="rect">
            <a:avLst/>
          </a:prstGeom>
          <a:noFill/>
        </p:spPr>
        <p:txBody>
          <a:bodyPr wrap="none" anchor="ctr">
            <a:spAutoFit/>
          </a:bodyPr>
          <a:lstStyle/>
          <a:p>
            <a:pPr algn="l"/>
            <a:r>
              <a:rPr sz="1150" b="1">
                <a:solidFill>
                  <a:srgbClr val="2DD4BF"/>
                </a:solidFill>
                <a:latin typeface="Aptos"/>
              </a:rPr>
              <a:t>OBSERVABILITY • LANGSMITH</a:t>
            </a:r>
          </a:p>
        </p:txBody>
      </p:sp>
      <p:sp>
        <p:nvSpPr>
          <p:cNvPr id="23" name="TextBox 22"/>
          <p:cNvSpPr txBox="1"/>
          <p:nvPr/>
        </p:nvSpPr>
        <p:spPr>
          <a:xfrm>
            <a:off x="6373368" y="3685032"/>
            <a:ext cx="4690872" cy="438912"/>
          </a:xfrm>
          <a:prstGeom prst="rect">
            <a:avLst/>
          </a:prstGeom>
          <a:noFill/>
        </p:spPr>
        <p:txBody>
          <a:bodyPr wrap="none" anchor="ctr">
            <a:spAutoFit/>
          </a:bodyPr>
          <a:lstStyle/>
          <a:p>
            <a:pPr algn="l"/>
            <a:r>
              <a:rPr sz="1120" b="1">
                <a:solidFill>
                  <a:srgbClr val="F2F5F8"/>
                </a:solidFill>
                <a:latin typeface="Aptos"/>
              </a:rPr>
              <a:t>Trace what happened inside a run.</a:t>
            </a:r>
          </a:p>
        </p:txBody>
      </p:sp>
      <p:sp>
        <p:nvSpPr>
          <p:cNvPr id="24" name="TextBox 23"/>
          <p:cNvSpPr txBox="1"/>
          <p:nvPr/>
        </p:nvSpPr>
        <p:spPr>
          <a:xfrm>
            <a:off x="6373368" y="4233672"/>
            <a:ext cx="4690872" cy="228600"/>
          </a:xfrm>
          <a:prstGeom prst="rect">
            <a:avLst/>
          </a:prstGeom>
          <a:noFill/>
        </p:spPr>
        <p:txBody>
          <a:bodyPr wrap="none" anchor="ctr">
            <a:spAutoFit/>
          </a:bodyPr>
          <a:lstStyle/>
          <a:p>
            <a:pPr algn="l"/>
            <a:r>
              <a:rPr sz="969" b="0">
                <a:solidFill>
                  <a:srgbClr val="8A96A8"/>
                </a:solidFill>
                <a:latin typeface="Aptos"/>
              </a:rPr>
              <a:t>Inspect steps, inputs/outputs, latency, failures</a:t>
            </a:r>
          </a:p>
        </p:txBody>
      </p:sp>
      <p:sp>
        <p:nvSpPr>
          <p:cNvPr id="25" name="Rounded Rectangle 24"/>
          <p:cNvSpPr/>
          <p:nvPr/>
        </p:nvSpPr>
        <p:spPr>
          <a:xfrm>
            <a:off x="594360" y="5010912"/>
            <a:ext cx="10698480" cy="786384"/>
          </a:xfrm>
          <a:prstGeom prst="roundRect">
            <a:avLst/>
          </a:prstGeom>
          <a:solidFill>
            <a:srgbClr val="1D242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5157216"/>
            <a:ext cx="2103120" cy="256032"/>
          </a:xfrm>
          <a:prstGeom prst="rect">
            <a:avLst/>
          </a:prstGeom>
          <a:noFill/>
        </p:spPr>
        <p:txBody>
          <a:bodyPr wrap="none" anchor="ctr">
            <a:spAutoFit/>
          </a:bodyPr>
          <a:lstStyle/>
          <a:p>
            <a:pPr algn="l"/>
            <a:r>
              <a:rPr sz="1000" b="1">
                <a:solidFill>
                  <a:srgbClr val="8A96A8"/>
                </a:solidFill>
                <a:latin typeface="Aptos"/>
              </a:rPr>
              <a:t>A production-oriented LangGraph</a:t>
            </a:r>
          </a:p>
        </p:txBody>
      </p:sp>
      <p:sp>
        <p:nvSpPr>
          <p:cNvPr id="27" name="Rounded Rectangle 26"/>
          <p:cNvSpPr/>
          <p:nvPr/>
        </p:nvSpPr>
        <p:spPr>
          <a:xfrm>
            <a:off x="2880360" y="5111496"/>
            <a:ext cx="914400" cy="438912"/>
          </a:xfrm>
          <a:prstGeom prst="roundRect">
            <a:avLst/>
          </a:prstGeom>
          <a:solidFill>
            <a:srgbClr val="12151C"/>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80360" y="5111496"/>
            <a:ext cx="914400" cy="438912"/>
          </a:xfrm>
          <a:prstGeom prst="rect">
            <a:avLst/>
          </a:prstGeom>
          <a:noFill/>
        </p:spPr>
        <p:txBody>
          <a:bodyPr wrap="none" anchor="ctr">
            <a:spAutoFit/>
          </a:bodyPr>
          <a:lstStyle/>
          <a:p>
            <a:pPr algn="ctr"/>
            <a:r>
              <a:rPr sz="950" b="1">
                <a:solidFill>
                  <a:srgbClr val="F2F5F8"/>
                </a:solidFill>
                <a:latin typeface="Aptos"/>
              </a:rPr>
              <a:t>Graph</a:t>
            </a:r>
          </a:p>
        </p:txBody>
      </p:sp>
      <p:sp>
        <p:nvSpPr>
          <p:cNvPr id="29" name="TextBox 28"/>
          <p:cNvSpPr txBox="1"/>
          <p:nvPr/>
        </p:nvSpPr>
        <p:spPr>
          <a:xfrm>
            <a:off x="3849624" y="5111496"/>
            <a:ext cx="228600" cy="438912"/>
          </a:xfrm>
          <a:prstGeom prst="rect">
            <a:avLst/>
          </a:prstGeom>
          <a:noFill/>
        </p:spPr>
        <p:txBody>
          <a:bodyPr wrap="none" anchor="ctr">
            <a:spAutoFit/>
          </a:bodyPr>
          <a:lstStyle/>
          <a:p>
            <a:pPr algn="ctr"/>
            <a:r>
              <a:rPr sz="1200" b="1">
                <a:solidFill>
                  <a:srgbClr val="2DD4BF"/>
                </a:solidFill>
                <a:latin typeface="Aptos"/>
              </a:rPr>
              <a:t>→</a:t>
            </a:r>
          </a:p>
        </p:txBody>
      </p:sp>
      <p:sp>
        <p:nvSpPr>
          <p:cNvPr id="30" name="Rounded Rectangle 29"/>
          <p:cNvSpPr/>
          <p:nvPr/>
        </p:nvSpPr>
        <p:spPr>
          <a:xfrm>
            <a:off x="4160520" y="5111496"/>
            <a:ext cx="1143000" cy="438912"/>
          </a:xfrm>
          <a:prstGeom prst="roundRect">
            <a:avLst/>
          </a:prstGeom>
          <a:solidFill>
            <a:srgbClr val="12151C"/>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60520" y="5111496"/>
            <a:ext cx="1143000" cy="438912"/>
          </a:xfrm>
          <a:prstGeom prst="rect">
            <a:avLst/>
          </a:prstGeom>
          <a:noFill/>
        </p:spPr>
        <p:txBody>
          <a:bodyPr wrap="none" anchor="ctr">
            <a:spAutoFit/>
          </a:bodyPr>
          <a:lstStyle/>
          <a:p>
            <a:pPr algn="ctr"/>
            <a:r>
              <a:rPr sz="950" b="1">
                <a:solidFill>
                  <a:srgbClr val="F2F5F8"/>
                </a:solidFill>
                <a:latin typeface="Aptos"/>
              </a:rPr>
              <a:t>Checkpoint</a:t>
            </a:r>
          </a:p>
        </p:txBody>
      </p:sp>
      <p:sp>
        <p:nvSpPr>
          <p:cNvPr id="32" name="TextBox 31"/>
          <p:cNvSpPr txBox="1"/>
          <p:nvPr/>
        </p:nvSpPr>
        <p:spPr>
          <a:xfrm>
            <a:off x="5358383" y="5111496"/>
            <a:ext cx="228600" cy="438912"/>
          </a:xfrm>
          <a:prstGeom prst="rect">
            <a:avLst/>
          </a:prstGeom>
          <a:noFill/>
        </p:spPr>
        <p:txBody>
          <a:bodyPr wrap="none" anchor="ctr">
            <a:spAutoFit/>
          </a:bodyPr>
          <a:lstStyle/>
          <a:p>
            <a:pPr algn="ctr"/>
            <a:r>
              <a:rPr sz="1200" b="1">
                <a:solidFill>
                  <a:srgbClr val="2DD4BF"/>
                </a:solidFill>
                <a:latin typeface="Aptos"/>
              </a:rPr>
              <a:t>→</a:t>
            </a:r>
          </a:p>
        </p:txBody>
      </p:sp>
      <p:sp>
        <p:nvSpPr>
          <p:cNvPr id="33" name="Rounded Rectangle 32"/>
          <p:cNvSpPr/>
          <p:nvPr/>
        </p:nvSpPr>
        <p:spPr>
          <a:xfrm>
            <a:off x="5715000" y="5111496"/>
            <a:ext cx="1051560" cy="438912"/>
          </a:xfrm>
          <a:prstGeom prst="roundRect">
            <a:avLst/>
          </a:prstGeom>
          <a:solidFill>
            <a:srgbClr val="12151C"/>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715000" y="5111496"/>
            <a:ext cx="1051560" cy="438912"/>
          </a:xfrm>
          <a:prstGeom prst="rect">
            <a:avLst/>
          </a:prstGeom>
          <a:noFill/>
        </p:spPr>
        <p:txBody>
          <a:bodyPr wrap="none" anchor="ctr">
            <a:spAutoFit/>
          </a:bodyPr>
          <a:lstStyle/>
          <a:p>
            <a:pPr algn="ctr"/>
            <a:r>
              <a:rPr sz="950" b="1">
                <a:solidFill>
                  <a:srgbClr val="F2F5F8"/>
                </a:solidFill>
                <a:latin typeface="Aptos"/>
              </a:rPr>
              <a:t>interrupt()</a:t>
            </a:r>
          </a:p>
        </p:txBody>
      </p:sp>
      <p:sp>
        <p:nvSpPr>
          <p:cNvPr id="35" name="TextBox 34"/>
          <p:cNvSpPr txBox="1"/>
          <p:nvPr/>
        </p:nvSpPr>
        <p:spPr>
          <a:xfrm>
            <a:off x="6821424" y="5111496"/>
            <a:ext cx="228600" cy="438912"/>
          </a:xfrm>
          <a:prstGeom prst="rect">
            <a:avLst/>
          </a:prstGeom>
          <a:noFill/>
        </p:spPr>
        <p:txBody>
          <a:bodyPr wrap="none" anchor="ctr">
            <a:spAutoFit/>
          </a:bodyPr>
          <a:lstStyle/>
          <a:p>
            <a:pPr algn="ctr"/>
            <a:r>
              <a:rPr sz="1200" b="1">
                <a:solidFill>
                  <a:srgbClr val="2DD4BF"/>
                </a:solidFill>
                <a:latin typeface="Aptos"/>
              </a:rPr>
              <a:t>→</a:t>
            </a:r>
          </a:p>
        </p:txBody>
      </p:sp>
      <p:sp>
        <p:nvSpPr>
          <p:cNvPr id="36" name="Rounded Rectangle 35"/>
          <p:cNvSpPr/>
          <p:nvPr/>
        </p:nvSpPr>
        <p:spPr>
          <a:xfrm>
            <a:off x="7178040" y="5111496"/>
            <a:ext cx="960120" cy="438912"/>
          </a:xfrm>
          <a:prstGeom prst="roundRect">
            <a:avLst/>
          </a:prstGeom>
          <a:solidFill>
            <a:srgbClr val="12151C"/>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78040" y="5111496"/>
            <a:ext cx="960120" cy="438912"/>
          </a:xfrm>
          <a:prstGeom prst="rect">
            <a:avLst/>
          </a:prstGeom>
          <a:noFill/>
        </p:spPr>
        <p:txBody>
          <a:bodyPr wrap="none" anchor="ctr">
            <a:spAutoFit/>
          </a:bodyPr>
          <a:lstStyle/>
          <a:p>
            <a:pPr algn="ctr"/>
            <a:r>
              <a:rPr sz="950" b="1">
                <a:solidFill>
                  <a:srgbClr val="F2F5F8"/>
                </a:solidFill>
                <a:latin typeface="Aptos"/>
              </a:rPr>
              <a:t>Subgraph</a:t>
            </a:r>
          </a:p>
        </p:txBody>
      </p:sp>
      <p:sp>
        <p:nvSpPr>
          <p:cNvPr id="38" name="TextBox 37"/>
          <p:cNvSpPr txBox="1"/>
          <p:nvPr/>
        </p:nvSpPr>
        <p:spPr>
          <a:xfrm>
            <a:off x="8193024" y="5111496"/>
            <a:ext cx="228600" cy="438912"/>
          </a:xfrm>
          <a:prstGeom prst="rect">
            <a:avLst/>
          </a:prstGeom>
          <a:noFill/>
        </p:spPr>
        <p:txBody>
          <a:bodyPr wrap="none" anchor="ctr">
            <a:spAutoFit/>
          </a:bodyPr>
          <a:lstStyle/>
          <a:p>
            <a:pPr algn="ctr"/>
            <a:r>
              <a:rPr sz="1200" b="1">
                <a:solidFill>
                  <a:srgbClr val="2DD4BF"/>
                </a:solidFill>
                <a:latin typeface="Aptos"/>
              </a:rPr>
              <a:t>→</a:t>
            </a:r>
          </a:p>
        </p:txBody>
      </p:sp>
      <p:sp>
        <p:nvSpPr>
          <p:cNvPr id="39" name="Rounded Rectangle 38"/>
          <p:cNvSpPr/>
          <p:nvPr/>
        </p:nvSpPr>
        <p:spPr>
          <a:xfrm>
            <a:off x="8503920" y="5111496"/>
            <a:ext cx="1051560" cy="438912"/>
          </a:xfrm>
          <a:prstGeom prst="roundRect">
            <a:avLst/>
          </a:prstGeom>
          <a:solidFill>
            <a:srgbClr val="12151C"/>
          </a:solidFill>
          <a:ln w="12700">
            <a:solidFill>
              <a:srgbClr val="2A33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503920" y="5111496"/>
            <a:ext cx="1051560" cy="438912"/>
          </a:xfrm>
          <a:prstGeom prst="rect">
            <a:avLst/>
          </a:prstGeom>
          <a:noFill/>
        </p:spPr>
        <p:txBody>
          <a:bodyPr wrap="none" anchor="ctr">
            <a:spAutoFit/>
          </a:bodyPr>
          <a:lstStyle/>
          <a:p>
            <a:pPr algn="ctr"/>
            <a:r>
              <a:rPr sz="950" b="1">
                <a:solidFill>
                  <a:srgbClr val="F2F5F8"/>
                </a:solidFill>
                <a:latin typeface="Aptos"/>
              </a:rPr>
              <a:t>LangSmith</a:t>
            </a:r>
          </a:p>
        </p:txBody>
      </p:sp>
      <p:sp>
        <p:nvSpPr>
          <p:cNvPr id="41" name="TextBox 40"/>
          <p:cNvSpPr txBox="1"/>
          <p:nvPr/>
        </p:nvSpPr>
        <p:spPr>
          <a:xfrm>
            <a:off x="594360" y="5925312"/>
            <a:ext cx="10698480" cy="347472"/>
          </a:xfrm>
          <a:prstGeom prst="rect">
            <a:avLst/>
          </a:prstGeom>
          <a:noFill/>
        </p:spPr>
        <p:txBody>
          <a:bodyPr wrap="none" anchor="ctr">
            <a:spAutoFit/>
          </a:bodyPr>
          <a:lstStyle/>
          <a:p>
            <a:pPr algn="ctr"/>
            <a:r>
              <a:rPr sz="1100" b="1">
                <a:solidFill>
                  <a:srgbClr val="2DD4BF"/>
                </a:solidFill>
                <a:latin typeface="Aptos"/>
              </a:rPr>
              <a:t>Learn these when you need durability, human control, modularity, or debugging.</a:t>
            </a:r>
          </a:p>
        </p:txBody>
      </p:sp>
      <p:sp>
        <p:nvSpPr>
          <p:cNvPr id="42" name="TextBox 41"/>
          <p:cNvSpPr txBox="1"/>
          <p:nvPr/>
        </p:nvSpPr>
        <p:spPr>
          <a:xfrm>
            <a:off x="457200" y="6473952"/>
            <a:ext cx="3657600" cy="274320"/>
          </a:xfrm>
          <a:prstGeom prst="rect">
            <a:avLst/>
          </a:prstGeom>
          <a:noFill/>
        </p:spPr>
        <p:txBody>
          <a:bodyPr wrap="none" anchor="ctr">
            <a:spAutoFit/>
          </a:bodyPr>
          <a:lstStyle/>
          <a:p>
            <a:pPr algn="l"/>
            <a:r>
              <a:rPr sz="900" b="0">
                <a:solidFill>
                  <a:srgbClr val="8A96A8"/>
                </a:solidFill>
                <a:latin typeface="Aptos"/>
              </a:rPr>
              <a:t>LangGraph — SE Lab</a:t>
            </a:r>
          </a:p>
        </p:txBody>
      </p:sp>
      <p:sp>
        <p:nvSpPr>
          <p:cNvPr id="43" name="TextBox 42"/>
          <p:cNvSpPr txBox="1"/>
          <p:nvPr/>
        </p:nvSpPr>
        <p:spPr>
          <a:xfrm>
            <a:off x="11365992" y="6473952"/>
            <a:ext cx="365760" cy="274320"/>
          </a:xfrm>
          <a:prstGeom prst="rect">
            <a:avLst/>
          </a:prstGeom>
          <a:noFill/>
        </p:spPr>
        <p:txBody>
          <a:bodyPr wrap="none" anchor="ctr">
            <a:spAutoFit/>
          </a:bodyPr>
          <a:lstStyle/>
          <a:p>
            <a:pPr algn="r"/>
            <a:r>
              <a:rPr sz="900" b="0">
                <a:solidFill>
                  <a:srgbClr val="8A96A8"/>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2151C"/>
        </a:solidFill>
        <a:effectLst/>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marL="0" indent="0" algn="l">
              <a:buNone/>
            </a:pPr>
            <a:r>
              <a:rPr lang="en-US" sz="900" dirty="0">
                <a:solidFill>
                  <a:srgbClr val="5B6577"/>
                </a:solidFill>
                <a:latin typeface="Calibri" pitchFamily="34" charset="0"/>
                <a:ea typeface="Calibri" pitchFamily="34" charset="-122"/>
                <a:cs typeface="Calibri" pitchFamily="34" charset="-120"/>
              </a:rPr>
              <a:t>LangGraph — SE Lab</a:t>
            </a:r>
            <a:endParaRPr lang="en-US" sz="900" dirty="0"/>
          </a:p>
        </p:txBody>
      </p:sp>
      <p:sp>
        <p:nvSpPr>
          <p:cNvPr id="4" name="Text 2"/>
          <p:cNvSpPr/>
          <p:nvPr/>
        </p:nvSpPr>
        <p:spPr>
          <a:xfrm>
            <a:off x="548640" y="164592"/>
            <a:ext cx="11094415" cy="274320"/>
          </a:xfrm>
          <a:prstGeom prst="rect">
            <a:avLst/>
          </a:prstGeom>
          <a:noFill/>
          <a:ln/>
        </p:spPr>
        <p:txBody>
          <a:bodyPr wrap="square" rtlCol="0" anchor="ctr"/>
          <a:lstStyle/>
          <a:p>
            <a:pPr marL="0" indent="0">
              <a:buNone/>
            </a:pPr>
            <a:r>
              <a:rPr lang="en-US" sz="1100" b="1" kern="0" spc="200" dirty="0">
                <a:solidFill>
                  <a:srgbClr val="2DD4BF"/>
                </a:solidFill>
                <a:latin typeface="Calibri" pitchFamily="34" charset="0"/>
                <a:ea typeface="Calibri" pitchFamily="34" charset="-122"/>
                <a:cs typeface="Calibri" pitchFamily="34" charset="-120"/>
              </a:rPr>
              <a:t>RECAP</a:t>
            </a:r>
            <a:endParaRPr lang="en-US" sz="1100" dirty="0"/>
          </a:p>
        </p:txBody>
      </p:sp>
      <p:sp>
        <p:nvSpPr>
          <p:cNvPr id="5" name="Text 3"/>
          <p:cNvSpPr/>
          <p:nvPr/>
        </p:nvSpPr>
        <p:spPr>
          <a:xfrm>
            <a:off x="548640" y="384048"/>
            <a:ext cx="11094415" cy="685800"/>
          </a:xfrm>
          <a:prstGeom prst="rect">
            <a:avLst/>
          </a:prstGeom>
          <a:noFill/>
          <a:ln/>
        </p:spPr>
        <p:txBody>
          <a:bodyPr wrap="square" rtlCol="0" anchor="ctr"/>
          <a:lstStyle/>
          <a:p>
            <a:pPr marL="0" indent="0" algn="l">
              <a:buNone/>
            </a:pPr>
            <a:r>
              <a:rPr lang="en-US" sz="3000" b="1" dirty="0">
                <a:solidFill>
                  <a:srgbClr val="F2F5F8"/>
                </a:solidFill>
                <a:latin typeface="Calibri" pitchFamily="34" charset="0"/>
                <a:ea typeface="Calibri" pitchFamily="34" charset="-122"/>
                <a:cs typeface="Calibri" pitchFamily="34" charset="-120"/>
              </a:rPr>
              <a:t>LangGraph — The Takeaway</a:t>
            </a:r>
            <a:endParaRPr lang="en-US" sz="3000" dirty="0"/>
          </a:p>
        </p:txBody>
      </p:sp>
      <p:sp>
        <p:nvSpPr>
          <p:cNvPr id="6" name="Shape 4"/>
          <p:cNvSpPr/>
          <p:nvPr/>
        </p:nvSpPr>
        <p:spPr>
          <a:xfrm>
            <a:off x="548640" y="1325880"/>
            <a:ext cx="5212080" cy="566928"/>
          </a:xfrm>
          <a:prstGeom prst="roundRect">
            <a:avLst>
              <a:gd name="adj" fmla="val 11290"/>
            </a:avLst>
          </a:prstGeom>
          <a:solidFill>
            <a:srgbClr val="1B212C"/>
          </a:solidFill>
          <a:ln w="12700">
            <a:solidFill>
              <a:srgbClr val="2C3441"/>
            </a:solidFill>
            <a:prstDash val="solid"/>
          </a:ln>
        </p:spPr>
        <p:txBody>
          <a:bodyPr/>
          <a:lstStyle/>
          <a:p>
            <a:endParaRPr/>
          </a:p>
        </p:txBody>
      </p:sp>
      <p:sp>
        <p:nvSpPr>
          <p:cNvPr id="7" name="Text 5"/>
          <p:cNvSpPr/>
          <p:nvPr/>
        </p:nvSpPr>
        <p:spPr>
          <a:xfrm>
            <a:off x="777240" y="1325880"/>
            <a:ext cx="1554480" cy="566928"/>
          </a:xfrm>
          <a:prstGeom prst="rect">
            <a:avLst/>
          </a:prstGeom>
          <a:noFill/>
          <a:ln/>
        </p:spPr>
        <p:txBody>
          <a:bodyPr wrap="square" rtlCol="0" anchor="ctr"/>
          <a:lstStyle/>
          <a:p>
            <a:pPr marL="0" indent="0">
              <a:buNone/>
            </a:pPr>
            <a:r>
              <a:rPr lang="en-US" sz="1500" b="1" dirty="0">
                <a:solidFill>
                  <a:srgbClr val="2DD4BF"/>
                </a:solidFill>
                <a:latin typeface="Courier New" pitchFamily="34" charset="0"/>
                <a:ea typeface="Courier New" pitchFamily="34" charset="-122"/>
                <a:cs typeface="Courier New" pitchFamily="34" charset="-120"/>
              </a:rPr>
              <a:t>STATE</a:t>
            </a:r>
            <a:endParaRPr lang="en-US" sz="1500" dirty="0"/>
          </a:p>
        </p:txBody>
      </p:sp>
      <p:sp>
        <p:nvSpPr>
          <p:cNvPr id="8" name="Text 6"/>
          <p:cNvSpPr/>
          <p:nvPr/>
        </p:nvSpPr>
        <p:spPr>
          <a:xfrm>
            <a:off x="2377440" y="1325880"/>
            <a:ext cx="3200400" cy="566928"/>
          </a:xfrm>
          <a:prstGeom prst="rect">
            <a:avLst/>
          </a:prstGeom>
          <a:noFill/>
          <a:ln/>
        </p:spPr>
        <p:txBody>
          <a:bodyPr wrap="square" rtlCol="0" anchor="ctr"/>
          <a:lstStyle/>
          <a:p>
            <a:pPr marL="0" indent="0">
              <a:buNone/>
            </a:pPr>
            <a:r>
              <a:rPr lang="en-US" sz="1350" dirty="0">
                <a:solidFill>
                  <a:srgbClr val="F2F5F8"/>
                </a:solidFill>
                <a:latin typeface="Calibri" pitchFamily="34" charset="0"/>
                <a:ea typeface="Calibri" pitchFamily="34" charset="-122"/>
                <a:cs typeface="Calibri" pitchFamily="34" charset="-120"/>
              </a:rPr>
              <a:t>→  carries information</a:t>
            </a:r>
            <a:endParaRPr lang="en-US" sz="1350" dirty="0"/>
          </a:p>
        </p:txBody>
      </p:sp>
      <p:sp>
        <p:nvSpPr>
          <p:cNvPr id="9" name="Shape 7"/>
          <p:cNvSpPr/>
          <p:nvPr/>
        </p:nvSpPr>
        <p:spPr>
          <a:xfrm>
            <a:off x="548640" y="2020824"/>
            <a:ext cx="5212080" cy="566928"/>
          </a:xfrm>
          <a:prstGeom prst="roundRect">
            <a:avLst>
              <a:gd name="adj" fmla="val 11290"/>
            </a:avLst>
          </a:prstGeom>
          <a:solidFill>
            <a:srgbClr val="1B212C"/>
          </a:solidFill>
          <a:ln w="12700">
            <a:solidFill>
              <a:srgbClr val="2C3441"/>
            </a:solidFill>
            <a:prstDash val="solid"/>
          </a:ln>
        </p:spPr>
        <p:txBody>
          <a:bodyPr/>
          <a:lstStyle/>
          <a:p>
            <a:endParaRPr/>
          </a:p>
        </p:txBody>
      </p:sp>
      <p:sp>
        <p:nvSpPr>
          <p:cNvPr id="10" name="Text 8"/>
          <p:cNvSpPr/>
          <p:nvPr/>
        </p:nvSpPr>
        <p:spPr>
          <a:xfrm>
            <a:off x="777240" y="2020824"/>
            <a:ext cx="1554480" cy="566928"/>
          </a:xfrm>
          <a:prstGeom prst="rect">
            <a:avLst/>
          </a:prstGeom>
          <a:noFill/>
          <a:ln/>
        </p:spPr>
        <p:txBody>
          <a:bodyPr wrap="square" rtlCol="0" anchor="ctr"/>
          <a:lstStyle/>
          <a:p>
            <a:pPr marL="0" indent="0">
              <a:buNone/>
            </a:pPr>
            <a:r>
              <a:rPr lang="en-US" sz="1500" b="1" dirty="0">
                <a:solidFill>
                  <a:srgbClr val="2DD4BF"/>
                </a:solidFill>
                <a:latin typeface="Courier New" pitchFamily="34" charset="0"/>
                <a:ea typeface="Courier New" pitchFamily="34" charset="-122"/>
                <a:cs typeface="Courier New" pitchFamily="34" charset="-120"/>
              </a:rPr>
              <a:t>NODE</a:t>
            </a:r>
            <a:endParaRPr lang="en-US" sz="1500" dirty="0"/>
          </a:p>
        </p:txBody>
      </p:sp>
      <p:sp>
        <p:nvSpPr>
          <p:cNvPr id="11" name="Text 9"/>
          <p:cNvSpPr/>
          <p:nvPr/>
        </p:nvSpPr>
        <p:spPr>
          <a:xfrm>
            <a:off x="2377440" y="2020824"/>
            <a:ext cx="3200400" cy="566928"/>
          </a:xfrm>
          <a:prstGeom prst="rect">
            <a:avLst/>
          </a:prstGeom>
          <a:noFill/>
          <a:ln/>
        </p:spPr>
        <p:txBody>
          <a:bodyPr wrap="square" rtlCol="0" anchor="ctr"/>
          <a:lstStyle/>
          <a:p>
            <a:pPr marL="0" indent="0">
              <a:buNone/>
            </a:pPr>
            <a:r>
              <a:rPr lang="en-US" sz="1350" dirty="0">
                <a:solidFill>
                  <a:srgbClr val="F2F5F8"/>
                </a:solidFill>
                <a:latin typeface="Calibri" pitchFamily="34" charset="0"/>
                <a:ea typeface="Calibri" pitchFamily="34" charset="-122"/>
                <a:cs typeface="Calibri" pitchFamily="34" charset="-120"/>
              </a:rPr>
              <a:t>→  performs work</a:t>
            </a:r>
            <a:endParaRPr lang="en-US" sz="1350" dirty="0"/>
          </a:p>
        </p:txBody>
      </p:sp>
      <p:sp>
        <p:nvSpPr>
          <p:cNvPr id="12" name="Shape 10"/>
          <p:cNvSpPr/>
          <p:nvPr/>
        </p:nvSpPr>
        <p:spPr>
          <a:xfrm>
            <a:off x="548640" y="2715768"/>
            <a:ext cx="5212080" cy="566928"/>
          </a:xfrm>
          <a:prstGeom prst="roundRect">
            <a:avLst>
              <a:gd name="adj" fmla="val 11290"/>
            </a:avLst>
          </a:prstGeom>
          <a:solidFill>
            <a:srgbClr val="1B212C"/>
          </a:solidFill>
          <a:ln w="12700">
            <a:solidFill>
              <a:srgbClr val="2C3441"/>
            </a:solidFill>
            <a:prstDash val="solid"/>
          </a:ln>
        </p:spPr>
        <p:txBody>
          <a:bodyPr/>
          <a:lstStyle/>
          <a:p>
            <a:endParaRPr/>
          </a:p>
        </p:txBody>
      </p:sp>
      <p:sp>
        <p:nvSpPr>
          <p:cNvPr id="13" name="Text 11"/>
          <p:cNvSpPr/>
          <p:nvPr/>
        </p:nvSpPr>
        <p:spPr>
          <a:xfrm>
            <a:off x="777240" y="2715768"/>
            <a:ext cx="1554480" cy="566928"/>
          </a:xfrm>
          <a:prstGeom prst="rect">
            <a:avLst/>
          </a:prstGeom>
          <a:noFill/>
          <a:ln/>
        </p:spPr>
        <p:txBody>
          <a:bodyPr wrap="square" rtlCol="0" anchor="ctr"/>
          <a:lstStyle/>
          <a:p>
            <a:pPr marL="0" indent="0">
              <a:buNone/>
            </a:pPr>
            <a:r>
              <a:rPr lang="en-US" sz="1500" b="1" dirty="0">
                <a:solidFill>
                  <a:srgbClr val="2DD4BF"/>
                </a:solidFill>
                <a:latin typeface="Courier New" pitchFamily="34" charset="0"/>
                <a:ea typeface="Courier New" pitchFamily="34" charset="-122"/>
                <a:cs typeface="Courier New" pitchFamily="34" charset="-120"/>
              </a:rPr>
              <a:t>EDGE</a:t>
            </a:r>
            <a:endParaRPr lang="en-US" sz="1500" dirty="0"/>
          </a:p>
        </p:txBody>
      </p:sp>
      <p:sp>
        <p:nvSpPr>
          <p:cNvPr id="14" name="Text 12"/>
          <p:cNvSpPr/>
          <p:nvPr/>
        </p:nvSpPr>
        <p:spPr>
          <a:xfrm>
            <a:off x="2377440" y="2715768"/>
            <a:ext cx="3200400" cy="566928"/>
          </a:xfrm>
          <a:prstGeom prst="rect">
            <a:avLst/>
          </a:prstGeom>
          <a:noFill/>
          <a:ln/>
        </p:spPr>
        <p:txBody>
          <a:bodyPr wrap="square" rtlCol="0" anchor="ctr"/>
          <a:lstStyle/>
          <a:p>
            <a:pPr marL="0" indent="0">
              <a:buNone/>
            </a:pPr>
            <a:r>
              <a:rPr lang="en-US" sz="1350" dirty="0">
                <a:solidFill>
                  <a:srgbClr val="F2F5F8"/>
                </a:solidFill>
                <a:latin typeface="Calibri" pitchFamily="34" charset="0"/>
                <a:ea typeface="Calibri" pitchFamily="34" charset="-122"/>
                <a:cs typeface="Calibri" pitchFamily="34" charset="-120"/>
              </a:rPr>
              <a:t>→  controls the flow</a:t>
            </a:r>
            <a:endParaRPr lang="en-US" sz="1350" dirty="0"/>
          </a:p>
        </p:txBody>
      </p:sp>
      <p:sp>
        <p:nvSpPr>
          <p:cNvPr id="15" name="Shape 13"/>
          <p:cNvSpPr/>
          <p:nvPr/>
        </p:nvSpPr>
        <p:spPr>
          <a:xfrm>
            <a:off x="548640" y="3410712"/>
            <a:ext cx="5212080" cy="566928"/>
          </a:xfrm>
          <a:prstGeom prst="roundRect">
            <a:avLst>
              <a:gd name="adj" fmla="val 11290"/>
            </a:avLst>
          </a:prstGeom>
          <a:solidFill>
            <a:srgbClr val="1B212C"/>
          </a:solidFill>
          <a:ln w="15875">
            <a:solidFill>
              <a:srgbClr val="2DD4BF"/>
            </a:solidFill>
            <a:prstDash val="solid"/>
          </a:ln>
        </p:spPr>
        <p:txBody>
          <a:bodyPr/>
          <a:lstStyle/>
          <a:p>
            <a:endParaRPr/>
          </a:p>
        </p:txBody>
      </p:sp>
      <p:sp>
        <p:nvSpPr>
          <p:cNvPr id="16" name="Text 14"/>
          <p:cNvSpPr/>
          <p:nvPr/>
        </p:nvSpPr>
        <p:spPr>
          <a:xfrm>
            <a:off x="777240" y="3410712"/>
            <a:ext cx="1554480" cy="566928"/>
          </a:xfrm>
          <a:prstGeom prst="rect">
            <a:avLst/>
          </a:prstGeom>
          <a:noFill/>
          <a:ln/>
        </p:spPr>
        <p:txBody>
          <a:bodyPr wrap="square" rtlCol="0" anchor="ctr"/>
          <a:lstStyle/>
          <a:p>
            <a:pPr marL="0" indent="0">
              <a:buNone/>
            </a:pPr>
            <a:r>
              <a:rPr lang="en-US" sz="1500" b="1" dirty="0">
                <a:solidFill>
                  <a:srgbClr val="2DD4BF"/>
                </a:solidFill>
                <a:latin typeface="Courier New" pitchFamily="34" charset="0"/>
                <a:ea typeface="Courier New" pitchFamily="34" charset="-122"/>
                <a:cs typeface="Courier New" pitchFamily="34" charset="-120"/>
              </a:rPr>
              <a:t>GRAPH</a:t>
            </a:r>
            <a:endParaRPr lang="en-US" sz="1500" dirty="0"/>
          </a:p>
        </p:txBody>
      </p:sp>
      <p:sp>
        <p:nvSpPr>
          <p:cNvPr id="17" name="Text 15"/>
          <p:cNvSpPr/>
          <p:nvPr/>
        </p:nvSpPr>
        <p:spPr>
          <a:xfrm>
            <a:off x="2377440" y="3410712"/>
            <a:ext cx="3200400" cy="566928"/>
          </a:xfrm>
          <a:prstGeom prst="rect">
            <a:avLst/>
          </a:prstGeom>
          <a:noFill/>
          <a:ln/>
        </p:spPr>
        <p:txBody>
          <a:bodyPr wrap="square" rtlCol="0" anchor="ctr"/>
          <a:lstStyle/>
          <a:p>
            <a:pPr marL="0" indent="0">
              <a:buNone/>
            </a:pPr>
            <a:r>
              <a:rPr lang="en-US" sz="1350" dirty="0">
                <a:solidFill>
                  <a:srgbClr val="F2F5F8"/>
                </a:solidFill>
                <a:latin typeface="Calibri" pitchFamily="34" charset="0"/>
                <a:ea typeface="Calibri" pitchFamily="34" charset="-122"/>
                <a:cs typeface="Calibri" pitchFamily="34" charset="-120"/>
              </a:rPr>
              <a:t>→  orchestrates the workflow</a:t>
            </a:r>
            <a:endParaRPr lang="en-US" sz="1350" dirty="0"/>
          </a:p>
        </p:txBody>
      </p:sp>
      <p:sp>
        <p:nvSpPr>
          <p:cNvPr id="18" name="Shape 16"/>
          <p:cNvSpPr/>
          <p:nvPr/>
        </p:nvSpPr>
        <p:spPr>
          <a:xfrm>
            <a:off x="548640" y="4151376"/>
            <a:ext cx="5212080" cy="960120"/>
          </a:xfrm>
          <a:prstGeom prst="roundRect">
            <a:avLst>
              <a:gd name="adj" fmla="val 7619"/>
            </a:avLst>
          </a:prstGeom>
          <a:solidFill>
            <a:srgbClr val="1B4B47"/>
          </a:solidFill>
          <a:ln w="12700">
            <a:solidFill>
              <a:srgbClr val="2DD4BF"/>
            </a:solidFill>
            <a:prstDash val="solid"/>
          </a:ln>
        </p:spPr>
        <p:txBody>
          <a:bodyPr/>
          <a:lstStyle/>
          <a:p>
            <a:endParaRPr/>
          </a:p>
        </p:txBody>
      </p:sp>
      <p:sp>
        <p:nvSpPr>
          <p:cNvPr id="19" name="Text 17"/>
          <p:cNvSpPr/>
          <p:nvPr/>
        </p:nvSpPr>
        <p:spPr>
          <a:xfrm>
            <a:off x="777240" y="4151376"/>
            <a:ext cx="4754880" cy="960120"/>
          </a:xfrm>
          <a:prstGeom prst="rect">
            <a:avLst/>
          </a:prstGeom>
          <a:noFill/>
          <a:ln/>
        </p:spPr>
        <p:txBody>
          <a:bodyPr wrap="square" rtlCol="0" anchor="ctr"/>
          <a:lstStyle/>
          <a:p>
            <a:pPr marL="0" indent="0">
              <a:buNone/>
            </a:pPr>
            <a:r>
              <a:rPr lang="en-US" sz="1250" i="1" dirty="0">
                <a:solidFill>
                  <a:srgbClr val="F2F5F8"/>
                </a:solidFill>
                <a:latin typeface="Calibri" pitchFamily="34" charset="0"/>
                <a:ea typeface="Calibri" pitchFamily="34" charset="-122"/>
                <a:cs typeface="Calibri" pitchFamily="34" charset="-120"/>
              </a:rPr>
              <a:t>Use a simple chain when the workflow is simple. Use graph orchestration when it needs state, branching, loops, or more control.</a:t>
            </a:r>
            <a:endParaRPr lang="en-US" sz="1250" dirty="0"/>
          </a:p>
        </p:txBody>
      </p:sp>
      <p:sp>
        <p:nvSpPr>
          <p:cNvPr id="20" name="Text 18"/>
          <p:cNvSpPr/>
          <p:nvPr/>
        </p:nvSpPr>
        <p:spPr>
          <a:xfrm>
            <a:off x="6172200" y="1325880"/>
            <a:ext cx="5486400" cy="365760"/>
          </a:xfrm>
          <a:prstGeom prst="rect">
            <a:avLst/>
          </a:prstGeom>
          <a:noFill/>
          <a:ln/>
        </p:spPr>
        <p:txBody>
          <a:bodyPr wrap="square" rtlCol="0" anchor="ctr"/>
          <a:lstStyle/>
          <a:p>
            <a:pPr marL="0" indent="0">
              <a:buNone/>
            </a:pPr>
            <a:r>
              <a:rPr lang="en-US" sz="1500" b="1" dirty="0">
                <a:solidFill>
                  <a:srgbClr val="F2F5F8"/>
                </a:solidFill>
                <a:latin typeface="Calibri" pitchFamily="34" charset="0"/>
                <a:ea typeface="Calibri" pitchFamily="34" charset="-122"/>
                <a:cs typeface="Calibri" pitchFamily="34" charset="-120"/>
              </a:rPr>
              <a:t>Learn More</a:t>
            </a:r>
            <a:endParaRPr lang="en-US" sz="1500" dirty="0"/>
          </a:p>
        </p:txBody>
      </p:sp>
      <p:sp>
        <p:nvSpPr>
          <p:cNvPr id="21" name="Shape 19"/>
          <p:cNvSpPr/>
          <p:nvPr/>
        </p:nvSpPr>
        <p:spPr>
          <a:xfrm>
            <a:off x="6172200" y="1783080"/>
            <a:ext cx="5486400" cy="868680"/>
          </a:xfrm>
          <a:prstGeom prst="roundRect">
            <a:avLst>
              <a:gd name="adj" fmla="val 8421"/>
            </a:avLst>
          </a:prstGeom>
          <a:solidFill>
            <a:srgbClr val="1B212C"/>
          </a:solidFill>
          <a:ln w="12700">
            <a:solidFill>
              <a:srgbClr val="2C3441"/>
            </a:solidFill>
            <a:prstDash val="solid"/>
          </a:ln>
        </p:spPr>
        <p:txBody>
          <a:bodyPr/>
          <a:lstStyle/>
          <a:p>
            <a:endParaRPr/>
          </a:p>
        </p:txBody>
      </p:sp>
      <p:sp>
        <p:nvSpPr>
          <p:cNvPr id="22" name="Text 20"/>
          <p:cNvSpPr/>
          <p:nvPr/>
        </p:nvSpPr>
        <p:spPr>
          <a:xfrm>
            <a:off x="6400800" y="1892808"/>
            <a:ext cx="5029200" cy="365760"/>
          </a:xfrm>
          <a:prstGeom prst="rect">
            <a:avLst/>
          </a:prstGeom>
          <a:noFill/>
          <a:ln/>
        </p:spPr>
        <p:txBody>
          <a:bodyPr wrap="square" rtlCol="0" anchor="t"/>
          <a:lstStyle/>
          <a:p>
            <a:pPr marL="0" indent="0">
              <a:buNone/>
            </a:pPr>
            <a:r>
              <a:rPr lang="en-US" sz="1300" b="1" dirty="0">
                <a:solidFill>
                  <a:srgbClr val="F2F5F8"/>
                </a:solidFill>
                <a:latin typeface="Calibri" pitchFamily="34" charset="0"/>
                <a:ea typeface="Calibri" pitchFamily="34" charset="-122"/>
                <a:cs typeface="Calibri" pitchFamily="34" charset="-120"/>
              </a:rPr>
              <a:t>Official LangGraph Documentation</a:t>
            </a:r>
            <a:endParaRPr lang="en-US" sz="1300" dirty="0"/>
          </a:p>
        </p:txBody>
      </p:sp>
      <p:sp>
        <p:nvSpPr>
          <p:cNvPr id="23" name="Text 21">
            <a:hlinkClick r:id="rId3"/>
          </p:cNvPr>
          <p:cNvSpPr/>
          <p:nvPr/>
        </p:nvSpPr>
        <p:spPr>
          <a:xfrm>
            <a:off x="6400800" y="2258568"/>
            <a:ext cx="5029200" cy="320040"/>
          </a:xfrm>
          <a:prstGeom prst="rect">
            <a:avLst/>
          </a:prstGeom>
          <a:noFill/>
          <a:ln/>
        </p:spPr>
        <p:txBody>
          <a:bodyPr wrap="square" rtlCol="0" anchor="t"/>
          <a:lstStyle/>
          <a:p>
            <a:pPr marL="0" indent="0">
              <a:buNone/>
            </a:pPr>
            <a:r>
              <a:rPr lang="en-US" sz="1050" u="sng" dirty="0">
                <a:solidFill>
                  <a:srgbClr val="2DD4B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https://docs.langchain.com/oss/python/langgraph/overview</a:t>
            </a:r>
            <a:endParaRPr lang="en-US" sz="1050" dirty="0"/>
          </a:p>
        </p:txBody>
      </p:sp>
      <p:sp>
        <p:nvSpPr>
          <p:cNvPr id="24" name="Shape 22"/>
          <p:cNvSpPr/>
          <p:nvPr/>
        </p:nvSpPr>
        <p:spPr>
          <a:xfrm>
            <a:off x="6172200" y="2834640"/>
            <a:ext cx="5486400" cy="868680"/>
          </a:xfrm>
          <a:prstGeom prst="roundRect">
            <a:avLst>
              <a:gd name="adj" fmla="val 8421"/>
            </a:avLst>
          </a:prstGeom>
          <a:solidFill>
            <a:srgbClr val="1B212C"/>
          </a:solidFill>
          <a:ln w="12700">
            <a:solidFill>
              <a:srgbClr val="2C3441"/>
            </a:solidFill>
            <a:prstDash val="solid"/>
          </a:ln>
        </p:spPr>
        <p:txBody>
          <a:bodyPr/>
          <a:lstStyle/>
          <a:p>
            <a:endParaRPr/>
          </a:p>
        </p:txBody>
      </p:sp>
      <p:sp>
        <p:nvSpPr>
          <p:cNvPr id="25" name="Text 23"/>
          <p:cNvSpPr/>
          <p:nvPr/>
        </p:nvSpPr>
        <p:spPr>
          <a:xfrm>
            <a:off x="6400800" y="2944368"/>
            <a:ext cx="5029200" cy="365760"/>
          </a:xfrm>
          <a:prstGeom prst="rect">
            <a:avLst/>
          </a:prstGeom>
          <a:noFill/>
          <a:ln/>
        </p:spPr>
        <p:txBody>
          <a:bodyPr wrap="square" rtlCol="0" anchor="t"/>
          <a:lstStyle/>
          <a:p>
            <a:pPr marL="0" indent="0">
              <a:buNone/>
            </a:pPr>
            <a:r>
              <a:rPr lang="en-US" sz="1300" b="1" dirty="0">
                <a:solidFill>
                  <a:srgbClr val="F2F5F8"/>
                </a:solidFill>
                <a:latin typeface="Calibri" pitchFamily="34" charset="0"/>
                <a:ea typeface="Calibri" pitchFamily="34" charset="-122"/>
                <a:cs typeface="Calibri" pitchFamily="34" charset="-120"/>
              </a:rPr>
              <a:t>CampusX — Agentic AI using LangGraph (YouTube Playlist)</a:t>
            </a:r>
            <a:endParaRPr lang="en-US" sz="1300" dirty="0"/>
          </a:p>
        </p:txBody>
      </p:sp>
      <p:sp>
        <p:nvSpPr>
          <p:cNvPr id="26" name="Text 24">
            <a:hlinkClick r:id="rId4"/>
          </p:cNvPr>
          <p:cNvSpPr/>
          <p:nvPr/>
        </p:nvSpPr>
        <p:spPr>
          <a:xfrm>
            <a:off x="6400800" y="3310128"/>
            <a:ext cx="5029200" cy="320040"/>
          </a:xfrm>
          <a:prstGeom prst="rect">
            <a:avLst/>
          </a:prstGeom>
          <a:noFill/>
          <a:ln/>
        </p:spPr>
        <p:txBody>
          <a:bodyPr wrap="square" rtlCol="0" anchor="t"/>
          <a:lstStyle/>
          <a:p>
            <a:pPr marL="0" indent="0">
              <a:buNone/>
            </a:pPr>
            <a:r>
              <a:rPr lang="en-US" sz="1050" u="sng" dirty="0">
                <a:solidFill>
                  <a:srgbClr val="2DD4B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https://www.youtube.com/playlist?list=PLKnIA16_RmvYsvB8qkUQuJmJNuiCUJFPL</a:t>
            </a:r>
            <a:endParaRPr lang="en-US" sz="1050" dirty="0"/>
          </a:p>
        </p:txBody>
      </p:sp>
      <p:sp>
        <p:nvSpPr>
          <p:cNvPr id="27" name="Text 25"/>
          <p:cNvSpPr/>
          <p:nvPr/>
        </p:nvSpPr>
        <p:spPr>
          <a:xfrm>
            <a:off x="6172200" y="4206240"/>
            <a:ext cx="5486400" cy="1280160"/>
          </a:xfrm>
          <a:prstGeom prst="rect">
            <a:avLst/>
          </a:prstGeom>
          <a:noFill/>
          <a:ln/>
        </p:spPr>
        <p:txBody>
          <a:bodyPr wrap="square" rtlCol="0" anchor="t"/>
          <a:lstStyle/>
          <a:p>
            <a:pPr marL="0" indent="0" algn="l">
              <a:buNone/>
            </a:pPr>
            <a:r>
              <a:rPr lang="en-US" sz="2600" b="1" dirty="0">
                <a:solidFill>
                  <a:srgbClr val="8A96A8"/>
                </a:solidFill>
                <a:latin typeface="Calibri" pitchFamily="34" charset="0"/>
                <a:ea typeface="Calibri" pitchFamily="34" charset="-122"/>
                <a:cs typeface="Calibri" pitchFamily="34" charset="-120"/>
              </a:rPr>
              <a:t>Questions?</a:t>
            </a:r>
            <a:endParaRPr lang="en-US" sz="2600" dirty="0"/>
          </a:p>
        </p:txBody>
      </p:sp>
      <p:sp>
        <p:nvSpPr>
          <p:cNvPr id="28" name="TextBox 27"/>
          <p:cNvSpPr txBox="1"/>
          <p:nvPr/>
        </p:nvSpPr>
        <p:spPr>
          <a:xfrm>
            <a:off x="11365992" y="6473952"/>
            <a:ext cx="365760" cy="274320"/>
          </a:xfrm>
          <a:prstGeom prst="rect">
            <a:avLst/>
          </a:prstGeom>
          <a:noFill/>
        </p:spPr>
        <p:txBody>
          <a:bodyPr wrap="none" anchor="ctr">
            <a:spAutoFit/>
          </a:bodyPr>
          <a:lstStyle/>
          <a:p>
            <a:pPr algn="r"/>
            <a:r>
              <a:rPr sz="900" b="0">
                <a:solidFill>
                  <a:srgbClr val="8A96A8"/>
                </a:solidFill>
                <a:latin typeface="Apto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2169</Words>
  <Application>Microsoft Office PowerPoint</Application>
  <PresentationFormat>Widescreen</PresentationFormat>
  <Paragraphs>291</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JAINIL JAGTAP</cp:lastModifiedBy>
  <cp:revision>2</cp:revision>
  <dcterms:created xsi:type="dcterms:W3CDTF">2026-08-10T06:40:53Z</dcterms:created>
  <dcterms:modified xsi:type="dcterms:W3CDTF">2026-08-10T07:11:35Z</dcterms:modified>
</cp:coreProperties>
</file>